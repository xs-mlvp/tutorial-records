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21.svg" ContentType="image/svg+xml"/>
  <Override PartName="/ppt/media/image30.svg" ContentType="image/svg+xml"/>
  <Override PartName="/ppt/media/image32.svg" ContentType="image/svg+xml"/>
  <Override PartName="/ppt/media/image5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11" r:id="rId5"/>
    <p:sldId id="312" r:id="rId6"/>
    <p:sldId id="443" r:id="rId7"/>
    <p:sldId id="313" r:id="rId8"/>
    <p:sldId id="314" r:id="rId9"/>
    <p:sldId id="315" r:id="rId10"/>
    <p:sldId id="466" r:id="rId11"/>
    <p:sldId id="451" r:id="rId12"/>
    <p:sldId id="398" r:id="rId13"/>
    <p:sldId id="332" r:id="rId14"/>
    <p:sldId id="333" r:id="rId15"/>
    <p:sldId id="334" r:id="rId16"/>
    <p:sldId id="335" r:id="rId17"/>
    <p:sldId id="336" r:id="rId18"/>
    <p:sldId id="337" r:id="rId19"/>
    <p:sldId id="399" r:id="rId20"/>
    <p:sldId id="338" r:id="rId21"/>
    <p:sldId id="369" r:id="rId22"/>
    <p:sldId id="394" r:id="rId23"/>
    <p:sldId id="339" r:id="rId24"/>
    <p:sldId id="342" r:id="rId25"/>
    <p:sldId id="345" r:id="rId26"/>
    <p:sldId id="400" r:id="rId27"/>
    <p:sldId id="343" r:id="rId28"/>
    <p:sldId id="328" r:id="rId29"/>
    <p:sldId id="401" r:id="rId30"/>
    <p:sldId id="402" r:id="rId31"/>
    <p:sldId id="403" r:id="rId32"/>
    <p:sldId id="330" r:id="rId33"/>
    <p:sldId id="375" r:id="rId34"/>
    <p:sldId id="459" r:id="rId35"/>
    <p:sldId id="469" r:id="rId36"/>
    <p:sldId id="465" r:id="rId37"/>
    <p:sldId id="376" r:id="rId38"/>
    <p:sldId id="377" r:id="rId39"/>
    <p:sldId id="405" r:id="rId40"/>
    <p:sldId id="346" r:id="rId41"/>
    <p:sldId id="440" r:id="rId42"/>
    <p:sldId id="347" r:id="rId43"/>
    <p:sldId id="348" r:id="rId44"/>
    <p:sldId id="349" r:id="rId45"/>
    <p:sldId id="350" r:id="rId46"/>
    <p:sldId id="406" r:id="rId47"/>
    <p:sldId id="407" r:id="rId48"/>
    <p:sldId id="352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1274EC9-2855-4971-BBF2-11646836BE84}">
          <p14:sldIdLst>
            <p14:sldId id="256"/>
            <p14:sldId id="311"/>
            <p14:sldId id="312"/>
            <p14:sldId id="443"/>
            <p14:sldId id="313"/>
          </p14:sldIdLst>
        </p14:section>
        <p14:section name="UCAgent" id="{65859E08-C54B-4125-9A4E-3E45E6FB9A91}">
          <p14:sldIdLst>
            <p14:sldId id="314"/>
            <p14:sldId id="315"/>
            <p14:sldId id="466"/>
            <p14:sldId id="451"/>
            <p14:sldId id="398"/>
            <p14:sldId id="332"/>
            <p14:sldId id="333"/>
            <p14:sldId id="334"/>
            <p14:sldId id="335"/>
            <p14:sldId id="336"/>
            <p14:sldId id="337"/>
            <p14:sldId id="399"/>
            <p14:sldId id="338"/>
            <p14:sldId id="369"/>
            <p14:sldId id="394"/>
            <p14:sldId id="339"/>
            <p14:sldId id="342"/>
            <p14:sldId id="345"/>
            <p14:sldId id="400"/>
            <p14:sldId id="343"/>
            <p14:sldId id="328"/>
            <p14:sldId id="401"/>
            <p14:sldId id="402"/>
            <p14:sldId id="403"/>
            <p14:sldId id="330"/>
          </p14:sldIdLst>
        </p14:section>
        <p14:section name="实操" id="{70F07C71-C5A1-4D4C-A43C-8563A78D52DF}">
          <p14:sldIdLst>
            <p14:sldId id="375"/>
            <p14:sldId id="459"/>
            <p14:sldId id="469"/>
            <p14:sldId id="465"/>
            <p14:sldId id="376"/>
            <p14:sldId id="377"/>
            <p14:sldId id="405"/>
            <p14:sldId id="346"/>
            <p14:sldId id="440"/>
            <p14:sldId id="347"/>
            <p14:sldId id="348"/>
            <p14:sldId id="349"/>
            <p14:sldId id="350"/>
            <p14:sldId id="406"/>
            <p14:sldId id="407"/>
            <p14:sldId id="352"/>
          </p14:sldIdLst>
        </p14:section>
        <p14:section name="香山实践" id="{25AB6D13-B16E-42C5-B9F8-1844517756FD}">
          <p14:sldIdLst/>
        </p14:section>
        <p14:section name="开发计划" id="{2EA0E1F0-8A01-49BF-B343-29BD1A80D18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0" autoAdjust="0"/>
    <p:restoredTop sz="82522" autoAdjust="0"/>
  </p:normalViewPr>
  <p:slideViewPr>
    <p:cSldViewPr snapToGrid="0" showGuides="1">
      <p:cViewPr varScale="1">
        <p:scale>
          <a:sx n="93" d="100"/>
          <a:sy n="93" d="100"/>
        </p:scale>
        <p:origin x="1016" y="72"/>
      </p:cViewPr>
      <p:guideLst>
        <p:guide orient="horz" pos="2234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数据量 (GB)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Java</c:v>
                </c:pt>
                <c:pt idx="1">
                  <c:v>C++</c:v>
                </c:pt>
                <c:pt idx="2">
                  <c:v>Python</c:v>
                </c:pt>
                <c:pt idx="3">
                  <c:v>Golang</c:v>
                </c:pt>
                <c:pt idx="4">
                  <c:v>Verilog</c:v>
                </c:pt>
                <c:pt idx="5">
                  <c:v>SystemVerilog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510.36</c:v>
                </c:pt>
                <c:pt idx="1">
                  <c:v>329.59</c:v>
                </c:pt>
                <c:pt idx="2">
                  <c:v>217.27</c:v>
                </c:pt>
                <c:pt idx="3">
                  <c:v>50.85</c:v>
                </c:pt>
                <c:pt idx="4">
                  <c:v>26.52</c:v>
                </c:pt>
                <c:pt idx="5">
                  <c:v>1.5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400829535"/>
        <c:axId val="400831263"/>
      </c:barChart>
      <c:catAx>
        <c:axId val="4008295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0831263"/>
        <c:crosses val="autoZero"/>
        <c:auto val="1"/>
        <c:lblAlgn val="ctr"/>
        <c:lblOffset val="100"/>
        <c:noMultiLvlLbl val="0"/>
      </c:catAx>
      <c:valAx>
        <c:axId val="4008312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0829535"/>
        <c:crosses val="autoZero"/>
        <c:crossBetween val="between"/>
      </c:valAx>
      <c:spPr>
        <a:noFill/>
        <a:ln w="28575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229097501409548"/>
          <c:y val="0.87892230512102"/>
          <c:w val="0.520466317372812"/>
          <c:h val="0.07740027312870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36d57ff-e139-4da6-9cf9-586ab558806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FE4629-DE05-44DF-AEB2-E87CABBC6BC5}" type="doc">
      <dgm:prSet loTypeId="urn:microsoft.com/office/officeart/2005/8/layout/vProcess5" loCatId="process" qsTypeId="urn:microsoft.com/office/officeart/2005/8/quickstyle/simple2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9770BA85-4327-4B07-B931-37ACFDEE4E8D}">
      <dgm:prSet/>
      <dgm:spPr/>
      <dgm:t>
        <a:bodyPr/>
        <a:lstStyle/>
        <a:p>
          <a:r>
            <a:rPr 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端到端的验证智能体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 - UCAgent</a:t>
          </a:r>
          <a:endParaRPr lang="zh-C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8FEEFF-FD22-40C9-BF07-47B8D73AF035}" cxnId="{C5F2CB65-8840-48CC-8315-F09D83C9E766}" type="parTrans">
      <dgm:prSet/>
      <dgm:spPr/>
      <dgm:t>
        <a:bodyPr/>
        <a:lstStyle/>
        <a:p>
          <a:endParaRPr lang="zh-CN" altLang="en-US"/>
        </a:p>
      </dgm:t>
    </dgm:pt>
    <dgm:pt modelId="{79C4B6F7-11B2-4C0F-AAE5-8CBB25425C77}" cxnId="{C5F2CB65-8840-48CC-8315-F09D83C9E766}" type="sibTrans">
      <dgm:prSet/>
      <dgm:spPr/>
      <dgm:t>
        <a:bodyPr/>
        <a:lstStyle/>
        <a:p>
          <a:endParaRPr lang="zh-CN" altLang="en-US"/>
        </a:p>
      </dgm:t>
    </dgm:pt>
    <dgm:pt modelId="{4ED16837-886C-4C2E-9488-582D2795C8BB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UCAgent - </a:t>
          </a:r>
          <a:r>
            <a: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演示与</a:t>
          </a:r>
          <a:r>
            <a:rPr 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实操</a:t>
          </a:r>
          <a:r>
            <a:rPr lang="zh-CN" alt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（请预先准备 </a:t>
          </a:r>
          <a:r>
            <a:rPr lang="en-US" altLang="zh-CN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docker </a:t>
          </a:r>
          <a:r>
            <a:rPr lang="zh-CN" alt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环境）</a:t>
          </a:r>
          <a:endParaRPr lang="zh-CN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F8F0CB-A712-4E52-8C83-599731C3B3B3}" cxnId="{C5A99DE0-195A-4ADC-A1CF-7B46190AA385}" type="parTrans">
      <dgm:prSet/>
      <dgm:spPr/>
      <dgm:t>
        <a:bodyPr/>
        <a:lstStyle/>
        <a:p>
          <a:endParaRPr lang="zh-CN" altLang="en-US"/>
        </a:p>
      </dgm:t>
    </dgm:pt>
    <dgm:pt modelId="{97C51DC1-4A38-4328-97A8-43127F2A469E}" cxnId="{C5A99DE0-195A-4ADC-A1CF-7B46190AA385}" type="sibTrans">
      <dgm:prSet/>
      <dgm:spPr/>
      <dgm:t>
        <a:bodyPr/>
        <a:lstStyle/>
        <a:p>
          <a:endParaRPr lang="zh-CN" altLang="en-US"/>
        </a:p>
      </dgm:t>
    </dgm:pt>
    <dgm:pt modelId="{3214B520-6B71-4A5A-9B09-F06E7BF2B5E9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UCAgent </a:t>
          </a:r>
          <a:r>
            <a:rPr lang="en-US" b="1" dirty="0"/>
            <a:t>-</a:t>
          </a:r>
          <a:r>
            <a: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香山实践</a:t>
          </a:r>
        </a:p>
      </dgm:t>
    </dgm:pt>
    <dgm:pt modelId="{BEAB66E1-6160-40CF-BB28-60F9015CC084}" cxnId="{BCE9B3D1-9B16-4F74-8361-C734098CE865}" type="parTrans">
      <dgm:prSet/>
      <dgm:spPr/>
      <dgm:t>
        <a:bodyPr/>
        <a:lstStyle/>
        <a:p>
          <a:endParaRPr lang="zh-CN" altLang="en-US"/>
        </a:p>
      </dgm:t>
    </dgm:pt>
    <dgm:pt modelId="{2E242C5B-F9E5-424E-A0E4-DCFF00B57743}" cxnId="{BCE9B3D1-9B16-4F74-8361-C734098CE865}" type="sibTrans">
      <dgm:prSet/>
      <dgm:spPr/>
      <dgm:t>
        <a:bodyPr/>
        <a:lstStyle/>
        <a:p>
          <a:endParaRPr lang="zh-CN" altLang="en-US"/>
        </a:p>
      </dgm:t>
    </dgm:pt>
    <dgm:pt modelId="{E1517180-D87B-4ECD-9BD2-EB43030F509E}">
      <dgm:prSet/>
      <dgm:spPr/>
      <dgm:t>
        <a:bodyPr/>
        <a:lstStyle/>
        <a:p>
          <a:r>
            <a:rPr lang="zh-CN" b="1" dirty="0"/>
            <a:t>问答与讨论</a:t>
          </a:r>
          <a:endParaRPr lang="zh-CN" dirty="0"/>
        </a:p>
      </dgm:t>
    </dgm:pt>
    <dgm:pt modelId="{B628FA83-7FE6-44C8-B0A1-48640967CA4D}" cxnId="{F61609B8-AF35-4DEE-8FD6-2740BF55BE68}" type="parTrans">
      <dgm:prSet/>
      <dgm:spPr/>
      <dgm:t>
        <a:bodyPr/>
        <a:lstStyle/>
        <a:p>
          <a:endParaRPr lang="zh-CN" altLang="en-US"/>
        </a:p>
      </dgm:t>
    </dgm:pt>
    <dgm:pt modelId="{30AFB912-8F14-40EB-A7B5-809CD60D164A}" cxnId="{F61609B8-AF35-4DEE-8FD6-2740BF55BE68}" type="sibTrans">
      <dgm:prSet/>
      <dgm:spPr/>
      <dgm:t>
        <a:bodyPr/>
        <a:lstStyle/>
        <a:p>
          <a:endParaRPr lang="zh-CN" altLang="en-US"/>
        </a:p>
      </dgm:t>
    </dgm:pt>
    <dgm:pt modelId="{DA894219-6E76-450F-8ED2-1549953D1822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UCAgent – </a:t>
          </a:r>
          <a:r>
            <a: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开发计划</a:t>
          </a:r>
        </a:p>
      </dgm:t>
    </dgm:pt>
    <dgm:pt modelId="{81D448E0-60FE-40E1-9D8A-277B73969BC9}" cxnId="{442AB98E-93AF-40AD-B1DF-B3664F13C897}" type="parTrans">
      <dgm:prSet/>
      <dgm:spPr/>
      <dgm:t>
        <a:bodyPr/>
        <a:lstStyle/>
        <a:p>
          <a:endParaRPr lang="zh-CN" altLang="en-US"/>
        </a:p>
      </dgm:t>
    </dgm:pt>
    <dgm:pt modelId="{ACCD955D-B718-41E0-BFE9-9F0EDC2D8B65}" cxnId="{442AB98E-93AF-40AD-B1DF-B3664F13C897}" type="sibTrans">
      <dgm:prSet/>
      <dgm:spPr/>
      <dgm:t>
        <a:bodyPr/>
        <a:lstStyle/>
        <a:p>
          <a:endParaRPr lang="zh-CN" altLang="en-US"/>
        </a:p>
      </dgm:t>
    </dgm:pt>
    <dgm:pt modelId="{FFA102F6-E75F-410D-8045-CC924B0D01B1}" type="pres">
      <dgm:prSet presAssocID="{4AFE4629-DE05-44DF-AEB2-E87CABBC6BC5}" presName="outerComposite" presStyleCnt="0">
        <dgm:presLayoutVars>
          <dgm:chMax val="5"/>
          <dgm:dir/>
          <dgm:resizeHandles val="exact"/>
        </dgm:presLayoutVars>
      </dgm:prSet>
      <dgm:spPr/>
    </dgm:pt>
    <dgm:pt modelId="{E1369E42-9D74-4222-9B68-AE5D4D7C5796}" type="pres">
      <dgm:prSet presAssocID="{4AFE4629-DE05-44DF-AEB2-E87CABBC6BC5}" presName="dummyMaxCanvas" presStyleCnt="0">
        <dgm:presLayoutVars/>
      </dgm:prSet>
      <dgm:spPr/>
    </dgm:pt>
    <dgm:pt modelId="{D18257BD-D13F-4E25-98F7-50371481C4E1}" type="pres">
      <dgm:prSet presAssocID="{4AFE4629-DE05-44DF-AEB2-E87CABBC6BC5}" presName="FiveNodes_1" presStyleLbl="node1" presStyleIdx="0" presStyleCnt="5">
        <dgm:presLayoutVars>
          <dgm:bulletEnabled val="1"/>
        </dgm:presLayoutVars>
      </dgm:prSet>
      <dgm:spPr/>
    </dgm:pt>
    <dgm:pt modelId="{7EA38912-4A90-4A07-B1CA-97125044A9A0}" type="pres">
      <dgm:prSet presAssocID="{4AFE4629-DE05-44DF-AEB2-E87CABBC6BC5}" presName="FiveNodes_2" presStyleLbl="node1" presStyleIdx="1" presStyleCnt="5">
        <dgm:presLayoutVars>
          <dgm:bulletEnabled val="1"/>
        </dgm:presLayoutVars>
      </dgm:prSet>
      <dgm:spPr/>
    </dgm:pt>
    <dgm:pt modelId="{A6642BB9-B1C4-4501-B275-811013463141}" type="pres">
      <dgm:prSet presAssocID="{4AFE4629-DE05-44DF-AEB2-E87CABBC6BC5}" presName="FiveNodes_3" presStyleLbl="node1" presStyleIdx="2" presStyleCnt="5">
        <dgm:presLayoutVars>
          <dgm:bulletEnabled val="1"/>
        </dgm:presLayoutVars>
      </dgm:prSet>
      <dgm:spPr/>
    </dgm:pt>
    <dgm:pt modelId="{C49258F9-264A-4C64-B460-ABD03F9196F1}" type="pres">
      <dgm:prSet presAssocID="{4AFE4629-DE05-44DF-AEB2-E87CABBC6BC5}" presName="FiveNodes_4" presStyleLbl="node1" presStyleIdx="3" presStyleCnt="5">
        <dgm:presLayoutVars>
          <dgm:bulletEnabled val="1"/>
        </dgm:presLayoutVars>
      </dgm:prSet>
      <dgm:spPr/>
    </dgm:pt>
    <dgm:pt modelId="{6ED2C72B-F3CA-4458-AA2B-C37264D6D011}" type="pres">
      <dgm:prSet presAssocID="{4AFE4629-DE05-44DF-AEB2-E87CABBC6BC5}" presName="FiveNodes_5" presStyleLbl="node1" presStyleIdx="4" presStyleCnt="5">
        <dgm:presLayoutVars>
          <dgm:bulletEnabled val="1"/>
        </dgm:presLayoutVars>
      </dgm:prSet>
      <dgm:spPr/>
    </dgm:pt>
    <dgm:pt modelId="{E6A839A3-1284-4251-901D-D7DE71C743C1}" type="pres">
      <dgm:prSet presAssocID="{4AFE4629-DE05-44DF-AEB2-E87CABBC6BC5}" presName="FiveConn_1-2" presStyleLbl="fgAccFollowNode1" presStyleIdx="0" presStyleCnt="4">
        <dgm:presLayoutVars>
          <dgm:bulletEnabled val="1"/>
        </dgm:presLayoutVars>
      </dgm:prSet>
      <dgm:spPr/>
    </dgm:pt>
    <dgm:pt modelId="{865F153D-AEA5-43FC-9D82-DEEC76891F7A}" type="pres">
      <dgm:prSet presAssocID="{4AFE4629-DE05-44DF-AEB2-E87CABBC6BC5}" presName="FiveConn_2-3" presStyleLbl="fgAccFollowNode1" presStyleIdx="1" presStyleCnt="4">
        <dgm:presLayoutVars>
          <dgm:bulletEnabled val="1"/>
        </dgm:presLayoutVars>
      </dgm:prSet>
      <dgm:spPr/>
    </dgm:pt>
    <dgm:pt modelId="{98EB6395-0FCA-4361-B69C-1BAE32AF018A}" type="pres">
      <dgm:prSet presAssocID="{4AFE4629-DE05-44DF-AEB2-E87CABBC6BC5}" presName="FiveConn_3-4" presStyleLbl="fgAccFollowNode1" presStyleIdx="2" presStyleCnt="4">
        <dgm:presLayoutVars>
          <dgm:bulletEnabled val="1"/>
        </dgm:presLayoutVars>
      </dgm:prSet>
      <dgm:spPr/>
    </dgm:pt>
    <dgm:pt modelId="{E5552DAC-2BA3-486E-8698-0E2DF68E6B85}" type="pres">
      <dgm:prSet presAssocID="{4AFE4629-DE05-44DF-AEB2-E87CABBC6BC5}" presName="FiveConn_4-5" presStyleLbl="fgAccFollowNode1" presStyleIdx="3" presStyleCnt="4">
        <dgm:presLayoutVars>
          <dgm:bulletEnabled val="1"/>
        </dgm:presLayoutVars>
      </dgm:prSet>
      <dgm:spPr/>
    </dgm:pt>
    <dgm:pt modelId="{DC22A4AF-C1FE-4601-9086-C02DB6A8D736}" type="pres">
      <dgm:prSet presAssocID="{4AFE4629-DE05-44DF-AEB2-E87CABBC6BC5}" presName="FiveNodes_1_text" presStyleLbl="node1" presStyleIdx="4" presStyleCnt="5">
        <dgm:presLayoutVars>
          <dgm:bulletEnabled val="1"/>
        </dgm:presLayoutVars>
      </dgm:prSet>
      <dgm:spPr/>
    </dgm:pt>
    <dgm:pt modelId="{03BF42D0-D1E6-4C86-94AF-B0B4B08D1226}" type="pres">
      <dgm:prSet presAssocID="{4AFE4629-DE05-44DF-AEB2-E87CABBC6BC5}" presName="FiveNodes_2_text" presStyleLbl="node1" presStyleIdx="4" presStyleCnt="5">
        <dgm:presLayoutVars>
          <dgm:bulletEnabled val="1"/>
        </dgm:presLayoutVars>
      </dgm:prSet>
      <dgm:spPr/>
    </dgm:pt>
    <dgm:pt modelId="{A5DDE2E6-F26D-4830-8A94-3278C34A2344}" type="pres">
      <dgm:prSet presAssocID="{4AFE4629-DE05-44DF-AEB2-E87CABBC6BC5}" presName="FiveNodes_3_text" presStyleLbl="node1" presStyleIdx="4" presStyleCnt="5">
        <dgm:presLayoutVars>
          <dgm:bulletEnabled val="1"/>
        </dgm:presLayoutVars>
      </dgm:prSet>
      <dgm:spPr/>
    </dgm:pt>
    <dgm:pt modelId="{83A7A2F2-0342-4AF8-80ED-D20879C8D78C}" type="pres">
      <dgm:prSet presAssocID="{4AFE4629-DE05-44DF-AEB2-E87CABBC6BC5}" presName="FiveNodes_4_text" presStyleLbl="node1" presStyleIdx="4" presStyleCnt="5">
        <dgm:presLayoutVars>
          <dgm:bulletEnabled val="1"/>
        </dgm:presLayoutVars>
      </dgm:prSet>
      <dgm:spPr/>
    </dgm:pt>
    <dgm:pt modelId="{640C7041-CDB7-4F98-A384-6F169F2862CD}" type="pres">
      <dgm:prSet presAssocID="{4AFE4629-DE05-44DF-AEB2-E87CABBC6BC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A46A215-8DA0-4A95-A338-735B1E967802}" type="presOf" srcId="{E1517180-D87B-4ECD-9BD2-EB43030F509E}" destId="{640C7041-CDB7-4F98-A384-6F169F2862CD}" srcOrd="1" destOrd="0" presId="urn:microsoft.com/office/officeart/2005/8/layout/vProcess5"/>
    <dgm:cxn modelId="{37F13817-9C7B-4397-B324-1C22FF960AF0}" type="presOf" srcId="{3214B520-6B71-4A5A-9B09-F06E7BF2B5E9}" destId="{A6642BB9-B1C4-4501-B275-811013463141}" srcOrd="0" destOrd="0" presId="urn:microsoft.com/office/officeart/2005/8/layout/vProcess5"/>
    <dgm:cxn modelId="{B914EA26-4298-43F9-A459-141B8673E2C5}" type="presOf" srcId="{ACCD955D-B718-41E0-BFE9-9F0EDC2D8B65}" destId="{E5552DAC-2BA3-486E-8698-0E2DF68E6B85}" srcOrd="0" destOrd="0" presId="urn:microsoft.com/office/officeart/2005/8/layout/vProcess5"/>
    <dgm:cxn modelId="{DDE4F82C-400A-41F3-AE05-294F7FE97708}" type="presOf" srcId="{4ED16837-886C-4C2E-9488-582D2795C8BB}" destId="{7EA38912-4A90-4A07-B1CA-97125044A9A0}" srcOrd="0" destOrd="0" presId="urn:microsoft.com/office/officeart/2005/8/layout/vProcess5"/>
    <dgm:cxn modelId="{1DBB8F5C-5890-45E9-BF63-639BF7AE5AFA}" type="presOf" srcId="{9770BA85-4327-4B07-B931-37ACFDEE4E8D}" destId="{DC22A4AF-C1FE-4601-9086-C02DB6A8D736}" srcOrd="1" destOrd="0" presId="urn:microsoft.com/office/officeart/2005/8/layout/vProcess5"/>
    <dgm:cxn modelId="{C5F2CB65-8840-48CC-8315-F09D83C9E766}" srcId="{4AFE4629-DE05-44DF-AEB2-E87CABBC6BC5}" destId="{9770BA85-4327-4B07-B931-37ACFDEE4E8D}" srcOrd="0" destOrd="0" parTransId="{278FEEFF-FD22-40C9-BF07-47B8D73AF035}" sibTransId="{79C4B6F7-11B2-4C0F-AAE5-8CBB25425C77}"/>
    <dgm:cxn modelId="{82F37A49-E370-4514-B1A8-AB651144F626}" type="presOf" srcId="{97C51DC1-4A38-4328-97A8-43127F2A469E}" destId="{865F153D-AEA5-43FC-9D82-DEEC76891F7A}" srcOrd="0" destOrd="0" presId="urn:microsoft.com/office/officeart/2005/8/layout/vProcess5"/>
    <dgm:cxn modelId="{442AB98E-93AF-40AD-B1DF-B3664F13C897}" srcId="{4AFE4629-DE05-44DF-AEB2-E87CABBC6BC5}" destId="{DA894219-6E76-450F-8ED2-1549953D1822}" srcOrd="3" destOrd="0" parTransId="{81D448E0-60FE-40E1-9D8A-277B73969BC9}" sibTransId="{ACCD955D-B718-41E0-BFE9-9F0EDC2D8B65}"/>
    <dgm:cxn modelId="{52FF0B96-F2F7-4BA4-8CB7-1FC4FEC6BB2D}" type="presOf" srcId="{4AFE4629-DE05-44DF-AEB2-E87CABBC6BC5}" destId="{FFA102F6-E75F-410D-8045-CC924B0D01B1}" srcOrd="0" destOrd="0" presId="urn:microsoft.com/office/officeart/2005/8/layout/vProcess5"/>
    <dgm:cxn modelId="{84DEE9AA-CFDB-4343-B047-1BBCE6E581A6}" type="presOf" srcId="{79C4B6F7-11B2-4C0F-AAE5-8CBB25425C77}" destId="{E6A839A3-1284-4251-901D-D7DE71C743C1}" srcOrd="0" destOrd="0" presId="urn:microsoft.com/office/officeart/2005/8/layout/vProcess5"/>
    <dgm:cxn modelId="{CDB1A3AB-5DBF-4D19-9E46-C96C20EB6DE2}" type="presOf" srcId="{9770BA85-4327-4B07-B931-37ACFDEE4E8D}" destId="{D18257BD-D13F-4E25-98F7-50371481C4E1}" srcOrd="0" destOrd="0" presId="urn:microsoft.com/office/officeart/2005/8/layout/vProcess5"/>
    <dgm:cxn modelId="{6E2FD3B3-48D9-4D22-92AF-4B700155BA28}" type="presOf" srcId="{3214B520-6B71-4A5A-9B09-F06E7BF2B5E9}" destId="{A5DDE2E6-F26D-4830-8A94-3278C34A2344}" srcOrd="1" destOrd="0" presId="urn:microsoft.com/office/officeart/2005/8/layout/vProcess5"/>
    <dgm:cxn modelId="{F61609B8-AF35-4DEE-8FD6-2740BF55BE68}" srcId="{4AFE4629-DE05-44DF-AEB2-E87CABBC6BC5}" destId="{E1517180-D87B-4ECD-9BD2-EB43030F509E}" srcOrd="4" destOrd="0" parTransId="{B628FA83-7FE6-44C8-B0A1-48640967CA4D}" sibTransId="{30AFB912-8F14-40EB-A7B5-809CD60D164A}"/>
    <dgm:cxn modelId="{0B6BD2C2-F080-4845-9B1C-4D4A7BB76EB4}" type="presOf" srcId="{4ED16837-886C-4C2E-9488-582D2795C8BB}" destId="{03BF42D0-D1E6-4C86-94AF-B0B4B08D1226}" srcOrd="1" destOrd="0" presId="urn:microsoft.com/office/officeart/2005/8/layout/vProcess5"/>
    <dgm:cxn modelId="{823A97CE-8EEF-4C0D-BFA7-A91A48677D0A}" type="presOf" srcId="{2E242C5B-F9E5-424E-A0E4-DCFF00B57743}" destId="{98EB6395-0FCA-4361-B69C-1BAE32AF018A}" srcOrd="0" destOrd="0" presId="urn:microsoft.com/office/officeart/2005/8/layout/vProcess5"/>
    <dgm:cxn modelId="{BCE9B3D1-9B16-4F74-8361-C734098CE865}" srcId="{4AFE4629-DE05-44DF-AEB2-E87CABBC6BC5}" destId="{3214B520-6B71-4A5A-9B09-F06E7BF2B5E9}" srcOrd="2" destOrd="0" parTransId="{BEAB66E1-6160-40CF-BB28-60F9015CC084}" sibTransId="{2E242C5B-F9E5-424E-A0E4-DCFF00B57743}"/>
    <dgm:cxn modelId="{C5A99DE0-195A-4ADC-A1CF-7B46190AA385}" srcId="{4AFE4629-DE05-44DF-AEB2-E87CABBC6BC5}" destId="{4ED16837-886C-4C2E-9488-582D2795C8BB}" srcOrd="1" destOrd="0" parTransId="{5BF8F0CB-A712-4E52-8C83-599731C3B3B3}" sibTransId="{97C51DC1-4A38-4328-97A8-43127F2A469E}"/>
    <dgm:cxn modelId="{239B42E3-C0FB-4490-A889-CDB626BB268E}" type="presOf" srcId="{DA894219-6E76-450F-8ED2-1549953D1822}" destId="{C49258F9-264A-4C64-B460-ABD03F9196F1}" srcOrd="0" destOrd="0" presId="urn:microsoft.com/office/officeart/2005/8/layout/vProcess5"/>
    <dgm:cxn modelId="{5FAC2CF9-2CBC-4DFA-8161-6383BB29BB46}" type="presOf" srcId="{DA894219-6E76-450F-8ED2-1549953D1822}" destId="{83A7A2F2-0342-4AF8-80ED-D20879C8D78C}" srcOrd="1" destOrd="0" presId="urn:microsoft.com/office/officeart/2005/8/layout/vProcess5"/>
    <dgm:cxn modelId="{0F3208FE-555E-4658-9409-AF8E1F1EB65C}" type="presOf" srcId="{E1517180-D87B-4ECD-9BD2-EB43030F509E}" destId="{6ED2C72B-F3CA-4458-AA2B-C37264D6D011}" srcOrd="0" destOrd="0" presId="urn:microsoft.com/office/officeart/2005/8/layout/vProcess5"/>
    <dgm:cxn modelId="{CD62483B-469A-423C-B8E7-3DAE09AFB6AB}" type="presParOf" srcId="{FFA102F6-E75F-410D-8045-CC924B0D01B1}" destId="{E1369E42-9D74-4222-9B68-AE5D4D7C5796}" srcOrd="0" destOrd="0" presId="urn:microsoft.com/office/officeart/2005/8/layout/vProcess5"/>
    <dgm:cxn modelId="{F9E2497D-5DCC-4C7F-BC40-52F3B72011D0}" type="presParOf" srcId="{FFA102F6-E75F-410D-8045-CC924B0D01B1}" destId="{D18257BD-D13F-4E25-98F7-50371481C4E1}" srcOrd="1" destOrd="0" presId="urn:microsoft.com/office/officeart/2005/8/layout/vProcess5"/>
    <dgm:cxn modelId="{3D88C56F-0D99-4EF9-A046-E1D78170C257}" type="presParOf" srcId="{FFA102F6-E75F-410D-8045-CC924B0D01B1}" destId="{7EA38912-4A90-4A07-B1CA-97125044A9A0}" srcOrd="2" destOrd="0" presId="urn:microsoft.com/office/officeart/2005/8/layout/vProcess5"/>
    <dgm:cxn modelId="{39FB60BC-2BB4-4C8B-AEDC-F74A30587FE0}" type="presParOf" srcId="{FFA102F6-E75F-410D-8045-CC924B0D01B1}" destId="{A6642BB9-B1C4-4501-B275-811013463141}" srcOrd="3" destOrd="0" presId="urn:microsoft.com/office/officeart/2005/8/layout/vProcess5"/>
    <dgm:cxn modelId="{2A362C35-1D4E-45DF-B8AF-A07131FFD6AC}" type="presParOf" srcId="{FFA102F6-E75F-410D-8045-CC924B0D01B1}" destId="{C49258F9-264A-4C64-B460-ABD03F9196F1}" srcOrd="4" destOrd="0" presId="urn:microsoft.com/office/officeart/2005/8/layout/vProcess5"/>
    <dgm:cxn modelId="{C68EDBF6-116F-4F99-AF41-C9A4F4731B08}" type="presParOf" srcId="{FFA102F6-E75F-410D-8045-CC924B0D01B1}" destId="{6ED2C72B-F3CA-4458-AA2B-C37264D6D011}" srcOrd="5" destOrd="0" presId="urn:microsoft.com/office/officeart/2005/8/layout/vProcess5"/>
    <dgm:cxn modelId="{786E7202-8116-4B2F-B468-C6686FC226A9}" type="presParOf" srcId="{FFA102F6-E75F-410D-8045-CC924B0D01B1}" destId="{E6A839A3-1284-4251-901D-D7DE71C743C1}" srcOrd="6" destOrd="0" presId="urn:microsoft.com/office/officeart/2005/8/layout/vProcess5"/>
    <dgm:cxn modelId="{77FC7DBC-E136-43FE-B579-2D234F7A54C9}" type="presParOf" srcId="{FFA102F6-E75F-410D-8045-CC924B0D01B1}" destId="{865F153D-AEA5-43FC-9D82-DEEC76891F7A}" srcOrd="7" destOrd="0" presId="urn:microsoft.com/office/officeart/2005/8/layout/vProcess5"/>
    <dgm:cxn modelId="{EF479B02-5499-4112-9897-308B94652974}" type="presParOf" srcId="{FFA102F6-E75F-410D-8045-CC924B0D01B1}" destId="{98EB6395-0FCA-4361-B69C-1BAE32AF018A}" srcOrd="8" destOrd="0" presId="urn:microsoft.com/office/officeart/2005/8/layout/vProcess5"/>
    <dgm:cxn modelId="{5FE5DC4D-A17C-4CD0-8C40-2A6D69753E68}" type="presParOf" srcId="{FFA102F6-E75F-410D-8045-CC924B0D01B1}" destId="{E5552DAC-2BA3-486E-8698-0E2DF68E6B85}" srcOrd="9" destOrd="0" presId="urn:microsoft.com/office/officeart/2005/8/layout/vProcess5"/>
    <dgm:cxn modelId="{3DA69524-3CEC-4653-B0B5-12EC76200BB9}" type="presParOf" srcId="{FFA102F6-E75F-410D-8045-CC924B0D01B1}" destId="{DC22A4AF-C1FE-4601-9086-C02DB6A8D736}" srcOrd="10" destOrd="0" presId="urn:microsoft.com/office/officeart/2005/8/layout/vProcess5"/>
    <dgm:cxn modelId="{350D33E1-FB0B-4CA7-AD0F-47BA601D7CB8}" type="presParOf" srcId="{FFA102F6-E75F-410D-8045-CC924B0D01B1}" destId="{03BF42D0-D1E6-4C86-94AF-B0B4B08D1226}" srcOrd="11" destOrd="0" presId="urn:microsoft.com/office/officeart/2005/8/layout/vProcess5"/>
    <dgm:cxn modelId="{1942B1CB-CE5C-4649-8AD2-D3238AFE2ADB}" type="presParOf" srcId="{FFA102F6-E75F-410D-8045-CC924B0D01B1}" destId="{A5DDE2E6-F26D-4830-8A94-3278C34A2344}" srcOrd="12" destOrd="0" presId="urn:microsoft.com/office/officeart/2005/8/layout/vProcess5"/>
    <dgm:cxn modelId="{26BD52E6-0BE5-460A-8E88-7035F1C8E12E}" type="presParOf" srcId="{FFA102F6-E75F-410D-8045-CC924B0D01B1}" destId="{83A7A2F2-0342-4AF8-80ED-D20879C8D78C}" srcOrd="13" destOrd="0" presId="urn:microsoft.com/office/officeart/2005/8/layout/vProcess5"/>
    <dgm:cxn modelId="{B6378101-00A1-457F-AA6D-B7B9A11D6A0A}" type="presParOf" srcId="{FFA102F6-E75F-410D-8045-CC924B0D01B1}" destId="{640C7041-CDB7-4F98-A384-6F169F2862C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31CD22-A79A-45CB-A711-02B38B3C2C2C}" type="doc">
      <dgm:prSet loTypeId="urn:microsoft.com/office/officeart/2005/8/layout/list1#1" loCatId="list" qsTypeId="urn:microsoft.com/office/officeart/2005/8/quickstyle/simple1#3" qsCatId="simple" csTypeId="urn:microsoft.com/office/officeart/2005/8/colors/accent1_2#4" csCatId="accent1" phldr="1"/>
      <dgm:spPr/>
      <dgm:t>
        <a:bodyPr/>
        <a:lstStyle/>
        <a:p>
          <a:endParaRPr lang="zh-CN" altLang="en-US"/>
        </a:p>
      </dgm:t>
    </dgm:pt>
    <dgm:pt modelId="{3F7D44B4-B396-491F-AB65-B6ABFE4D20F8}">
      <dgm:prSet/>
      <dgm:spPr/>
      <dgm:t>
        <a:bodyPr/>
        <a:lstStyle/>
        <a:p>
          <a:r>
            <a:rPr kumimoji="1" lang="zh-CN" b="1" dirty="0"/>
            <a:t>挑战</a:t>
          </a:r>
          <a:r>
            <a:rPr kumimoji="1" lang="en-US" b="1" dirty="0"/>
            <a:t>1</a:t>
          </a:r>
          <a:r>
            <a:rPr kumimoji="1" lang="zh-CN" b="1" dirty="0"/>
            <a:t>：</a:t>
          </a:r>
          <a:r>
            <a:rPr kumimoji="1" lang="en-US" b="1" dirty="0"/>
            <a:t>LLM </a:t>
          </a:r>
          <a:r>
            <a:rPr kumimoji="1" lang="zh-CN" b="1" dirty="0"/>
            <a:t>生成 </a:t>
          </a:r>
          <a:r>
            <a:rPr kumimoji="1" lang="en-US" b="1" dirty="0"/>
            <a:t>Verilog/System Verilog </a:t>
          </a:r>
          <a:r>
            <a:rPr kumimoji="1" lang="zh-CN" b="1" dirty="0"/>
            <a:t>准确率不</a:t>
          </a:r>
          <a:r>
            <a:rPr kumimoji="1" lang="zh-CN" altLang="en-US" b="1" dirty="0"/>
            <a:t>高</a:t>
          </a:r>
          <a:endParaRPr lang="zh-CN" dirty="0"/>
        </a:p>
      </dgm:t>
    </dgm:pt>
    <dgm:pt modelId="{DEE4FBCB-8BC8-465E-8553-23BD43F438A4}" cxnId="{49AF8337-AA5A-4384-8264-0DB6270622F7}" type="parTrans">
      <dgm:prSet/>
      <dgm:spPr/>
      <dgm:t>
        <a:bodyPr/>
        <a:lstStyle/>
        <a:p>
          <a:endParaRPr lang="zh-CN" altLang="en-US"/>
        </a:p>
      </dgm:t>
    </dgm:pt>
    <dgm:pt modelId="{C919135C-0977-4ECE-8B71-26CBB1F842EB}" cxnId="{49AF8337-AA5A-4384-8264-0DB6270622F7}" type="sibTrans">
      <dgm:prSet/>
      <dgm:spPr/>
      <dgm:t>
        <a:bodyPr/>
        <a:lstStyle/>
        <a:p>
          <a:endParaRPr lang="zh-CN" altLang="en-US"/>
        </a:p>
      </dgm:t>
    </dgm:pt>
    <dgm:pt modelId="{E6C89647-746F-475C-AC44-EE78E23F9FAE}">
      <dgm:prSet/>
      <dgm:spPr/>
      <dgm:t>
        <a:bodyPr/>
        <a:lstStyle/>
        <a:p>
          <a:r>
            <a:rPr kumimoji="1" lang="zh-CN" b="1"/>
            <a:t>挑战</a:t>
          </a:r>
          <a:r>
            <a:rPr kumimoji="1" lang="en-US" b="1"/>
            <a:t>2</a:t>
          </a:r>
          <a:r>
            <a:rPr kumimoji="1" lang="zh-CN" b="1"/>
            <a:t>： </a:t>
          </a:r>
          <a:r>
            <a:rPr kumimoji="1" lang="en-US" b="1"/>
            <a:t>LLM </a:t>
          </a:r>
          <a:r>
            <a:rPr lang="zh-CN" b="1"/>
            <a:t>难以完成复杂的端到端验证任务</a:t>
          </a:r>
          <a:endParaRPr lang="zh-CN"/>
        </a:p>
      </dgm:t>
    </dgm:pt>
    <dgm:pt modelId="{E05CEA7A-7A11-4341-A890-6F3D33488A90}" cxnId="{BEC465AF-91EF-4874-A119-D390BD0BDA46}" type="parTrans">
      <dgm:prSet/>
      <dgm:spPr/>
      <dgm:t>
        <a:bodyPr/>
        <a:lstStyle/>
        <a:p>
          <a:endParaRPr lang="zh-CN" altLang="en-US"/>
        </a:p>
      </dgm:t>
    </dgm:pt>
    <dgm:pt modelId="{67722D86-5905-417F-81CC-48B469D2CCE7}" cxnId="{BEC465AF-91EF-4874-A119-D390BD0BDA46}" type="sibTrans">
      <dgm:prSet/>
      <dgm:spPr/>
      <dgm:t>
        <a:bodyPr/>
        <a:lstStyle/>
        <a:p>
          <a:endParaRPr lang="zh-CN" altLang="en-US"/>
        </a:p>
      </dgm:t>
    </dgm:pt>
    <dgm:pt modelId="{BDBE0B00-C6E1-4ABD-A614-A44EF216EE0A}">
      <dgm:prSet/>
      <dgm:spPr/>
      <dgm:t>
        <a:bodyPr/>
        <a:lstStyle/>
        <a:p>
          <a:r>
            <a:rPr kumimoji="1" lang="zh-CN" b="1"/>
            <a:t>挑战</a:t>
          </a:r>
          <a:r>
            <a:rPr kumimoji="1" lang="en-US" b="1"/>
            <a:t>3</a:t>
          </a:r>
          <a:r>
            <a:rPr kumimoji="1" lang="zh-CN" b="1"/>
            <a:t>： </a:t>
          </a:r>
          <a:r>
            <a:rPr kumimoji="1" lang="en-US" b="1"/>
            <a:t>LLM </a:t>
          </a:r>
          <a:r>
            <a:rPr lang="zh-CN" b="1"/>
            <a:t>难以保持验证全程的一致性</a:t>
          </a:r>
          <a:endParaRPr lang="zh-CN"/>
        </a:p>
      </dgm:t>
    </dgm:pt>
    <dgm:pt modelId="{21FC2B4E-B401-4386-BF91-099270ACC967}" cxnId="{6E01519F-06F0-48EF-890F-B8C14F1FE165}" type="parTrans">
      <dgm:prSet/>
      <dgm:spPr/>
      <dgm:t>
        <a:bodyPr/>
        <a:lstStyle/>
        <a:p>
          <a:endParaRPr lang="zh-CN" altLang="en-US"/>
        </a:p>
      </dgm:t>
    </dgm:pt>
    <dgm:pt modelId="{B65CA823-C42C-4521-A8EC-5EF211C9CF16}" cxnId="{6E01519F-06F0-48EF-890F-B8C14F1FE165}" type="sibTrans">
      <dgm:prSet/>
      <dgm:spPr/>
      <dgm:t>
        <a:bodyPr/>
        <a:lstStyle/>
        <a:p>
          <a:endParaRPr lang="zh-CN" altLang="en-US"/>
        </a:p>
      </dgm:t>
    </dgm:pt>
    <dgm:pt modelId="{6F000C28-D72F-4815-86AB-41006A412A21}">
      <dgm:prSet/>
      <dgm:spPr/>
      <dgm:t>
        <a:bodyPr/>
        <a:lstStyle/>
        <a:p>
          <a:endParaRPr lang="zh-CN" dirty="0"/>
        </a:p>
      </dgm:t>
    </dgm:pt>
    <dgm:pt modelId="{EA5CB731-98A5-4D2E-A48B-C5BCB74B0E7D}" cxnId="{3F306CDC-F930-40CF-8C44-6B1D4B8CAD29}" type="parTrans">
      <dgm:prSet/>
      <dgm:spPr/>
      <dgm:t>
        <a:bodyPr/>
        <a:lstStyle/>
        <a:p>
          <a:endParaRPr lang="zh-CN" altLang="en-US"/>
        </a:p>
      </dgm:t>
    </dgm:pt>
    <dgm:pt modelId="{F87CA59D-8626-4D6A-B80E-5676D5D78CA9}" cxnId="{3F306CDC-F930-40CF-8C44-6B1D4B8CAD29}" type="sibTrans">
      <dgm:prSet/>
      <dgm:spPr/>
      <dgm:t>
        <a:bodyPr/>
        <a:lstStyle/>
        <a:p>
          <a:endParaRPr lang="zh-CN" altLang="en-US"/>
        </a:p>
      </dgm:t>
    </dgm:pt>
    <dgm:pt modelId="{2D237E27-DA44-48D2-ADE8-2606453E6A22}" type="pres">
      <dgm:prSet presAssocID="{8831CD22-A79A-45CB-A711-02B38B3C2C2C}" presName="linear" presStyleCnt="0">
        <dgm:presLayoutVars>
          <dgm:dir/>
          <dgm:animLvl val="lvl"/>
          <dgm:resizeHandles val="exact"/>
        </dgm:presLayoutVars>
      </dgm:prSet>
      <dgm:spPr/>
    </dgm:pt>
    <dgm:pt modelId="{E4EC0BD3-BED5-47C1-B794-19905B862CEB}" type="pres">
      <dgm:prSet presAssocID="{3F7D44B4-B396-491F-AB65-B6ABFE4D20F8}" presName="parentLin" presStyleCnt="0"/>
      <dgm:spPr/>
    </dgm:pt>
    <dgm:pt modelId="{063B37FA-1EB0-4837-B63E-4B56A89536B0}" type="pres">
      <dgm:prSet presAssocID="{3F7D44B4-B396-491F-AB65-B6ABFE4D20F8}" presName="parentLeftMargin" presStyleLbl="node1" presStyleIdx="0" presStyleCnt="3"/>
      <dgm:spPr/>
    </dgm:pt>
    <dgm:pt modelId="{0E2CE27D-D112-48B7-980E-8ED9DCA2ED30}" type="pres">
      <dgm:prSet presAssocID="{3F7D44B4-B396-491F-AB65-B6ABFE4D20F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F647B6-192B-4179-B51E-C28A7FEBF687}" type="pres">
      <dgm:prSet presAssocID="{3F7D44B4-B396-491F-AB65-B6ABFE4D20F8}" presName="negativeSpace" presStyleCnt="0"/>
      <dgm:spPr/>
    </dgm:pt>
    <dgm:pt modelId="{D090D559-CA2F-42FA-8FF9-08FB89147D7A}" type="pres">
      <dgm:prSet presAssocID="{3F7D44B4-B396-491F-AB65-B6ABFE4D20F8}" presName="childText" presStyleLbl="conFgAcc1" presStyleIdx="0" presStyleCnt="3">
        <dgm:presLayoutVars>
          <dgm:bulletEnabled val="1"/>
        </dgm:presLayoutVars>
      </dgm:prSet>
      <dgm:spPr/>
    </dgm:pt>
    <dgm:pt modelId="{E3E6F14B-20F2-45D2-A7FB-52B913DABE9F}" type="pres">
      <dgm:prSet presAssocID="{C919135C-0977-4ECE-8B71-26CBB1F842EB}" presName="spaceBetweenRectangles" presStyleCnt="0"/>
      <dgm:spPr/>
    </dgm:pt>
    <dgm:pt modelId="{B761EDE7-9DBF-4ACE-A619-A9A9FD845C1B}" type="pres">
      <dgm:prSet presAssocID="{E6C89647-746F-475C-AC44-EE78E23F9FAE}" presName="parentLin" presStyleCnt="0"/>
      <dgm:spPr/>
    </dgm:pt>
    <dgm:pt modelId="{9EBCF039-32BC-47D2-82AA-5320049F669E}" type="pres">
      <dgm:prSet presAssocID="{E6C89647-746F-475C-AC44-EE78E23F9FAE}" presName="parentLeftMargin" presStyleLbl="node1" presStyleIdx="0" presStyleCnt="3"/>
      <dgm:spPr/>
    </dgm:pt>
    <dgm:pt modelId="{BF0D6872-A07A-4D85-9DBC-3FD384AE38BE}" type="pres">
      <dgm:prSet presAssocID="{E6C89647-746F-475C-AC44-EE78E23F9F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7B630A-4F3B-4530-9F35-DE2BBF6C8364}" type="pres">
      <dgm:prSet presAssocID="{E6C89647-746F-475C-AC44-EE78E23F9FAE}" presName="negativeSpace" presStyleCnt="0"/>
      <dgm:spPr/>
    </dgm:pt>
    <dgm:pt modelId="{FA007152-F84F-4B50-A0CF-218EFA96BFC9}" type="pres">
      <dgm:prSet presAssocID="{E6C89647-746F-475C-AC44-EE78E23F9FAE}" presName="childText" presStyleLbl="conFgAcc1" presStyleIdx="1" presStyleCnt="3">
        <dgm:presLayoutVars>
          <dgm:bulletEnabled val="1"/>
        </dgm:presLayoutVars>
      </dgm:prSet>
      <dgm:spPr/>
    </dgm:pt>
    <dgm:pt modelId="{0018212D-4154-4964-ACEE-28D6FD9D6A02}" type="pres">
      <dgm:prSet presAssocID="{67722D86-5905-417F-81CC-48B469D2CCE7}" presName="spaceBetweenRectangles" presStyleCnt="0"/>
      <dgm:spPr/>
    </dgm:pt>
    <dgm:pt modelId="{17CFE03F-76D9-40F4-A175-352DB01181B2}" type="pres">
      <dgm:prSet presAssocID="{BDBE0B00-C6E1-4ABD-A614-A44EF216EE0A}" presName="parentLin" presStyleCnt="0"/>
      <dgm:spPr/>
    </dgm:pt>
    <dgm:pt modelId="{98A895D6-0443-42F4-9274-00818D9436BA}" type="pres">
      <dgm:prSet presAssocID="{BDBE0B00-C6E1-4ABD-A614-A44EF216EE0A}" presName="parentLeftMargin" presStyleLbl="node1" presStyleIdx="1" presStyleCnt="3"/>
      <dgm:spPr/>
    </dgm:pt>
    <dgm:pt modelId="{5FEBBA41-4658-4269-8A39-F0D10B7996F8}" type="pres">
      <dgm:prSet presAssocID="{BDBE0B00-C6E1-4ABD-A614-A44EF216EE0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4027663-9F9A-4F8D-9221-1A65D012A40C}" type="pres">
      <dgm:prSet presAssocID="{BDBE0B00-C6E1-4ABD-A614-A44EF216EE0A}" presName="negativeSpace" presStyleCnt="0"/>
      <dgm:spPr/>
    </dgm:pt>
    <dgm:pt modelId="{B576F177-138D-4B29-A372-9C59BD3B1967}" type="pres">
      <dgm:prSet presAssocID="{BDBE0B00-C6E1-4ABD-A614-A44EF216EE0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8C93C01-FA79-470F-8793-D8C17923C2F8}" type="presOf" srcId="{E6C89647-746F-475C-AC44-EE78E23F9FAE}" destId="{BF0D6872-A07A-4D85-9DBC-3FD384AE38BE}" srcOrd="1" destOrd="0" presId="urn:microsoft.com/office/officeart/2005/8/layout/list1#1"/>
    <dgm:cxn modelId="{0EEC631F-7820-4E71-986F-E269868EA491}" type="presOf" srcId="{BDBE0B00-C6E1-4ABD-A614-A44EF216EE0A}" destId="{98A895D6-0443-42F4-9274-00818D9436BA}" srcOrd="0" destOrd="0" presId="urn:microsoft.com/office/officeart/2005/8/layout/list1#1"/>
    <dgm:cxn modelId="{49AF8337-AA5A-4384-8264-0DB6270622F7}" srcId="{8831CD22-A79A-45CB-A711-02B38B3C2C2C}" destId="{3F7D44B4-B396-491F-AB65-B6ABFE4D20F8}" srcOrd="0" destOrd="0" parTransId="{DEE4FBCB-8BC8-465E-8553-23BD43F438A4}" sibTransId="{C919135C-0977-4ECE-8B71-26CBB1F842EB}"/>
    <dgm:cxn modelId="{843B4145-1560-463C-ADA2-D9974A96AB08}" type="presOf" srcId="{8831CD22-A79A-45CB-A711-02B38B3C2C2C}" destId="{2D237E27-DA44-48D2-ADE8-2606453E6A22}" srcOrd="0" destOrd="0" presId="urn:microsoft.com/office/officeart/2005/8/layout/list1#1"/>
    <dgm:cxn modelId="{BB040949-7A42-4D04-8FF3-B6A10E6FDA87}" type="presOf" srcId="{E6C89647-746F-475C-AC44-EE78E23F9FAE}" destId="{9EBCF039-32BC-47D2-82AA-5320049F669E}" srcOrd="0" destOrd="0" presId="urn:microsoft.com/office/officeart/2005/8/layout/list1#1"/>
    <dgm:cxn modelId="{8B02427D-CEF5-4B59-9BAC-995D4D9C1849}" type="presOf" srcId="{3F7D44B4-B396-491F-AB65-B6ABFE4D20F8}" destId="{0E2CE27D-D112-48B7-980E-8ED9DCA2ED30}" srcOrd="1" destOrd="0" presId="urn:microsoft.com/office/officeart/2005/8/layout/list1#1"/>
    <dgm:cxn modelId="{16DCAC85-F652-447A-84B7-08778F2EC7DC}" type="presOf" srcId="{6F000C28-D72F-4815-86AB-41006A412A21}" destId="{D090D559-CA2F-42FA-8FF9-08FB89147D7A}" srcOrd="0" destOrd="0" presId="urn:microsoft.com/office/officeart/2005/8/layout/list1#1"/>
    <dgm:cxn modelId="{6E01519F-06F0-48EF-890F-B8C14F1FE165}" srcId="{8831CD22-A79A-45CB-A711-02B38B3C2C2C}" destId="{BDBE0B00-C6E1-4ABD-A614-A44EF216EE0A}" srcOrd="2" destOrd="0" parTransId="{21FC2B4E-B401-4386-BF91-099270ACC967}" sibTransId="{B65CA823-C42C-4521-A8EC-5EF211C9CF16}"/>
    <dgm:cxn modelId="{BF6969AE-E6A5-4EC2-A0A1-A56CF7C363E0}" type="presOf" srcId="{BDBE0B00-C6E1-4ABD-A614-A44EF216EE0A}" destId="{5FEBBA41-4658-4269-8A39-F0D10B7996F8}" srcOrd="1" destOrd="0" presId="urn:microsoft.com/office/officeart/2005/8/layout/list1#1"/>
    <dgm:cxn modelId="{BEC465AF-91EF-4874-A119-D390BD0BDA46}" srcId="{8831CD22-A79A-45CB-A711-02B38B3C2C2C}" destId="{E6C89647-746F-475C-AC44-EE78E23F9FAE}" srcOrd="1" destOrd="0" parTransId="{E05CEA7A-7A11-4341-A890-6F3D33488A90}" sibTransId="{67722D86-5905-417F-81CC-48B469D2CCE7}"/>
    <dgm:cxn modelId="{3F306CDC-F930-40CF-8C44-6B1D4B8CAD29}" srcId="{3F7D44B4-B396-491F-AB65-B6ABFE4D20F8}" destId="{6F000C28-D72F-4815-86AB-41006A412A21}" srcOrd="0" destOrd="0" parTransId="{EA5CB731-98A5-4D2E-A48B-C5BCB74B0E7D}" sibTransId="{F87CA59D-8626-4D6A-B80E-5676D5D78CA9}"/>
    <dgm:cxn modelId="{1B97CFFE-0D26-4E25-AFCB-01B510F4943A}" type="presOf" srcId="{3F7D44B4-B396-491F-AB65-B6ABFE4D20F8}" destId="{063B37FA-1EB0-4837-B63E-4B56A89536B0}" srcOrd="0" destOrd="0" presId="urn:microsoft.com/office/officeart/2005/8/layout/list1#1"/>
    <dgm:cxn modelId="{8D932360-2B8C-490B-8462-C20E96D5C779}" type="presParOf" srcId="{2D237E27-DA44-48D2-ADE8-2606453E6A22}" destId="{E4EC0BD3-BED5-47C1-B794-19905B862CEB}" srcOrd="0" destOrd="0" presId="urn:microsoft.com/office/officeart/2005/8/layout/list1#1"/>
    <dgm:cxn modelId="{A904B139-6E1B-4169-B95D-BFB7F0E18422}" type="presParOf" srcId="{E4EC0BD3-BED5-47C1-B794-19905B862CEB}" destId="{063B37FA-1EB0-4837-B63E-4B56A89536B0}" srcOrd="0" destOrd="0" presId="urn:microsoft.com/office/officeart/2005/8/layout/list1#1"/>
    <dgm:cxn modelId="{330A1366-BA3A-47B9-9928-4C1C484C53D1}" type="presParOf" srcId="{E4EC0BD3-BED5-47C1-B794-19905B862CEB}" destId="{0E2CE27D-D112-48B7-980E-8ED9DCA2ED30}" srcOrd="1" destOrd="0" presId="urn:microsoft.com/office/officeart/2005/8/layout/list1#1"/>
    <dgm:cxn modelId="{6F4B3A60-278A-407E-B3B9-2402EB096464}" type="presParOf" srcId="{2D237E27-DA44-48D2-ADE8-2606453E6A22}" destId="{74F647B6-192B-4179-B51E-C28A7FEBF687}" srcOrd="1" destOrd="0" presId="urn:microsoft.com/office/officeart/2005/8/layout/list1#1"/>
    <dgm:cxn modelId="{E6DBF79A-9F83-490D-915B-CC0241D01634}" type="presParOf" srcId="{2D237E27-DA44-48D2-ADE8-2606453E6A22}" destId="{D090D559-CA2F-42FA-8FF9-08FB89147D7A}" srcOrd="2" destOrd="0" presId="urn:microsoft.com/office/officeart/2005/8/layout/list1#1"/>
    <dgm:cxn modelId="{C303DA74-232B-4DA6-A1C7-802BE306B168}" type="presParOf" srcId="{2D237E27-DA44-48D2-ADE8-2606453E6A22}" destId="{E3E6F14B-20F2-45D2-A7FB-52B913DABE9F}" srcOrd="3" destOrd="0" presId="urn:microsoft.com/office/officeart/2005/8/layout/list1#1"/>
    <dgm:cxn modelId="{08423A6A-CF46-4E14-8AA4-6DF6ACFB7B0C}" type="presParOf" srcId="{2D237E27-DA44-48D2-ADE8-2606453E6A22}" destId="{B761EDE7-9DBF-4ACE-A619-A9A9FD845C1B}" srcOrd="4" destOrd="0" presId="urn:microsoft.com/office/officeart/2005/8/layout/list1#1"/>
    <dgm:cxn modelId="{74A55A33-A956-41FD-940B-805B0B6E32DE}" type="presParOf" srcId="{B761EDE7-9DBF-4ACE-A619-A9A9FD845C1B}" destId="{9EBCF039-32BC-47D2-82AA-5320049F669E}" srcOrd="0" destOrd="0" presId="urn:microsoft.com/office/officeart/2005/8/layout/list1#1"/>
    <dgm:cxn modelId="{CBC128D9-941C-46DE-BBB6-642DCD13CE3C}" type="presParOf" srcId="{B761EDE7-9DBF-4ACE-A619-A9A9FD845C1B}" destId="{BF0D6872-A07A-4D85-9DBC-3FD384AE38BE}" srcOrd="1" destOrd="0" presId="urn:microsoft.com/office/officeart/2005/8/layout/list1#1"/>
    <dgm:cxn modelId="{EF907B9A-BD6D-42B1-8C07-348E9860717F}" type="presParOf" srcId="{2D237E27-DA44-48D2-ADE8-2606453E6A22}" destId="{937B630A-4F3B-4530-9F35-DE2BBF6C8364}" srcOrd="5" destOrd="0" presId="urn:microsoft.com/office/officeart/2005/8/layout/list1#1"/>
    <dgm:cxn modelId="{CC1D97A8-2D62-41BB-B836-830C989E871F}" type="presParOf" srcId="{2D237E27-DA44-48D2-ADE8-2606453E6A22}" destId="{FA007152-F84F-4B50-A0CF-218EFA96BFC9}" srcOrd="6" destOrd="0" presId="urn:microsoft.com/office/officeart/2005/8/layout/list1#1"/>
    <dgm:cxn modelId="{E5300371-23AF-43C7-A8B6-EB947DC36650}" type="presParOf" srcId="{2D237E27-DA44-48D2-ADE8-2606453E6A22}" destId="{0018212D-4154-4964-ACEE-28D6FD9D6A02}" srcOrd="7" destOrd="0" presId="urn:microsoft.com/office/officeart/2005/8/layout/list1#1"/>
    <dgm:cxn modelId="{294C98F2-4C4E-4A7E-850D-FB8B4C8DEBB0}" type="presParOf" srcId="{2D237E27-DA44-48D2-ADE8-2606453E6A22}" destId="{17CFE03F-76D9-40F4-A175-352DB01181B2}" srcOrd="8" destOrd="0" presId="urn:microsoft.com/office/officeart/2005/8/layout/list1#1"/>
    <dgm:cxn modelId="{6A4A4A19-E690-4D46-8DAF-996AE69FCA71}" type="presParOf" srcId="{17CFE03F-76D9-40F4-A175-352DB01181B2}" destId="{98A895D6-0443-42F4-9274-00818D9436BA}" srcOrd="0" destOrd="0" presId="urn:microsoft.com/office/officeart/2005/8/layout/list1#1"/>
    <dgm:cxn modelId="{42E65326-53F3-4FBF-B73D-DF6931BC09ED}" type="presParOf" srcId="{17CFE03F-76D9-40F4-A175-352DB01181B2}" destId="{5FEBBA41-4658-4269-8A39-F0D10B7996F8}" srcOrd="1" destOrd="0" presId="urn:microsoft.com/office/officeart/2005/8/layout/list1#1"/>
    <dgm:cxn modelId="{24C3ADB3-8187-43A1-9543-0A4DD23B6775}" type="presParOf" srcId="{2D237E27-DA44-48D2-ADE8-2606453E6A22}" destId="{14027663-9F9A-4F8D-9221-1A65D012A40C}" srcOrd="9" destOrd="0" presId="urn:microsoft.com/office/officeart/2005/8/layout/list1#1"/>
    <dgm:cxn modelId="{E66FE1F6-1F92-4379-A4A9-1DFF07678C7A}" type="presParOf" srcId="{2D237E27-DA44-48D2-ADE8-2606453E6A22}" destId="{B576F177-138D-4B29-A372-9C59BD3B1967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BEC9B1-EA57-F149-8C47-67A4D0E6B9ED}" type="doc">
      <dgm:prSet loTypeId="urn:microsoft.com/office/officeart/2005/8/layout/process5#1" loCatId="process" qsTypeId="urn:microsoft.com/office/officeart/2005/8/quickstyle/simple5#1" qsCatId="simple" csTypeId="urn:microsoft.com/office/officeart/2005/8/colors/accent1_2#4" csCatId="accent1" phldr="1"/>
      <dgm:spPr/>
      <dgm:t>
        <a:bodyPr/>
        <a:lstStyle/>
        <a:p>
          <a:endParaRPr lang="zh-CN" altLang="en-US"/>
        </a:p>
      </dgm:t>
    </dgm:pt>
    <dgm:pt modelId="{E709FC73-1EF5-6543-9599-F4AD75EC446C}">
      <dgm:prSet/>
      <dgm:spPr/>
      <dgm:t>
        <a:bodyPr/>
        <a:lstStyle/>
        <a:p>
          <a:r>
            <a:rPr lang="en-US" dirty="0"/>
            <a:t>Feature Analysis</a:t>
          </a:r>
          <a:endParaRPr lang="zh-CN" dirty="0"/>
        </a:p>
      </dgm:t>
    </dgm:pt>
    <dgm:pt modelId="{99EA96F7-8482-434E-9A90-9C83BD3ACAD9}" cxnId="{EEC074DE-28E4-C54F-BC6E-2FF5231E60A6}" type="parTrans">
      <dgm:prSet/>
      <dgm:spPr/>
      <dgm:t>
        <a:bodyPr/>
        <a:lstStyle/>
        <a:p>
          <a:endParaRPr lang="zh-CN" altLang="en-US"/>
        </a:p>
      </dgm:t>
    </dgm:pt>
    <dgm:pt modelId="{0674EE90-03AB-2D4D-923F-6633B119B0F6}" cxnId="{EEC074DE-28E4-C54F-BC6E-2FF5231E60A6}" type="sibTrans">
      <dgm:prSet/>
      <dgm:spPr/>
      <dgm:t>
        <a:bodyPr/>
        <a:lstStyle/>
        <a:p>
          <a:endParaRPr lang="zh-CN" altLang="en-US"/>
        </a:p>
      </dgm:t>
    </dgm:pt>
    <dgm:pt modelId="{2A11398B-8964-7640-A775-825ED888C91B}">
      <dgm:prSet/>
      <dgm:spPr/>
      <dgm:t>
        <a:bodyPr/>
        <a:lstStyle/>
        <a:p>
          <a:r>
            <a:rPr lang="en-US" dirty="0"/>
            <a:t>Coverage Model</a:t>
          </a:r>
          <a:endParaRPr lang="zh-CN" dirty="0"/>
        </a:p>
      </dgm:t>
    </dgm:pt>
    <dgm:pt modelId="{FF4363F0-8D1E-A14F-B4B9-1DE114E1B314}" cxnId="{1AC9872B-6FC3-874D-B30D-26FF95FBDF73}" type="parTrans">
      <dgm:prSet/>
      <dgm:spPr/>
      <dgm:t>
        <a:bodyPr/>
        <a:lstStyle/>
        <a:p>
          <a:endParaRPr lang="zh-CN" altLang="en-US"/>
        </a:p>
      </dgm:t>
    </dgm:pt>
    <dgm:pt modelId="{A24771AB-0D1F-AE4C-982A-F09AB0B6D360}" cxnId="{1AC9872B-6FC3-874D-B30D-26FF95FBDF73}" type="sibTrans">
      <dgm:prSet/>
      <dgm:spPr/>
      <dgm:t>
        <a:bodyPr/>
        <a:lstStyle/>
        <a:p>
          <a:endParaRPr lang="zh-CN" altLang="en-US"/>
        </a:p>
      </dgm:t>
    </dgm:pt>
    <dgm:pt modelId="{962ABF4C-E140-D244-BEF8-3AF677274620}">
      <dgm:prSet/>
      <dgm:spPr/>
      <dgm:t>
        <a:bodyPr/>
        <a:lstStyle/>
        <a:p>
          <a:r>
            <a:rPr lang="en-US" dirty="0"/>
            <a:t>Testbench Construction</a:t>
          </a:r>
          <a:endParaRPr lang="zh-CN" dirty="0"/>
        </a:p>
      </dgm:t>
    </dgm:pt>
    <dgm:pt modelId="{E9B95200-A675-FD41-A5B1-8DE01EB27356}" cxnId="{94CED374-A4FC-E54F-ABE1-31A0AAF19684}" type="parTrans">
      <dgm:prSet/>
      <dgm:spPr/>
      <dgm:t>
        <a:bodyPr/>
        <a:lstStyle/>
        <a:p>
          <a:endParaRPr lang="zh-CN" altLang="en-US"/>
        </a:p>
      </dgm:t>
    </dgm:pt>
    <dgm:pt modelId="{CB27891D-7AC7-234B-8A38-DCFD83B79E2E}" cxnId="{94CED374-A4FC-E54F-ABE1-31A0AAF19684}" type="sibTrans">
      <dgm:prSet/>
      <dgm:spPr/>
      <dgm:t>
        <a:bodyPr/>
        <a:lstStyle/>
        <a:p>
          <a:endParaRPr lang="zh-CN" altLang="en-US"/>
        </a:p>
      </dgm:t>
    </dgm:pt>
    <dgm:pt modelId="{F01F263A-1CFD-9844-B12B-BEED07A9130E}">
      <dgm:prSet custT="1"/>
      <dgm:spPr>
        <a:gradFill rotWithShape="0">
          <a:gsLst>
            <a:gs pos="0">
              <a:srgbClr val="573BAD"/>
            </a:gs>
            <a:gs pos="100000">
              <a:srgbClr val="A73AAD"/>
            </a:gs>
          </a:gsLst>
          <a:lin ang="27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0" tIns="57150" rIns="57150" bIns="5715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Simulation</a:t>
          </a:r>
          <a:endParaRPr lang="zh-CN" sz="1500" b="1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F31C7E44-D03B-D243-954B-49D18EDB2332}" cxnId="{5EDDFE4A-ED27-934E-ABF6-591D2FFC4FB8}" type="parTrans">
      <dgm:prSet/>
      <dgm:spPr/>
      <dgm:t>
        <a:bodyPr/>
        <a:lstStyle/>
        <a:p>
          <a:endParaRPr lang="zh-CN" altLang="en-US"/>
        </a:p>
      </dgm:t>
    </dgm:pt>
    <dgm:pt modelId="{41475939-A16D-FD4F-A9AD-3AA09CBBCB8E}" cxnId="{5EDDFE4A-ED27-934E-ABF6-591D2FFC4FB8}" type="sibTrans">
      <dgm:prSet/>
      <dgm:spPr/>
      <dgm:t>
        <a:bodyPr/>
        <a:lstStyle/>
        <a:p>
          <a:endParaRPr lang="zh-CN" altLang="en-US"/>
        </a:p>
      </dgm:t>
    </dgm:pt>
    <dgm:pt modelId="{B742C1AE-4D6F-7643-BD67-496BF2549800}">
      <dgm:prSet custT="1"/>
      <dgm:spPr>
        <a:gradFill rotWithShape="0">
          <a:gsLst>
            <a:gs pos="0">
              <a:srgbClr val="573BAD"/>
            </a:gs>
            <a:gs pos="100000">
              <a:srgbClr val="A73AAD"/>
            </a:gs>
          </a:gsLst>
          <a:lin ang="27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0" tIns="57150" rIns="57150" bIns="5715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Coverage / Bug Analysis</a:t>
          </a:r>
          <a:endParaRPr lang="zh-CN" sz="1500" b="1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38F14FFD-CAFB-DC42-9088-E31C88B5E012}" cxnId="{01A9917B-E097-5749-B921-51F4ED5CE93E}" type="parTrans">
      <dgm:prSet/>
      <dgm:spPr/>
      <dgm:t>
        <a:bodyPr/>
        <a:lstStyle/>
        <a:p>
          <a:endParaRPr lang="zh-CN" altLang="en-US"/>
        </a:p>
      </dgm:t>
    </dgm:pt>
    <dgm:pt modelId="{4186DC3C-D8F5-5E4D-993C-077BAA3C09BD}" cxnId="{01A9917B-E097-5749-B921-51F4ED5CE93E}" type="sibTrans">
      <dgm:prSet/>
      <dgm:spPr/>
      <dgm:t>
        <a:bodyPr/>
        <a:lstStyle/>
        <a:p>
          <a:endParaRPr lang="zh-CN" altLang="en-US"/>
        </a:p>
      </dgm:t>
    </dgm:pt>
    <dgm:pt modelId="{56847CA9-E321-D54E-9EB0-DC3814FB9E14}">
      <dgm:prSet/>
      <dgm:spPr/>
      <dgm:t>
        <a:bodyPr/>
        <a:lstStyle/>
        <a:p>
          <a:r>
            <a:rPr lang="en-US" altLang="zh-CN" dirty="0"/>
            <a:t>Spec</a:t>
          </a:r>
          <a:endParaRPr lang="zh-CN" altLang="en-US" dirty="0"/>
        </a:p>
      </dgm:t>
    </dgm:pt>
    <dgm:pt modelId="{171A93F7-2989-5443-A766-6D342FF1C8D2}" cxnId="{F70F4933-F0AF-A345-8067-9F6C49722BB1}" type="parTrans">
      <dgm:prSet/>
      <dgm:spPr/>
      <dgm:t>
        <a:bodyPr/>
        <a:lstStyle/>
        <a:p>
          <a:endParaRPr lang="zh-CN" altLang="en-US"/>
        </a:p>
      </dgm:t>
    </dgm:pt>
    <dgm:pt modelId="{02204C17-717F-ED42-9B01-A045BD151ABC}" cxnId="{F70F4933-F0AF-A345-8067-9F6C49722BB1}" type="sibTrans">
      <dgm:prSet/>
      <dgm:spPr/>
      <dgm:t>
        <a:bodyPr/>
        <a:lstStyle/>
        <a:p>
          <a:endParaRPr lang="zh-CN" altLang="en-US"/>
        </a:p>
      </dgm:t>
    </dgm:pt>
    <dgm:pt modelId="{DF99D802-8275-1643-9785-EDEE06DE61A0}">
      <dgm:prSet custT="1"/>
      <dgm:spPr>
        <a:gradFill rotWithShape="0">
          <a:gsLst>
            <a:gs pos="0">
              <a:srgbClr val="573BAD"/>
            </a:gs>
            <a:gs pos="100000">
              <a:srgbClr val="A73AAD"/>
            </a:gs>
          </a:gsLst>
          <a:lin ang="27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57150" tIns="57150" rIns="57150" bIns="57150" numCol="1" spcCol="1270" anchor="ctr" anchorCtr="0"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b="1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Reports</a:t>
          </a:r>
          <a:endParaRPr lang="zh-CN" altLang="en-US" sz="1500" b="1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FCE4929B-D667-394A-9751-44DF3A2AF535}" cxnId="{54C0D5B9-BF8F-364E-9814-826AC8063A8C}" type="parTrans">
      <dgm:prSet/>
      <dgm:spPr/>
      <dgm:t>
        <a:bodyPr/>
        <a:lstStyle/>
        <a:p>
          <a:endParaRPr lang="zh-CN" altLang="en-US"/>
        </a:p>
      </dgm:t>
    </dgm:pt>
    <dgm:pt modelId="{515C78B4-6D7F-D441-9851-07C26681CBE5}" cxnId="{54C0D5B9-BF8F-364E-9814-826AC8063A8C}" type="sibTrans">
      <dgm:prSet/>
      <dgm:spPr/>
      <dgm:t>
        <a:bodyPr/>
        <a:lstStyle/>
        <a:p>
          <a:endParaRPr lang="zh-CN" altLang="en-US"/>
        </a:p>
      </dgm:t>
    </dgm:pt>
    <dgm:pt modelId="{A384E4FB-3D8B-9B42-8060-8A5D723949C5}">
      <dgm:prSet/>
      <dgm:spPr>
        <a:gradFill rotWithShape="0">
          <a:gsLst>
            <a:gs pos="0">
              <a:srgbClr val="573BAD"/>
            </a:gs>
            <a:gs pos="100000">
              <a:srgbClr val="A73AAD"/>
            </a:gs>
          </a:gsLst>
        </a:gradFill>
      </dgm:spPr>
      <dgm:t>
        <a:bodyPr/>
        <a:lstStyle/>
        <a:p>
          <a:r>
            <a:rPr lang="en-US" b="1" dirty="0">
              <a:solidFill>
                <a:schemeClr val="bg1"/>
              </a:solidFill>
            </a:rPr>
            <a:t>Testcases Generation</a:t>
          </a:r>
          <a:endParaRPr lang="zh-CN" b="1" dirty="0">
            <a:solidFill>
              <a:schemeClr val="bg1"/>
            </a:solidFill>
          </a:endParaRPr>
        </a:p>
      </dgm:t>
    </dgm:pt>
    <dgm:pt modelId="{49488CCC-BBFA-E84B-A7A8-4C2450EE92D2}" cxnId="{BC2157D2-C99C-A144-942D-23C25D24029B}" type="parTrans">
      <dgm:prSet/>
      <dgm:spPr/>
      <dgm:t>
        <a:bodyPr/>
        <a:lstStyle/>
        <a:p>
          <a:endParaRPr lang="zh-CN" altLang="en-US"/>
        </a:p>
      </dgm:t>
    </dgm:pt>
    <dgm:pt modelId="{1BC69940-4495-9E43-BEB8-7746F21346CD}" cxnId="{BC2157D2-C99C-A144-942D-23C25D24029B}" type="sibTrans">
      <dgm:prSet/>
      <dgm:spPr/>
      <dgm:t>
        <a:bodyPr/>
        <a:lstStyle/>
        <a:p>
          <a:endParaRPr lang="zh-CN" altLang="en-US"/>
        </a:p>
      </dgm:t>
    </dgm:pt>
    <dgm:pt modelId="{C485FE82-882F-D642-B16D-43E0F4375F12}" type="pres">
      <dgm:prSet presAssocID="{D8BEC9B1-EA57-F149-8C47-67A4D0E6B9ED}" presName="diagram" presStyleCnt="0">
        <dgm:presLayoutVars>
          <dgm:dir/>
          <dgm:resizeHandles val="exact"/>
        </dgm:presLayoutVars>
      </dgm:prSet>
      <dgm:spPr/>
    </dgm:pt>
    <dgm:pt modelId="{0F5DA0EE-DF51-A048-A984-781399218E05}" type="pres">
      <dgm:prSet presAssocID="{56847CA9-E321-D54E-9EB0-DC3814FB9E14}" presName="node" presStyleLbl="node1" presStyleIdx="0" presStyleCnt="8">
        <dgm:presLayoutVars>
          <dgm:bulletEnabled val="1"/>
        </dgm:presLayoutVars>
      </dgm:prSet>
      <dgm:spPr/>
    </dgm:pt>
    <dgm:pt modelId="{FFDAF99B-B4F9-9D49-92B8-C7AFEC35E3BC}" type="pres">
      <dgm:prSet presAssocID="{02204C17-717F-ED42-9B01-A045BD151ABC}" presName="sibTrans" presStyleLbl="sibTrans2D1" presStyleIdx="0" presStyleCnt="7"/>
      <dgm:spPr/>
    </dgm:pt>
    <dgm:pt modelId="{79EB0AB1-1478-9948-97AC-82D742E0CE23}" type="pres">
      <dgm:prSet presAssocID="{02204C17-717F-ED42-9B01-A045BD151ABC}" presName="connectorText" presStyleLbl="sibTrans2D1" presStyleIdx="0" presStyleCnt="7"/>
      <dgm:spPr/>
    </dgm:pt>
    <dgm:pt modelId="{777ACD26-F6E8-D844-9FBE-DE632238BA2D}" type="pres">
      <dgm:prSet presAssocID="{E709FC73-1EF5-6543-9599-F4AD75EC446C}" presName="node" presStyleLbl="node1" presStyleIdx="1" presStyleCnt="8">
        <dgm:presLayoutVars>
          <dgm:bulletEnabled val="1"/>
        </dgm:presLayoutVars>
      </dgm:prSet>
      <dgm:spPr/>
    </dgm:pt>
    <dgm:pt modelId="{8BE8263F-4166-794D-BEE1-28864CFE807A}" type="pres">
      <dgm:prSet presAssocID="{0674EE90-03AB-2D4D-923F-6633B119B0F6}" presName="sibTrans" presStyleLbl="sibTrans2D1" presStyleIdx="1" presStyleCnt="7"/>
      <dgm:spPr/>
    </dgm:pt>
    <dgm:pt modelId="{A89FD858-E445-7E4D-BA8F-1F300CBCE637}" type="pres">
      <dgm:prSet presAssocID="{0674EE90-03AB-2D4D-923F-6633B119B0F6}" presName="connectorText" presStyleLbl="sibTrans2D1" presStyleIdx="1" presStyleCnt="7"/>
      <dgm:spPr/>
    </dgm:pt>
    <dgm:pt modelId="{69AA8A71-FA96-B14D-8AA4-182890FD1E37}" type="pres">
      <dgm:prSet presAssocID="{2A11398B-8964-7640-A775-825ED888C91B}" presName="node" presStyleLbl="node1" presStyleIdx="2" presStyleCnt="8">
        <dgm:presLayoutVars>
          <dgm:bulletEnabled val="1"/>
        </dgm:presLayoutVars>
      </dgm:prSet>
      <dgm:spPr/>
    </dgm:pt>
    <dgm:pt modelId="{E1C775A6-020D-5146-886C-CA396865796A}" type="pres">
      <dgm:prSet presAssocID="{A24771AB-0D1F-AE4C-982A-F09AB0B6D360}" presName="sibTrans" presStyleLbl="sibTrans2D1" presStyleIdx="2" presStyleCnt="7"/>
      <dgm:spPr/>
    </dgm:pt>
    <dgm:pt modelId="{AFE0DE2A-BEF3-7B4C-B9AB-B6678C7ACE78}" type="pres">
      <dgm:prSet presAssocID="{A24771AB-0D1F-AE4C-982A-F09AB0B6D360}" presName="connectorText" presStyleLbl="sibTrans2D1" presStyleIdx="2" presStyleCnt="7"/>
      <dgm:spPr/>
    </dgm:pt>
    <dgm:pt modelId="{27F701CC-19E3-F24E-9CA0-369D2A8E5DC3}" type="pres">
      <dgm:prSet presAssocID="{962ABF4C-E140-D244-BEF8-3AF677274620}" presName="node" presStyleLbl="node1" presStyleIdx="3" presStyleCnt="8">
        <dgm:presLayoutVars>
          <dgm:bulletEnabled val="1"/>
        </dgm:presLayoutVars>
      </dgm:prSet>
      <dgm:spPr/>
    </dgm:pt>
    <dgm:pt modelId="{DCF2ACA3-53D2-504F-A7F9-580F6E9DCE3F}" type="pres">
      <dgm:prSet presAssocID="{CB27891D-7AC7-234B-8A38-DCFD83B79E2E}" presName="sibTrans" presStyleLbl="sibTrans2D1" presStyleIdx="3" presStyleCnt="7"/>
      <dgm:spPr/>
    </dgm:pt>
    <dgm:pt modelId="{54D82171-D571-9C4A-B54D-9A207F8651D3}" type="pres">
      <dgm:prSet presAssocID="{CB27891D-7AC7-234B-8A38-DCFD83B79E2E}" presName="connectorText" presStyleLbl="sibTrans2D1" presStyleIdx="3" presStyleCnt="7"/>
      <dgm:spPr/>
    </dgm:pt>
    <dgm:pt modelId="{CC18458C-C1A0-3448-841D-B84C84E98754}" type="pres">
      <dgm:prSet presAssocID="{A384E4FB-3D8B-9B42-8060-8A5D723949C5}" presName="node" presStyleLbl="node1" presStyleIdx="4" presStyleCnt="8">
        <dgm:presLayoutVars>
          <dgm:bulletEnabled val="1"/>
        </dgm:presLayoutVars>
      </dgm:prSet>
      <dgm:spPr/>
    </dgm:pt>
    <dgm:pt modelId="{C23FA7E7-E9B7-1C43-8F39-838C0E0197AC}" type="pres">
      <dgm:prSet presAssocID="{1BC69940-4495-9E43-BEB8-7746F21346CD}" presName="sibTrans" presStyleLbl="sibTrans2D1" presStyleIdx="4" presStyleCnt="7"/>
      <dgm:spPr/>
    </dgm:pt>
    <dgm:pt modelId="{1EE07293-908D-0744-8FB1-27ED147A8275}" type="pres">
      <dgm:prSet presAssocID="{1BC69940-4495-9E43-BEB8-7746F21346CD}" presName="connectorText" presStyleLbl="sibTrans2D1" presStyleIdx="4" presStyleCnt="7"/>
      <dgm:spPr/>
    </dgm:pt>
    <dgm:pt modelId="{7DB857A3-5A2B-2943-A113-3B889CFAE067}" type="pres">
      <dgm:prSet presAssocID="{F01F263A-1CFD-9844-B12B-BEED07A9130E}" presName="node" presStyleLbl="node1" presStyleIdx="5" presStyleCnt="8">
        <dgm:presLayoutVars>
          <dgm:bulletEnabled val="1"/>
        </dgm:presLayoutVars>
      </dgm:prSet>
      <dgm:spPr>
        <a:xfrm>
          <a:off x="3379948" y="1754367"/>
          <a:ext cx="1206139" cy="723683"/>
        </a:xfrm>
        <a:prstGeom prst="roundRect">
          <a:avLst>
            <a:gd name="adj" fmla="val 10000"/>
          </a:avLst>
        </a:prstGeom>
      </dgm:spPr>
    </dgm:pt>
    <dgm:pt modelId="{8987AC1D-D730-EC4C-BB30-2842471B6808}" type="pres">
      <dgm:prSet presAssocID="{41475939-A16D-FD4F-A9AD-3AA09CBBCB8E}" presName="sibTrans" presStyleLbl="sibTrans2D1" presStyleIdx="5" presStyleCnt="7"/>
      <dgm:spPr/>
    </dgm:pt>
    <dgm:pt modelId="{065DB7B7-D854-3541-B3C9-AE03BCF0ADA9}" type="pres">
      <dgm:prSet presAssocID="{41475939-A16D-FD4F-A9AD-3AA09CBBCB8E}" presName="connectorText" presStyleLbl="sibTrans2D1" presStyleIdx="5" presStyleCnt="7"/>
      <dgm:spPr/>
    </dgm:pt>
    <dgm:pt modelId="{AD938448-AA9D-7543-BD46-FB7784D68426}" type="pres">
      <dgm:prSet presAssocID="{B742C1AE-4D6F-7643-BD67-496BF2549800}" presName="node" presStyleLbl="node1" presStyleIdx="6" presStyleCnt="8">
        <dgm:presLayoutVars>
          <dgm:bulletEnabled val="1"/>
        </dgm:presLayoutVars>
      </dgm:prSet>
      <dgm:spPr>
        <a:xfrm>
          <a:off x="1691353" y="1754367"/>
          <a:ext cx="1206139" cy="723683"/>
        </a:xfrm>
        <a:prstGeom prst="roundRect">
          <a:avLst>
            <a:gd name="adj" fmla="val 10000"/>
          </a:avLst>
        </a:prstGeom>
      </dgm:spPr>
    </dgm:pt>
    <dgm:pt modelId="{3AF3149E-C9EB-F84F-8A53-03C87D1A34AF}" type="pres">
      <dgm:prSet presAssocID="{4186DC3C-D8F5-5E4D-993C-077BAA3C09BD}" presName="sibTrans" presStyleLbl="sibTrans2D1" presStyleIdx="6" presStyleCnt="7"/>
      <dgm:spPr/>
    </dgm:pt>
    <dgm:pt modelId="{BB96093A-DA71-1D46-BC84-D11B70E99F99}" type="pres">
      <dgm:prSet presAssocID="{4186DC3C-D8F5-5E4D-993C-077BAA3C09BD}" presName="connectorText" presStyleLbl="sibTrans2D1" presStyleIdx="6" presStyleCnt="7"/>
      <dgm:spPr/>
    </dgm:pt>
    <dgm:pt modelId="{486A6D5F-A4BC-8345-9BBC-5B615B6A886D}" type="pres">
      <dgm:prSet presAssocID="{DF99D802-8275-1643-9785-EDEE06DE61A0}" presName="node" presStyleLbl="node1" presStyleIdx="7" presStyleCnt="8">
        <dgm:presLayoutVars>
          <dgm:bulletEnabled val="1"/>
        </dgm:presLayoutVars>
      </dgm:prSet>
      <dgm:spPr>
        <a:xfrm>
          <a:off x="2758" y="1754367"/>
          <a:ext cx="1206139" cy="723683"/>
        </a:xfrm>
        <a:prstGeom prst="roundRect">
          <a:avLst>
            <a:gd name="adj" fmla="val 10000"/>
          </a:avLst>
        </a:prstGeom>
      </dgm:spPr>
    </dgm:pt>
  </dgm:ptLst>
  <dgm:cxnLst>
    <dgm:cxn modelId="{8F29EF16-47D3-8E4F-9F26-61DC560456BA}" type="presOf" srcId="{0674EE90-03AB-2D4D-923F-6633B119B0F6}" destId="{A89FD858-E445-7E4D-BA8F-1F300CBCE637}" srcOrd="1" destOrd="0" presId="urn:microsoft.com/office/officeart/2005/8/layout/process5#1"/>
    <dgm:cxn modelId="{F5A0E01F-7FC3-B549-80F2-AD88A0BE84C0}" type="presOf" srcId="{56847CA9-E321-D54E-9EB0-DC3814FB9E14}" destId="{0F5DA0EE-DF51-A048-A984-781399218E05}" srcOrd="0" destOrd="0" presId="urn:microsoft.com/office/officeart/2005/8/layout/process5#1"/>
    <dgm:cxn modelId="{1AC9872B-6FC3-874D-B30D-26FF95FBDF73}" srcId="{D8BEC9B1-EA57-F149-8C47-67A4D0E6B9ED}" destId="{2A11398B-8964-7640-A775-825ED888C91B}" srcOrd="2" destOrd="0" parTransId="{FF4363F0-8D1E-A14F-B4B9-1DE114E1B314}" sibTransId="{A24771AB-0D1F-AE4C-982A-F09AB0B6D360}"/>
    <dgm:cxn modelId="{F70F4933-F0AF-A345-8067-9F6C49722BB1}" srcId="{D8BEC9B1-EA57-F149-8C47-67A4D0E6B9ED}" destId="{56847CA9-E321-D54E-9EB0-DC3814FB9E14}" srcOrd="0" destOrd="0" parTransId="{171A93F7-2989-5443-A766-6D342FF1C8D2}" sibTransId="{02204C17-717F-ED42-9B01-A045BD151ABC}"/>
    <dgm:cxn modelId="{7B0AA23C-73F5-E145-8C34-334FB5B1F9F1}" type="presOf" srcId="{E709FC73-1EF5-6543-9599-F4AD75EC446C}" destId="{777ACD26-F6E8-D844-9FBE-DE632238BA2D}" srcOrd="0" destOrd="0" presId="urn:microsoft.com/office/officeart/2005/8/layout/process5#1"/>
    <dgm:cxn modelId="{09E4EF3E-20AA-8B49-96AD-156F0F01ACD8}" type="presOf" srcId="{41475939-A16D-FD4F-A9AD-3AA09CBBCB8E}" destId="{8987AC1D-D730-EC4C-BB30-2842471B6808}" srcOrd="0" destOrd="0" presId="urn:microsoft.com/office/officeart/2005/8/layout/process5#1"/>
    <dgm:cxn modelId="{CE7D8940-F0C0-B84F-B331-D30E8E76FE0C}" type="presOf" srcId="{F01F263A-1CFD-9844-B12B-BEED07A9130E}" destId="{7DB857A3-5A2B-2943-A113-3B889CFAE067}" srcOrd="0" destOrd="0" presId="urn:microsoft.com/office/officeart/2005/8/layout/process5#1"/>
    <dgm:cxn modelId="{AD01335E-9778-DD4B-AB69-C050EE2A4C86}" type="presOf" srcId="{962ABF4C-E140-D244-BEF8-3AF677274620}" destId="{27F701CC-19E3-F24E-9CA0-369D2A8E5DC3}" srcOrd="0" destOrd="0" presId="urn:microsoft.com/office/officeart/2005/8/layout/process5#1"/>
    <dgm:cxn modelId="{68CE6E62-BB10-F648-9035-3EEE1CEFBD56}" type="presOf" srcId="{2A11398B-8964-7640-A775-825ED888C91B}" destId="{69AA8A71-FA96-B14D-8AA4-182890FD1E37}" srcOrd="0" destOrd="0" presId="urn:microsoft.com/office/officeart/2005/8/layout/process5#1"/>
    <dgm:cxn modelId="{72218C45-AFDD-5941-A54C-136511BAD702}" type="presOf" srcId="{CB27891D-7AC7-234B-8A38-DCFD83B79E2E}" destId="{54D82171-D571-9C4A-B54D-9A207F8651D3}" srcOrd="1" destOrd="0" presId="urn:microsoft.com/office/officeart/2005/8/layout/process5#1"/>
    <dgm:cxn modelId="{62F78C46-28D7-DA42-A983-56D04E14895B}" type="presOf" srcId="{DF99D802-8275-1643-9785-EDEE06DE61A0}" destId="{486A6D5F-A4BC-8345-9BBC-5B615B6A886D}" srcOrd="0" destOrd="0" presId="urn:microsoft.com/office/officeart/2005/8/layout/process5#1"/>
    <dgm:cxn modelId="{5EDDFE4A-ED27-934E-ABF6-591D2FFC4FB8}" srcId="{D8BEC9B1-EA57-F149-8C47-67A4D0E6B9ED}" destId="{F01F263A-1CFD-9844-B12B-BEED07A9130E}" srcOrd="5" destOrd="0" parTransId="{F31C7E44-D03B-D243-954B-49D18EDB2332}" sibTransId="{41475939-A16D-FD4F-A9AD-3AA09CBBCB8E}"/>
    <dgm:cxn modelId="{8FB1EE4D-A2A2-154B-A596-A3502DA16AB2}" type="presOf" srcId="{1BC69940-4495-9E43-BEB8-7746F21346CD}" destId="{C23FA7E7-E9B7-1C43-8F39-838C0E0197AC}" srcOrd="0" destOrd="0" presId="urn:microsoft.com/office/officeart/2005/8/layout/process5#1"/>
    <dgm:cxn modelId="{8BE97F4F-D805-054E-B1D4-3E05BBB014A4}" type="presOf" srcId="{B742C1AE-4D6F-7643-BD67-496BF2549800}" destId="{AD938448-AA9D-7543-BD46-FB7784D68426}" srcOrd="0" destOrd="0" presId="urn:microsoft.com/office/officeart/2005/8/layout/process5#1"/>
    <dgm:cxn modelId="{01139550-0864-9342-B1AB-50342F1034A9}" type="presOf" srcId="{02204C17-717F-ED42-9B01-A045BD151ABC}" destId="{FFDAF99B-B4F9-9D49-92B8-C7AFEC35E3BC}" srcOrd="0" destOrd="0" presId="urn:microsoft.com/office/officeart/2005/8/layout/process5#1"/>
    <dgm:cxn modelId="{94CED374-A4FC-E54F-ABE1-31A0AAF19684}" srcId="{D8BEC9B1-EA57-F149-8C47-67A4D0E6B9ED}" destId="{962ABF4C-E140-D244-BEF8-3AF677274620}" srcOrd="3" destOrd="0" parTransId="{E9B95200-A675-FD41-A5B1-8DE01EB27356}" sibTransId="{CB27891D-7AC7-234B-8A38-DCFD83B79E2E}"/>
    <dgm:cxn modelId="{01280278-BC4E-EE49-8B4A-C743AC9BC6B3}" type="presOf" srcId="{CB27891D-7AC7-234B-8A38-DCFD83B79E2E}" destId="{DCF2ACA3-53D2-504F-A7F9-580F6E9DCE3F}" srcOrd="0" destOrd="0" presId="urn:microsoft.com/office/officeart/2005/8/layout/process5#1"/>
    <dgm:cxn modelId="{B8717F59-4CF7-9A45-AB6A-E98B52D78320}" type="presOf" srcId="{4186DC3C-D8F5-5E4D-993C-077BAA3C09BD}" destId="{BB96093A-DA71-1D46-BC84-D11B70E99F99}" srcOrd="1" destOrd="0" presId="urn:microsoft.com/office/officeart/2005/8/layout/process5#1"/>
    <dgm:cxn modelId="{01A9917B-E097-5749-B921-51F4ED5CE93E}" srcId="{D8BEC9B1-EA57-F149-8C47-67A4D0E6B9ED}" destId="{B742C1AE-4D6F-7643-BD67-496BF2549800}" srcOrd="6" destOrd="0" parTransId="{38F14FFD-CAFB-DC42-9088-E31C88B5E012}" sibTransId="{4186DC3C-D8F5-5E4D-993C-077BAA3C09BD}"/>
    <dgm:cxn modelId="{B7227D7C-18C3-7746-96F0-86C20A921FA1}" type="presOf" srcId="{A24771AB-0D1F-AE4C-982A-F09AB0B6D360}" destId="{AFE0DE2A-BEF3-7B4C-B9AB-B6678C7ACE78}" srcOrd="1" destOrd="0" presId="urn:microsoft.com/office/officeart/2005/8/layout/process5#1"/>
    <dgm:cxn modelId="{1BDAA07D-0213-424E-A762-99D208AF9540}" type="presOf" srcId="{1BC69940-4495-9E43-BEB8-7746F21346CD}" destId="{1EE07293-908D-0744-8FB1-27ED147A8275}" srcOrd="1" destOrd="0" presId="urn:microsoft.com/office/officeart/2005/8/layout/process5#1"/>
    <dgm:cxn modelId="{3889FB8B-1A74-284E-B511-FE9DA95EB420}" type="presOf" srcId="{D8BEC9B1-EA57-F149-8C47-67A4D0E6B9ED}" destId="{C485FE82-882F-D642-B16D-43E0F4375F12}" srcOrd="0" destOrd="0" presId="urn:microsoft.com/office/officeart/2005/8/layout/process5#1"/>
    <dgm:cxn modelId="{3F8DFEAF-7DC2-EA46-91CB-02349680FDD7}" type="presOf" srcId="{A384E4FB-3D8B-9B42-8060-8A5D723949C5}" destId="{CC18458C-C1A0-3448-841D-B84C84E98754}" srcOrd="0" destOrd="0" presId="urn:microsoft.com/office/officeart/2005/8/layout/process5#1"/>
    <dgm:cxn modelId="{6B4D71B6-3AD5-7B48-8800-9161A56CBD55}" type="presOf" srcId="{0674EE90-03AB-2D4D-923F-6633B119B0F6}" destId="{8BE8263F-4166-794D-BEE1-28864CFE807A}" srcOrd="0" destOrd="0" presId="urn:microsoft.com/office/officeart/2005/8/layout/process5#1"/>
    <dgm:cxn modelId="{54C0D5B9-BF8F-364E-9814-826AC8063A8C}" srcId="{D8BEC9B1-EA57-F149-8C47-67A4D0E6B9ED}" destId="{DF99D802-8275-1643-9785-EDEE06DE61A0}" srcOrd="7" destOrd="0" parTransId="{FCE4929B-D667-394A-9751-44DF3A2AF535}" sibTransId="{515C78B4-6D7F-D441-9851-07C26681CBE5}"/>
    <dgm:cxn modelId="{4A8542C1-AE9B-4F48-8364-90A6074C4513}" type="presOf" srcId="{4186DC3C-D8F5-5E4D-993C-077BAA3C09BD}" destId="{3AF3149E-C9EB-F84F-8A53-03C87D1A34AF}" srcOrd="0" destOrd="0" presId="urn:microsoft.com/office/officeart/2005/8/layout/process5#1"/>
    <dgm:cxn modelId="{BC2157D2-C99C-A144-942D-23C25D24029B}" srcId="{D8BEC9B1-EA57-F149-8C47-67A4D0E6B9ED}" destId="{A384E4FB-3D8B-9B42-8060-8A5D723949C5}" srcOrd="4" destOrd="0" parTransId="{49488CCC-BBFA-E84B-A7A8-4C2450EE92D2}" sibTransId="{1BC69940-4495-9E43-BEB8-7746F21346CD}"/>
    <dgm:cxn modelId="{5526E8D2-3041-B540-9F4C-C1935A3B8543}" type="presOf" srcId="{A24771AB-0D1F-AE4C-982A-F09AB0B6D360}" destId="{E1C775A6-020D-5146-886C-CA396865796A}" srcOrd="0" destOrd="0" presId="urn:microsoft.com/office/officeart/2005/8/layout/process5#1"/>
    <dgm:cxn modelId="{EEC074DE-28E4-C54F-BC6E-2FF5231E60A6}" srcId="{D8BEC9B1-EA57-F149-8C47-67A4D0E6B9ED}" destId="{E709FC73-1EF5-6543-9599-F4AD75EC446C}" srcOrd="1" destOrd="0" parTransId="{99EA96F7-8482-434E-9A90-9C83BD3ACAD9}" sibTransId="{0674EE90-03AB-2D4D-923F-6633B119B0F6}"/>
    <dgm:cxn modelId="{739C7AE4-DC4C-054F-AB7F-6EAECC84D9C5}" type="presOf" srcId="{02204C17-717F-ED42-9B01-A045BD151ABC}" destId="{79EB0AB1-1478-9948-97AC-82D742E0CE23}" srcOrd="1" destOrd="0" presId="urn:microsoft.com/office/officeart/2005/8/layout/process5#1"/>
    <dgm:cxn modelId="{0CE158EC-1FE6-5347-8119-9176A638AA9C}" type="presOf" srcId="{41475939-A16D-FD4F-A9AD-3AA09CBBCB8E}" destId="{065DB7B7-D854-3541-B3C9-AE03BCF0ADA9}" srcOrd="1" destOrd="0" presId="urn:microsoft.com/office/officeart/2005/8/layout/process5#1"/>
    <dgm:cxn modelId="{27ED9E22-EC3A-7944-9EF9-CCC93A1A4D37}" type="presParOf" srcId="{C485FE82-882F-D642-B16D-43E0F4375F12}" destId="{0F5DA0EE-DF51-A048-A984-781399218E05}" srcOrd="0" destOrd="0" presId="urn:microsoft.com/office/officeart/2005/8/layout/process5#1"/>
    <dgm:cxn modelId="{54A7170F-1B5C-C54A-85DD-2960CC104F78}" type="presParOf" srcId="{C485FE82-882F-D642-B16D-43E0F4375F12}" destId="{FFDAF99B-B4F9-9D49-92B8-C7AFEC35E3BC}" srcOrd="1" destOrd="0" presId="urn:microsoft.com/office/officeart/2005/8/layout/process5#1"/>
    <dgm:cxn modelId="{284C35D6-1947-6A4B-B4D4-04A708E5DFAD}" type="presParOf" srcId="{FFDAF99B-B4F9-9D49-92B8-C7AFEC35E3BC}" destId="{79EB0AB1-1478-9948-97AC-82D742E0CE23}" srcOrd="0" destOrd="0" presId="urn:microsoft.com/office/officeart/2005/8/layout/process5#1"/>
    <dgm:cxn modelId="{F4EEF6D4-AE18-604E-BBD7-734B2038EAB2}" type="presParOf" srcId="{C485FE82-882F-D642-B16D-43E0F4375F12}" destId="{777ACD26-F6E8-D844-9FBE-DE632238BA2D}" srcOrd="2" destOrd="0" presId="urn:microsoft.com/office/officeart/2005/8/layout/process5#1"/>
    <dgm:cxn modelId="{760FCC42-5401-6648-B05C-3DB159285073}" type="presParOf" srcId="{C485FE82-882F-D642-B16D-43E0F4375F12}" destId="{8BE8263F-4166-794D-BEE1-28864CFE807A}" srcOrd="3" destOrd="0" presId="urn:microsoft.com/office/officeart/2005/8/layout/process5#1"/>
    <dgm:cxn modelId="{84643EE3-A3E3-B948-8138-FCE843102A0E}" type="presParOf" srcId="{8BE8263F-4166-794D-BEE1-28864CFE807A}" destId="{A89FD858-E445-7E4D-BA8F-1F300CBCE637}" srcOrd="0" destOrd="0" presId="urn:microsoft.com/office/officeart/2005/8/layout/process5#1"/>
    <dgm:cxn modelId="{169606FE-5832-6646-9CBF-21B0A796BBF2}" type="presParOf" srcId="{C485FE82-882F-D642-B16D-43E0F4375F12}" destId="{69AA8A71-FA96-B14D-8AA4-182890FD1E37}" srcOrd="4" destOrd="0" presId="urn:microsoft.com/office/officeart/2005/8/layout/process5#1"/>
    <dgm:cxn modelId="{23BB7F53-F6FE-1544-BEB5-601B2BEC83EE}" type="presParOf" srcId="{C485FE82-882F-D642-B16D-43E0F4375F12}" destId="{E1C775A6-020D-5146-886C-CA396865796A}" srcOrd="5" destOrd="0" presId="urn:microsoft.com/office/officeart/2005/8/layout/process5#1"/>
    <dgm:cxn modelId="{587E895D-7121-FC4A-9C2F-EDB9A1D9B71C}" type="presParOf" srcId="{E1C775A6-020D-5146-886C-CA396865796A}" destId="{AFE0DE2A-BEF3-7B4C-B9AB-B6678C7ACE78}" srcOrd="0" destOrd="0" presId="urn:microsoft.com/office/officeart/2005/8/layout/process5#1"/>
    <dgm:cxn modelId="{F3261898-3A7F-234C-995F-7E36D795AA56}" type="presParOf" srcId="{C485FE82-882F-D642-B16D-43E0F4375F12}" destId="{27F701CC-19E3-F24E-9CA0-369D2A8E5DC3}" srcOrd="6" destOrd="0" presId="urn:microsoft.com/office/officeart/2005/8/layout/process5#1"/>
    <dgm:cxn modelId="{8FC1C8D7-8D68-3042-9BC3-B2D27AC84C2F}" type="presParOf" srcId="{C485FE82-882F-D642-B16D-43E0F4375F12}" destId="{DCF2ACA3-53D2-504F-A7F9-580F6E9DCE3F}" srcOrd="7" destOrd="0" presId="urn:microsoft.com/office/officeart/2005/8/layout/process5#1"/>
    <dgm:cxn modelId="{E20E199A-25E9-A145-AE66-2DB982553EAA}" type="presParOf" srcId="{DCF2ACA3-53D2-504F-A7F9-580F6E9DCE3F}" destId="{54D82171-D571-9C4A-B54D-9A207F8651D3}" srcOrd="0" destOrd="0" presId="urn:microsoft.com/office/officeart/2005/8/layout/process5#1"/>
    <dgm:cxn modelId="{73729997-1DD2-9944-B4E0-217A22553460}" type="presParOf" srcId="{C485FE82-882F-D642-B16D-43E0F4375F12}" destId="{CC18458C-C1A0-3448-841D-B84C84E98754}" srcOrd="8" destOrd="0" presId="urn:microsoft.com/office/officeart/2005/8/layout/process5#1"/>
    <dgm:cxn modelId="{1C11BED0-61CF-6941-B52F-2DDD7E89A2EE}" type="presParOf" srcId="{C485FE82-882F-D642-B16D-43E0F4375F12}" destId="{C23FA7E7-E9B7-1C43-8F39-838C0E0197AC}" srcOrd="9" destOrd="0" presId="urn:microsoft.com/office/officeart/2005/8/layout/process5#1"/>
    <dgm:cxn modelId="{CEDBB9D7-ACCB-2E45-96FE-F4A3929A9718}" type="presParOf" srcId="{C23FA7E7-E9B7-1C43-8F39-838C0E0197AC}" destId="{1EE07293-908D-0744-8FB1-27ED147A8275}" srcOrd="0" destOrd="0" presId="urn:microsoft.com/office/officeart/2005/8/layout/process5#1"/>
    <dgm:cxn modelId="{FC592C22-771D-BB49-9799-8FD57D6B618B}" type="presParOf" srcId="{C485FE82-882F-D642-B16D-43E0F4375F12}" destId="{7DB857A3-5A2B-2943-A113-3B889CFAE067}" srcOrd="10" destOrd="0" presId="urn:microsoft.com/office/officeart/2005/8/layout/process5#1"/>
    <dgm:cxn modelId="{9A46DAA7-D911-CA42-9EA4-2169D96701F7}" type="presParOf" srcId="{C485FE82-882F-D642-B16D-43E0F4375F12}" destId="{8987AC1D-D730-EC4C-BB30-2842471B6808}" srcOrd="11" destOrd="0" presId="urn:microsoft.com/office/officeart/2005/8/layout/process5#1"/>
    <dgm:cxn modelId="{4C1A1A41-F8E0-BD40-9020-0C1E099AAA7B}" type="presParOf" srcId="{8987AC1D-D730-EC4C-BB30-2842471B6808}" destId="{065DB7B7-D854-3541-B3C9-AE03BCF0ADA9}" srcOrd="0" destOrd="0" presId="urn:microsoft.com/office/officeart/2005/8/layout/process5#1"/>
    <dgm:cxn modelId="{3CD9D6BA-2EBA-0F42-88E6-89201FBC8C32}" type="presParOf" srcId="{C485FE82-882F-D642-B16D-43E0F4375F12}" destId="{AD938448-AA9D-7543-BD46-FB7784D68426}" srcOrd="12" destOrd="0" presId="urn:microsoft.com/office/officeart/2005/8/layout/process5#1"/>
    <dgm:cxn modelId="{61A0FFB7-BDAE-2345-AB18-F736DE1C43E8}" type="presParOf" srcId="{C485FE82-882F-D642-B16D-43E0F4375F12}" destId="{3AF3149E-C9EB-F84F-8A53-03C87D1A34AF}" srcOrd="13" destOrd="0" presId="urn:microsoft.com/office/officeart/2005/8/layout/process5#1"/>
    <dgm:cxn modelId="{A11EB6A1-1AC9-C949-B791-E2977DEE979A}" type="presParOf" srcId="{3AF3149E-C9EB-F84F-8A53-03C87D1A34AF}" destId="{BB96093A-DA71-1D46-BC84-D11B70E99F99}" srcOrd="0" destOrd="0" presId="urn:microsoft.com/office/officeart/2005/8/layout/process5#1"/>
    <dgm:cxn modelId="{0FE61F33-17FC-C445-9FE6-0A06F9897FB7}" type="presParOf" srcId="{C485FE82-882F-D642-B16D-43E0F4375F12}" destId="{486A6D5F-A4BC-8345-9BBC-5B615B6A886D}" srcOrd="14" destOrd="0" presId="urn:microsoft.com/office/officeart/2005/8/layout/process5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539731" cy="4351655"/>
        <a:chOff x="0" y="0"/>
        <a:chExt cx="10539731" cy="4351655"/>
      </a:xfrm>
    </dsp:grpSpPr>
    <dsp:sp modelId="{D18257BD-D13F-4E25-98F7-50371481C4E1}">
      <dsp:nvSpPr>
        <dsp:cNvPr id="3" name="圆角矩形 2"/>
        <dsp:cNvSpPr/>
      </dsp:nvSpPr>
      <dsp:spPr bwMode="white">
        <a:xfrm>
          <a:off x="0" y="0"/>
          <a:ext cx="8115593" cy="783298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95250" tIns="95250" rIns="95250" bIns="95250" anchor="ctr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端到端的验证智能体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 - UCAgent</a:t>
          </a:r>
          <a:endParaRPr lang="zh-CN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0"/>
        <a:ext cx="8115593" cy="783298"/>
      </dsp:txXfrm>
    </dsp:sp>
    <dsp:sp modelId="{7EA38912-4A90-4A07-B1CA-97125044A9A0}">
      <dsp:nvSpPr>
        <dsp:cNvPr id="4" name="圆角矩形 3"/>
        <dsp:cNvSpPr/>
      </dsp:nvSpPr>
      <dsp:spPr bwMode="white">
        <a:xfrm>
          <a:off x="606035" y="892089"/>
          <a:ext cx="8115593" cy="783298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95250" tIns="95250" rIns="95250" bIns="95250" anchor="ctr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UCAgent - </a:t>
          </a:r>
          <a:r>
            <a: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演示与</a:t>
          </a:r>
          <a:r>
            <a:rPr 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实操</a:t>
          </a:r>
          <a:r>
            <a:rPr lang="zh-CN" alt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（请预先准备 </a:t>
          </a:r>
          <a:r>
            <a:rPr lang="en-US" altLang="zh-CN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docker </a:t>
          </a:r>
          <a:r>
            <a:rPr lang="zh-CN" alt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环境）</a:t>
          </a:r>
          <a:endParaRPr lang="zh-CN" dirty="0">
            <a:solidFill>
              <a:srgbClr val="FFFF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6035" y="892089"/>
        <a:ext cx="8115593" cy="783298"/>
      </dsp:txXfrm>
    </dsp:sp>
    <dsp:sp modelId="{A6642BB9-B1C4-4501-B275-811013463141}">
      <dsp:nvSpPr>
        <dsp:cNvPr id="5" name="圆角矩形 4"/>
        <dsp:cNvSpPr/>
      </dsp:nvSpPr>
      <dsp:spPr bwMode="white">
        <a:xfrm>
          <a:off x="1212069" y="1784179"/>
          <a:ext cx="8115593" cy="783298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95250" tIns="95250" rIns="95250" bIns="95250" anchor="ctr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UCAgent </a:t>
          </a:r>
          <a:r>
            <a:rPr lang="en-US" b="1" dirty="0"/>
            <a:t>-</a:t>
          </a:r>
          <a:r>
            <a: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香山实践</a:t>
          </a:r>
        </a:p>
      </dsp:txBody>
      <dsp:txXfrm>
        <a:off x="1212069" y="1784179"/>
        <a:ext cx="8115593" cy="783298"/>
      </dsp:txXfrm>
    </dsp:sp>
    <dsp:sp modelId="{C49258F9-264A-4C64-B460-ABD03F9196F1}">
      <dsp:nvSpPr>
        <dsp:cNvPr id="6" name="圆角矩形 5"/>
        <dsp:cNvSpPr/>
      </dsp:nvSpPr>
      <dsp:spPr bwMode="white">
        <a:xfrm>
          <a:off x="1818104" y="2676268"/>
          <a:ext cx="8115593" cy="783298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95250" tIns="95250" rIns="95250" bIns="95250" anchor="ctr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rPr>
            <a:t>UCAgent – </a:t>
          </a:r>
          <a:r>
            <a: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开发计划</a:t>
          </a:r>
        </a:p>
      </dsp:txBody>
      <dsp:txXfrm>
        <a:off x="1818104" y="2676268"/>
        <a:ext cx="8115593" cy="783298"/>
      </dsp:txXfrm>
    </dsp:sp>
    <dsp:sp modelId="{6ED2C72B-F3CA-4458-AA2B-C37264D6D011}">
      <dsp:nvSpPr>
        <dsp:cNvPr id="7" name="圆角矩形 6"/>
        <dsp:cNvSpPr/>
      </dsp:nvSpPr>
      <dsp:spPr bwMode="white">
        <a:xfrm>
          <a:off x="2424138" y="3568357"/>
          <a:ext cx="8115593" cy="783298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95250" tIns="95250" rIns="95250" bIns="95250" anchor="ctr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dirty="0"/>
            <a:t>问答与讨论</a:t>
          </a:r>
          <a:endParaRPr lang="zh-CN" dirty="0"/>
        </a:p>
      </dsp:txBody>
      <dsp:txXfrm>
        <a:off x="2424138" y="3568357"/>
        <a:ext cx="8115593" cy="783298"/>
      </dsp:txXfrm>
    </dsp:sp>
    <dsp:sp modelId="{E6A839A3-1284-4251-901D-D7DE71C743C1}">
      <dsp:nvSpPr>
        <dsp:cNvPr id="8" name="下箭头 7"/>
        <dsp:cNvSpPr/>
      </dsp:nvSpPr>
      <dsp:spPr bwMode="white">
        <a:xfrm>
          <a:off x="7606449" y="572243"/>
          <a:ext cx="509144" cy="509144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6670" tIns="26670" rIns="26670" bIns="2667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7606449" y="572243"/>
        <a:ext cx="509144" cy="509144"/>
      </dsp:txXfrm>
    </dsp:sp>
    <dsp:sp modelId="{865F153D-AEA5-43FC-9D82-DEEC76891F7A}">
      <dsp:nvSpPr>
        <dsp:cNvPr id="9" name="下箭头 8"/>
        <dsp:cNvSpPr/>
      </dsp:nvSpPr>
      <dsp:spPr bwMode="white">
        <a:xfrm>
          <a:off x="8212484" y="1464332"/>
          <a:ext cx="509144" cy="509144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6670" tIns="26670" rIns="26670" bIns="2667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8212484" y="1464332"/>
        <a:ext cx="509144" cy="509144"/>
      </dsp:txXfrm>
    </dsp:sp>
    <dsp:sp modelId="{98EB6395-0FCA-4361-B69C-1BAE32AF018A}">
      <dsp:nvSpPr>
        <dsp:cNvPr id="10" name="下箭头 9"/>
        <dsp:cNvSpPr/>
      </dsp:nvSpPr>
      <dsp:spPr bwMode="white">
        <a:xfrm>
          <a:off x="8818518" y="2343366"/>
          <a:ext cx="509144" cy="509144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6670" tIns="26670" rIns="26670" bIns="2667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8818518" y="2343366"/>
        <a:ext cx="509144" cy="509144"/>
      </dsp:txXfrm>
    </dsp:sp>
    <dsp:sp modelId="{E5552DAC-2BA3-486E-8698-0E2DF68E6B85}">
      <dsp:nvSpPr>
        <dsp:cNvPr id="11" name="下箭头 10"/>
        <dsp:cNvSpPr/>
      </dsp:nvSpPr>
      <dsp:spPr bwMode="white">
        <a:xfrm>
          <a:off x="9424553" y="3244159"/>
          <a:ext cx="509144" cy="509144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6670" tIns="26670" rIns="26670" bIns="26670" anchor="ctr"/>
        <a:lstStyle>
          <a:lvl1pPr algn="ctr">
            <a:defRPr sz="21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dk1"/>
            </a:solidFill>
          </a:endParaRPr>
        </a:p>
      </dsp:txBody>
      <dsp:txXfrm>
        <a:off x="9424553" y="3244159"/>
        <a:ext cx="509144" cy="509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443742" cy="5117805"/>
        <a:chOff x="0" y="0"/>
        <a:chExt cx="10443742" cy="5117805"/>
      </a:xfrm>
    </dsp:grpSpPr>
    <dsp:sp modelId="{D090D559-CA2F-42FA-8FF9-08FB89147D7A}">
      <dsp:nvSpPr>
        <dsp:cNvPr id="5" name="矩形 4"/>
        <dsp:cNvSpPr/>
      </dsp:nvSpPr>
      <dsp:spPr bwMode="white">
        <a:xfrm>
          <a:off x="0" y="1395562"/>
          <a:ext cx="10443742" cy="579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0550" tIns="479044" rIns="810550" bIns="163576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dirty="0">
            <a:solidFill>
              <a:schemeClr val="dk1"/>
            </a:solidFill>
          </a:endParaRPr>
        </a:p>
      </dsp:txBody>
      <dsp:txXfrm>
        <a:off x="0" y="1395562"/>
        <a:ext cx="10443742" cy="579600"/>
      </dsp:txXfrm>
    </dsp:sp>
    <dsp:sp modelId="{0E2CE27D-D112-48B7-980E-8ED9DCA2ED30}">
      <dsp:nvSpPr>
        <dsp:cNvPr id="4" name="圆角矩形 3"/>
        <dsp:cNvSpPr/>
      </dsp:nvSpPr>
      <dsp:spPr bwMode="white">
        <a:xfrm>
          <a:off x="522187" y="1056082"/>
          <a:ext cx="7310619" cy="6789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6324" tIns="0" rIns="276324" bIns="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zh-CN" b="1" dirty="0"/>
            <a:t>挑战</a:t>
          </a:r>
          <a:r>
            <a:rPr kumimoji="1" lang="en-US" b="1" dirty="0"/>
            <a:t>1</a:t>
          </a:r>
          <a:r>
            <a:rPr kumimoji="1" lang="zh-CN" b="1" dirty="0"/>
            <a:t>：</a:t>
          </a:r>
          <a:r>
            <a:rPr kumimoji="1" lang="en-US" b="1" dirty="0"/>
            <a:t>LLM </a:t>
          </a:r>
          <a:r>
            <a:rPr kumimoji="1" lang="zh-CN" b="1" dirty="0"/>
            <a:t>生成 </a:t>
          </a:r>
          <a:r>
            <a:rPr kumimoji="1" lang="en-US" b="1" dirty="0"/>
            <a:t>Verilog/System Verilog </a:t>
          </a:r>
          <a:r>
            <a:rPr kumimoji="1" lang="zh-CN" b="1" dirty="0"/>
            <a:t>准确率不</a:t>
          </a:r>
          <a:r>
            <a:rPr kumimoji="1" lang="zh-CN" altLang="en-US" b="1" dirty="0"/>
            <a:t>高</a:t>
          </a:r>
          <a:endParaRPr lang="zh-CN" dirty="0"/>
        </a:p>
      </dsp:txBody>
      <dsp:txXfrm>
        <a:off x="522187" y="1056082"/>
        <a:ext cx="7310619" cy="678960"/>
      </dsp:txXfrm>
    </dsp:sp>
    <dsp:sp modelId="{FA007152-F84F-4B50-A0CF-218EFA96BFC9}">
      <dsp:nvSpPr>
        <dsp:cNvPr id="8" name="矩形 7"/>
        <dsp:cNvSpPr/>
      </dsp:nvSpPr>
      <dsp:spPr bwMode="white">
        <a:xfrm>
          <a:off x="0" y="2438843"/>
          <a:ext cx="10443742" cy="579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0550" tIns="479044" rIns="810550" bIns="163576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438843"/>
        <a:ext cx="10443742" cy="579600"/>
      </dsp:txXfrm>
    </dsp:sp>
    <dsp:sp modelId="{BF0D6872-A07A-4D85-9DBC-3FD384AE38BE}">
      <dsp:nvSpPr>
        <dsp:cNvPr id="7" name="圆角矩形 6"/>
        <dsp:cNvSpPr/>
      </dsp:nvSpPr>
      <dsp:spPr bwMode="white">
        <a:xfrm>
          <a:off x="522187" y="2099362"/>
          <a:ext cx="7310619" cy="6789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6324" tIns="0" rIns="276324" bIns="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zh-CN" b="1"/>
            <a:t>挑战</a:t>
          </a:r>
          <a:r>
            <a:rPr kumimoji="1" lang="en-US" b="1"/>
            <a:t>2</a:t>
          </a:r>
          <a:r>
            <a:rPr kumimoji="1" lang="zh-CN" b="1"/>
            <a:t>： </a:t>
          </a:r>
          <a:r>
            <a:rPr kumimoji="1" lang="en-US" b="1"/>
            <a:t>LLM </a:t>
          </a:r>
          <a:r>
            <a:rPr lang="zh-CN" b="1"/>
            <a:t>难以完成复杂的端到端验证任务</a:t>
          </a:r>
          <a:endParaRPr lang="zh-CN"/>
        </a:p>
      </dsp:txBody>
      <dsp:txXfrm>
        <a:off x="522187" y="2099362"/>
        <a:ext cx="7310619" cy="678960"/>
      </dsp:txXfrm>
    </dsp:sp>
    <dsp:sp modelId="{B576F177-138D-4B29-A372-9C59BD3B1967}">
      <dsp:nvSpPr>
        <dsp:cNvPr id="11" name="矩形 10"/>
        <dsp:cNvSpPr/>
      </dsp:nvSpPr>
      <dsp:spPr bwMode="white">
        <a:xfrm>
          <a:off x="0" y="3482122"/>
          <a:ext cx="10443742" cy="5796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0550" tIns="479044" rIns="810550" bIns="163576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482122"/>
        <a:ext cx="10443742" cy="579600"/>
      </dsp:txXfrm>
    </dsp:sp>
    <dsp:sp modelId="{5FEBBA41-4658-4269-8A39-F0D10B7996F8}">
      <dsp:nvSpPr>
        <dsp:cNvPr id="10" name="圆角矩形 9"/>
        <dsp:cNvSpPr/>
      </dsp:nvSpPr>
      <dsp:spPr bwMode="white">
        <a:xfrm>
          <a:off x="522187" y="3142643"/>
          <a:ext cx="7310619" cy="67896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6324" tIns="0" rIns="276324" bIns="0" anchor="ctr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zh-CN" b="1"/>
            <a:t>挑战</a:t>
          </a:r>
          <a:r>
            <a:rPr kumimoji="1" lang="en-US" b="1"/>
            <a:t>3</a:t>
          </a:r>
          <a:r>
            <a:rPr kumimoji="1" lang="zh-CN" b="1"/>
            <a:t>： </a:t>
          </a:r>
          <a:r>
            <a:rPr kumimoji="1" lang="en-US" b="1"/>
            <a:t>LLM </a:t>
          </a:r>
          <a:r>
            <a:rPr lang="zh-CN" b="1"/>
            <a:t>难以保持验证全程的一致性</a:t>
          </a:r>
          <a:endParaRPr lang="zh-CN"/>
        </a:p>
      </dsp:txBody>
      <dsp:txXfrm>
        <a:off x="522187" y="3142643"/>
        <a:ext cx="7310619" cy="678960"/>
      </dsp:txXfrm>
    </dsp:sp>
    <dsp:sp modelId="{063B37FA-1EB0-4837-B63E-4B56A89536B0}">
      <dsp:nvSpPr>
        <dsp:cNvPr id="3" name="矩形 2" hidden="1"/>
        <dsp:cNvSpPr/>
      </dsp:nvSpPr>
      <dsp:spPr>
        <a:xfrm>
          <a:off x="0" y="1056082"/>
          <a:ext cx="522187" cy="678960"/>
        </a:xfrm>
        <a:prstGeom prst="rect">
          <a:avLst/>
        </a:prstGeom>
      </dsp:spPr>
      <dsp:txXfrm>
        <a:off x="0" y="1056082"/>
        <a:ext cx="522187" cy="678960"/>
      </dsp:txXfrm>
    </dsp:sp>
    <dsp:sp modelId="{9EBCF039-32BC-47D2-82AA-5320049F669E}">
      <dsp:nvSpPr>
        <dsp:cNvPr id="6" name="矩形 5" hidden="1"/>
        <dsp:cNvSpPr/>
      </dsp:nvSpPr>
      <dsp:spPr>
        <a:xfrm>
          <a:off x="0" y="2099362"/>
          <a:ext cx="522187" cy="678960"/>
        </a:xfrm>
        <a:prstGeom prst="rect">
          <a:avLst/>
        </a:prstGeom>
      </dsp:spPr>
      <dsp:txXfrm>
        <a:off x="0" y="2099362"/>
        <a:ext cx="522187" cy="678960"/>
      </dsp:txXfrm>
    </dsp:sp>
    <dsp:sp modelId="{98A895D6-0443-42F4-9274-00818D9436BA}">
      <dsp:nvSpPr>
        <dsp:cNvPr id="9" name="矩形 8" hidden="1"/>
        <dsp:cNvSpPr/>
      </dsp:nvSpPr>
      <dsp:spPr>
        <a:xfrm>
          <a:off x="0" y="3142643"/>
          <a:ext cx="522187" cy="678960"/>
        </a:xfrm>
        <a:prstGeom prst="rect">
          <a:avLst/>
        </a:prstGeom>
      </dsp:spPr>
      <dsp:txXfrm>
        <a:off x="0" y="3142643"/>
        <a:ext cx="522187" cy="6789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001699" cy="4768210"/>
        <a:chOff x="0" y="0"/>
        <a:chExt cx="5001699" cy="4768210"/>
      </a:xfrm>
    </dsp:grpSpPr>
    <dsp:sp modelId="{0F5DA0EE-DF51-A048-A984-781399218E05}">
      <dsp:nvSpPr>
        <dsp:cNvPr id="3" name="圆角矩形 2"/>
        <dsp:cNvSpPr/>
      </dsp:nvSpPr>
      <dsp:spPr bwMode="white">
        <a:xfrm>
          <a:off x="912419" y="-738"/>
          <a:ext cx="1326134" cy="795680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/>
            <a:t>Spec</a:t>
          </a:r>
          <a:endParaRPr lang="zh-CN" altLang="en-US" dirty="0"/>
        </a:p>
      </dsp:txBody>
      <dsp:txXfrm>
        <a:off x="912419" y="-738"/>
        <a:ext cx="1326134" cy="795680"/>
      </dsp:txXfrm>
    </dsp:sp>
    <dsp:sp modelId="{FFDAF99B-B4F9-9D49-92B8-C7AFEC35E3BC}">
      <dsp:nvSpPr>
        <dsp:cNvPr id="4" name="右箭头 3"/>
        <dsp:cNvSpPr/>
      </dsp:nvSpPr>
      <dsp:spPr bwMode="white">
        <a:xfrm>
          <a:off x="2363210" y="232661"/>
          <a:ext cx="281140" cy="32888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363210" y="232661"/>
        <a:ext cx="281140" cy="328881"/>
      </dsp:txXfrm>
    </dsp:sp>
    <dsp:sp modelId="{777ACD26-F6E8-D844-9FBE-DE632238BA2D}">
      <dsp:nvSpPr>
        <dsp:cNvPr id="5" name="圆角矩形 4"/>
        <dsp:cNvSpPr/>
      </dsp:nvSpPr>
      <dsp:spPr bwMode="white">
        <a:xfrm>
          <a:off x="2769007" y="-738"/>
          <a:ext cx="1326134" cy="795680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Feature Analysis</a:t>
          </a:r>
          <a:endParaRPr lang="zh-CN" dirty="0"/>
        </a:p>
      </dsp:txBody>
      <dsp:txXfrm>
        <a:off x="2769007" y="-738"/>
        <a:ext cx="1326134" cy="795680"/>
      </dsp:txXfrm>
    </dsp:sp>
    <dsp:sp modelId="{8BE8263F-4166-794D-BEE1-28864CFE807A}">
      <dsp:nvSpPr>
        <dsp:cNvPr id="6" name="右箭头 5"/>
        <dsp:cNvSpPr/>
      </dsp:nvSpPr>
      <dsp:spPr bwMode="white">
        <a:xfrm rot="5415211">
          <a:off x="3288960" y="894996"/>
          <a:ext cx="280367" cy="32888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415211">
        <a:off x="3288960" y="894996"/>
        <a:ext cx="280367" cy="328881"/>
      </dsp:txXfrm>
    </dsp:sp>
    <dsp:sp modelId="{69AA8A71-FA96-B14D-8AA4-182890FD1E37}">
      <dsp:nvSpPr>
        <dsp:cNvPr id="7" name="圆角矩形 6"/>
        <dsp:cNvSpPr/>
      </dsp:nvSpPr>
      <dsp:spPr bwMode="white">
        <a:xfrm>
          <a:off x="2763146" y="1323930"/>
          <a:ext cx="1326134" cy="795680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Coverage Model</a:t>
          </a:r>
          <a:endParaRPr lang="zh-CN" dirty="0"/>
        </a:p>
      </dsp:txBody>
      <dsp:txXfrm>
        <a:off x="2763146" y="1323930"/>
        <a:ext cx="1326134" cy="795680"/>
      </dsp:txXfrm>
    </dsp:sp>
    <dsp:sp modelId="{E1C775A6-020D-5146-886C-CA396865796A}">
      <dsp:nvSpPr>
        <dsp:cNvPr id="8" name="右箭头 7"/>
        <dsp:cNvSpPr/>
      </dsp:nvSpPr>
      <dsp:spPr bwMode="white">
        <a:xfrm rot="10800000">
          <a:off x="2357349" y="1557330"/>
          <a:ext cx="281140" cy="32888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0800000">
        <a:off x="2357349" y="1557330"/>
        <a:ext cx="281140" cy="328881"/>
      </dsp:txXfrm>
    </dsp:sp>
    <dsp:sp modelId="{27F701CC-19E3-F24E-9CA0-369D2A8E5DC3}">
      <dsp:nvSpPr>
        <dsp:cNvPr id="9" name="圆角矩形 8"/>
        <dsp:cNvSpPr/>
      </dsp:nvSpPr>
      <dsp:spPr bwMode="white">
        <a:xfrm>
          <a:off x="906558" y="1323930"/>
          <a:ext cx="1326134" cy="795680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Testbench Construction</a:t>
          </a:r>
          <a:endParaRPr lang="zh-CN" dirty="0"/>
        </a:p>
      </dsp:txBody>
      <dsp:txXfrm>
        <a:off x="906558" y="1323930"/>
        <a:ext cx="1326134" cy="795680"/>
      </dsp:txXfrm>
    </dsp:sp>
    <dsp:sp modelId="{DCF2ACA3-53D2-504F-A7F9-580F6E9DCE3F}">
      <dsp:nvSpPr>
        <dsp:cNvPr id="10" name="右箭头 9"/>
        <dsp:cNvSpPr/>
      </dsp:nvSpPr>
      <dsp:spPr bwMode="white">
        <a:xfrm rot="5384788">
          <a:off x="1432372" y="2219664"/>
          <a:ext cx="280367" cy="32888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384788">
        <a:off x="1432372" y="2219664"/>
        <a:ext cx="280367" cy="328881"/>
      </dsp:txXfrm>
    </dsp:sp>
    <dsp:sp modelId="{CC18458C-C1A0-3448-841D-B84C84E98754}">
      <dsp:nvSpPr>
        <dsp:cNvPr id="11" name="圆角矩形 10"/>
        <dsp:cNvSpPr/>
      </dsp:nvSpPr>
      <dsp:spPr bwMode="white">
        <a:xfrm>
          <a:off x="912419" y="2648599"/>
          <a:ext cx="1326134" cy="79568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573BAD"/>
            </a:gs>
            <a:gs pos="100000">
              <a:srgbClr val="A73AAD"/>
            </a:gs>
          </a:gsLst>
        </a:gradFill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lIns="64769" tIns="64769" rIns="64769" bIns="64769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solidFill>
                <a:schemeClr val="bg1"/>
              </a:solidFill>
            </a:rPr>
            <a:t>Testcases Generation</a:t>
          </a:r>
          <a:endParaRPr lang="zh-CN" b="1" dirty="0">
            <a:solidFill>
              <a:schemeClr val="bg1"/>
            </a:solidFill>
          </a:endParaRPr>
        </a:p>
      </dsp:txBody>
      <dsp:txXfrm>
        <a:off x="912419" y="2648599"/>
        <a:ext cx="1326134" cy="795680"/>
      </dsp:txXfrm>
    </dsp:sp>
    <dsp:sp modelId="{C23FA7E7-E9B7-1C43-8F39-838C0E0197AC}">
      <dsp:nvSpPr>
        <dsp:cNvPr id="12" name="右箭头 11"/>
        <dsp:cNvSpPr/>
      </dsp:nvSpPr>
      <dsp:spPr bwMode="white">
        <a:xfrm>
          <a:off x="2363210" y="2881999"/>
          <a:ext cx="281140" cy="32888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363210" y="2881999"/>
        <a:ext cx="281140" cy="328881"/>
      </dsp:txXfrm>
    </dsp:sp>
    <dsp:sp modelId="{7DB857A3-5A2B-2943-A113-3B889CFAE067}">
      <dsp:nvSpPr>
        <dsp:cNvPr id="13" name="圆角矩形 12"/>
        <dsp:cNvSpPr/>
      </dsp:nvSpPr>
      <dsp:spPr bwMode="white">
        <a:xfrm>
          <a:off x="2769007" y="2648599"/>
          <a:ext cx="1326134" cy="79568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573BAD"/>
            </a:gs>
            <a:gs pos="100000">
              <a:srgbClr val="A73AAD"/>
            </a:gs>
          </a:gsLst>
          <a:lin ang="27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numCol="1" spcCol="1270" anchor="ctr" anchorCtr="0" forceAA="0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Simulation</a:t>
          </a:r>
          <a:endParaRPr lang="zh-CN" sz="1500" b="1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2769007" y="2648599"/>
        <a:ext cx="1326134" cy="795680"/>
      </dsp:txXfrm>
    </dsp:sp>
    <dsp:sp modelId="{8987AC1D-D730-EC4C-BB30-2842471B6808}">
      <dsp:nvSpPr>
        <dsp:cNvPr id="14" name="右箭头 13"/>
        <dsp:cNvSpPr/>
      </dsp:nvSpPr>
      <dsp:spPr bwMode="white">
        <a:xfrm rot="5415211">
          <a:off x="3288960" y="3544333"/>
          <a:ext cx="280367" cy="32888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415211">
        <a:off x="3288960" y="3544333"/>
        <a:ext cx="280367" cy="328881"/>
      </dsp:txXfrm>
    </dsp:sp>
    <dsp:sp modelId="{AD938448-AA9D-7543-BD46-FB7784D68426}">
      <dsp:nvSpPr>
        <dsp:cNvPr id="15" name="圆角矩形 14"/>
        <dsp:cNvSpPr/>
      </dsp:nvSpPr>
      <dsp:spPr bwMode="white">
        <a:xfrm>
          <a:off x="2763146" y="3973268"/>
          <a:ext cx="1326134" cy="79568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573BAD"/>
            </a:gs>
            <a:gs pos="100000">
              <a:srgbClr val="A73AAD"/>
            </a:gs>
          </a:gsLst>
          <a:lin ang="27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numCol="1" spcCol="1270" anchor="ctr" anchorCtr="0" forceAA="0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Coverage / Bug Analysis</a:t>
          </a:r>
          <a:endParaRPr lang="zh-CN" sz="1500" b="1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2763146" y="3973268"/>
        <a:ext cx="1326134" cy="795680"/>
      </dsp:txXfrm>
    </dsp:sp>
    <dsp:sp modelId="{3AF3149E-C9EB-F84F-8A53-03C87D1A34AF}">
      <dsp:nvSpPr>
        <dsp:cNvPr id="16" name="右箭头 15"/>
        <dsp:cNvSpPr/>
      </dsp:nvSpPr>
      <dsp:spPr bwMode="white">
        <a:xfrm rot="10800000">
          <a:off x="2357349" y="4206667"/>
          <a:ext cx="281140" cy="32888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0800000">
        <a:off x="2357349" y="4206667"/>
        <a:ext cx="281140" cy="328881"/>
      </dsp:txXfrm>
    </dsp:sp>
    <dsp:sp modelId="{486A6D5F-A4BC-8345-9BBC-5B615B6A886D}">
      <dsp:nvSpPr>
        <dsp:cNvPr id="17" name="圆角矩形 16"/>
        <dsp:cNvSpPr/>
      </dsp:nvSpPr>
      <dsp:spPr bwMode="white">
        <a:xfrm>
          <a:off x="906558" y="3973268"/>
          <a:ext cx="1326134" cy="79568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573BAD"/>
            </a:gs>
            <a:gs pos="100000">
              <a:srgbClr val="A73AAD"/>
            </a:gs>
          </a:gsLst>
          <a:lin ang="27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57150" tIns="57150" rIns="57150" bIns="57150" numCol="1" spcCol="1270" anchor="ctr" anchorCtr="0" forceAA="0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b="1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Reports</a:t>
          </a:r>
          <a:endParaRPr lang="zh-CN" altLang="en-US" sz="1500" b="1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906558" y="3973268"/>
        <a:ext cx="1326134" cy="795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#1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bkpt" val="endCnv"/>
          <dgm:param type="contDir" val="revDir"/>
          <dgm:param type="grDir" val="tL"/>
          <dgm:param type="flowDir" val="row"/>
        </dgm:alg>
      </dgm:if>
      <dgm:else name="Name2">
        <dgm:alg type="snake">
          <dgm:param type="bkpt" val="endCnv"/>
          <dgm:param type="contDir" val="rev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2A592-2AD7-4B85-8EB1-B071E858D2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各位老师同学大家下午好，</a:t>
            </a:r>
            <a:r>
              <a:rPr lang="zh-CN" altLang="en-US" dirty="0">
                <a:sym typeface="+mn-ea"/>
              </a:rPr>
              <a:t>很荣幸能够在</a:t>
            </a:r>
            <a:r>
              <a:rPr lang="en-US" altLang="zh-CN" dirty="0">
                <a:sym typeface="+mn-ea"/>
              </a:rPr>
              <a:t>RISCV</a:t>
            </a:r>
            <a:r>
              <a:rPr lang="zh-CN" altLang="en-US" dirty="0">
                <a:sym typeface="+mn-ea"/>
              </a:rPr>
              <a:t>中国峰会上介绍我们万众一芯团队的工作，本次</a:t>
            </a:r>
            <a:r>
              <a:rPr lang="en-US" altLang="zh-CN" dirty="0">
                <a:sym typeface="+mn-ea"/>
              </a:rPr>
              <a:t>tutorial</a:t>
            </a:r>
            <a:r>
              <a:rPr lang="zh-CN" altLang="en-US" dirty="0">
                <a:sym typeface="+mn-ea"/>
              </a:rPr>
              <a:t>的主题为：</a:t>
            </a:r>
            <a:r>
              <a:rPr lang="en-US" altLang="zh-CN" dirty="0">
                <a:sym typeface="+mn-ea"/>
              </a:rPr>
              <a:t>XXX</a:t>
            </a:r>
            <a:r>
              <a:rPr lang="zh-CN" altLang="en-US" dirty="0">
                <a:sym typeface="+mn-ea"/>
              </a:rPr>
              <a:t>，主要向大家介绍万众一芯开发的，针对芯片验证的</a:t>
            </a: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智能体，</a:t>
            </a:r>
            <a:r>
              <a:rPr lang="en-US" altLang="zh-CN" dirty="0">
                <a:sym typeface="+mn-ea"/>
              </a:rPr>
              <a:t>UCAgent</a:t>
            </a:r>
            <a:r>
              <a:rPr lang="zh-CN" altLang="en-US" dirty="0">
                <a:sym typeface="+mn-ea"/>
              </a:rPr>
              <a:t>，以及</a:t>
            </a:r>
            <a:r>
              <a:rPr lang="en-US" altLang="zh-CN" dirty="0">
                <a:sym typeface="+mn-ea"/>
              </a:rPr>
              <a:t>UCAgent</a:t>
            </a:r>
            <a:r>
              <a:rPr lang="zh-CN" altLang="en-US" dirty="0">
                <a:sym typeface="+mn-ea"/>
              </a:rPr>
              <a:t>在香山已经取得的一些实践成果，并且将在实践环节，向大家详细讲解</a:t>
            </a:r>
            <a:r>
              <a:rPr lang="en-US" altLang="zh-CN" dirty="0">
                <a:sym typeface="+mn-ea"/>
              </a:rPr>
              <a:t>UCAgent</a:t>
            </a:r>
            <a:r>
              <a:rPr lang="zh-CN" altLang="en-US" dirty="0">
                <a:sym typeface="+mn-ea"/>
              </a:rPr>
              <a:t>的使用。</a:t>
            </a:r>
            <a:endParaRPr lang="en-US" altLang="zh-CN" dirty="0">
              <a:sym typeface="+mn-ea"/>
            </a:endParaRPr>
          </a:p>
          <a:p>
            <a:r>
              <a:rPr lang="zh-CN" altLang="en-US" dirty="0"/>
              <a:t>我是本次的主讲人皮彦，是万众一芯团队的一员。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首先在开始正式的介绍之前，向大家介绍一下万众一芯。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目前，万众一芯已经开发了一系列的验证工作，包括：。。。以及一个共建社区。。。并且能够面向芯片企业，团队，甚至是对芯片感兴趣的个人开发者，提供</a:t>
            </a:r>
            <a:r>
              <a:rPr lang="en-US" altLang="zh-CN"/>
              <a:t>XX</a:t>
            </a:r>
            <a:r>
              <a:rPr lang="zh-CN" altLang="en-US"/>
              <a:t>服务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目前，万众一芯已经与多家企业有了深度的合作交流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本次</a:t>
            </a:r>
            <a:r>
              <a:rPr lang="en-US" altLang="zh-CN" dirty="0"/>
              <a:t>tutorial</a:t>
            </a:r>
            <a:r>
              <a:rPr lang="zh-CN" altLang="en-US" dirty="0"/>
              <a:t>主要有以下</a:t>
            </a:r>
            <a:r>
              <a:rPr lang="en-US" altLang="zh-CN" dirty="0"/>
              <a:t>4</a:t>
            </a:r>
            <a:r>
              <a:rPr lang="zh-CN" altLang="en-US" dirty="0"/>
              <a:t>个部分，前面将向大家介绍</a:t>
            </a:r>
            <a:r>
              <a:rPr lang="en-US" altLang="zh-CN" dirty="0"/>
              <a:t>UCAgent</a:t>
            </a:r>
            <a:r>
              <a:rPr lang="zh-CN" altLang="en-US" dirty="0"/>
              <a:t>这款芯片验证智能体，大概</a:t>
            </a:r>
            <a:r>
              <a:rPr lang="en-US" altLang="zh-CN" dirty="0"/>
              <a:t>20-30</a:t>
            </a:r>
            <a:r>
              <a:rPr lang="zh-CN" altLang="en-US" dirty="0"/>
              <a:t>分钟。后面的一个小时将是实操环节，有带电脑，想实际上手体验</a:t>
            </a:r>
            <a:r>
              <a:rPr lang="en-US" altLang="zh-CN" dirty="0"/>
              <a:t>UCAgent</a:t>
            </a:r>
            <a:r>
              <a:rPr lang="zh-CN" altLang="en-US" dirty="0"/>
              <a:t>的听众可以预先在自己的机器准备</a:t>
            </a:r>
            <a:r>
              <a:rPr lang="en-US" altLang="zh-CN" dirty="0"/>
              <a:t>docker</a:t>
            </a:r>
            <a:r>
              <a:rPr lang="zh-CN" altLang="en-US" dirty="0"/>
              <a:t>环境，同时我们现场万众一芯的伙伴也在发放一些</a:t>
            </a:r>
            <a:r>
              <a:rPr lang="en-US" altLang="zh-CN" dirty="0"/>
              <a:t>U</a:t>
            </a:r>
            <a:r>
              <a:rPr lang="zh-CN" altLang="en-US" dirty="0"/>
              <a:t>盘，里面有</a:t>
            </a:r>
            <a:r>
              <a:rPr lang="en-US" altLang="zh-CN" dirty="0"/>
              <a:t>UCAgent</a:t>
            </a:r>
            <a:r>
              <a:rPr lang="zh-CN" altLang="en-US" dirty="0"/>
              <a:t>的完整</a:t>
            </a:r>
            <a:r>
              <a:rPr lang="en-US" altLang="zh-CN" dirty="0"/>
              <a:t>docker</a:t>
            </a:r>
            <a:r>
              <a:rPr lang="zh-CN" altLang="en-US" dirty="0"/>
              <a:t>镜像压缩包，大家可以趁着我介绍的这段时间把镜像拷好，后面在实操环节就可以跟着一步步上手使用</a:t>
            </a:r>
            <a:r>
              <a:rPr lang="en-US" altLang="zh-CN" dirty="0"/>
              <a:t>UCAgent</a:t>
            </a:r>
            <a:r>
              <a:rPr lang="zh-CN" altLang="en-US" dirty="0"/>
              <a:t>了。后面将向大家介绍</a:t>
            </a:r>
            <a:r>
              <a:rPr lang="en-US" altLang="zh-CN" dirty="0"/>
              <a:t>UCAgent</a:t>
            </a:r>
            <a:r>
              <a:rPr lang="zh-CN" altLang="en-US" dirty="0"/>
              <a:t>目前在香山中取得的一些验证成果，并且向大家介绍万众一芯后续的开发计划。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根据西门子于</a:t>
            </a:r>
            <a:r>
              <a:rPr lang="en-US" altLang="zh-CN" dirty="0"/>
              <a:t>24</a:t>
            </a:r>
            <a:r>
              <a:rPr lang="zh-CN" altLang="en-US" dirty="0"/>
              <a:t>年的白皮书中的数据，</a:t>
            </a:r>
            <a:br>
              <a:rPr lang="en-US" altLang="zh-CN" dirty="0"/>
            </a:br>
            <a:r>
              <a:rPr lang="zh-CN" altLang="en-US" dirty="0"/>
              <a:t>验证工程师的数量增长</a:t>
            </a:r>
            <a:r>
              <a:rPr lang="en-US" altLang="zh-CN" dirty="0"/>
              <a:t>3</a:t>
            </a:r>
            <a:r>
              <a:rPr lang="zh-CN" altLang="en-US" dirty="0"/>
              <a:t>倍</a:t>
            </a:r>
            <a:endParaRPr lang="en-US" altLang="zh-CN" dirty="0"/>
          </a:p>
          <a:p>
            <a:r>
              <a:rPr lang="zh-CN" altLang="en-US" dirty="0"/>
              <a:t>且设计工程师也需要将一半的时间花费在验证上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RISC-V </a:t>
            </a:r>
            <a:r>
              <a:rPr lang="zh-CN" altLang="en-US" dirty="0"/>
              <a:t>市场增长和 </a:t>
            </a:r>
            <a:r>
              <a:rPr lang="en-US" altLang="zh-CN" dirty="0"/>
              <a:t>AI </a:t>
            </a:r>
            <a:r>
              <a:rPr lang="zh-CN" altLang="en-US" dirty="0"/>
              <a:t>计算需求带来更多定制化、更复杂的设计，因此需要覆盖更多验证场景。那么，</a:t>
            </a:r>
            <a:r>
              <a:rPr lang="en-US" altLang="zh-CN" dirty="0"/>
              <a:t> </a:t>
            </a:r>
            <a:r>
              <a:rPr lang="zh-CN" altLang="en-US" dirty="0"/>
              <a:t>不得不思考，有没有什么工具能够突破验证所面临的瓶颈或者挑战</a:t>
            </a:r>
            <a:endParaRPr lang="zh-CN" altLang="en-US" sz="18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那么，近年来，随着</a:t>
            </a:r>
            <a:r>
              <a:rPr lang="en-US" altLang="zh-CN" dirty="0"/>
              <a:t>AI</a:t>
            </a:r>
            <a:r>
              <a:rPr lang="zh-CN" altLang="en-US" dirty="0"/>
              <a:t>，大模型技术的发展，将</a:t>
            </a:r>
            <a:r>
              <a:rPr lang="en-US" altLang="zh-CN" dirty="0"/>
              <a:t>LLM</a:t>
            </a:r>
            <a:r>
              <a:rPr lang="zh-CN" altLang="en-US" dirty="0"/>
              <a:t>引入芯片验证似乎是一个很好的方式。首先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等到将</a:t>
            </a:r>
            <a:r>
              <a:rPr lang="en-US" altLang="zh-CN" dirty="0"/>
              <a:t>AI</a:t>
            </a:r>
            <a:r>
              <a:rPr lang="zh-CN" altLang="en-US" dirty="0"/>
              <a:t>，</a:t>
            </a:r>
            <a:r>
              <a:rPr lang="en-US" altLang="zh-CN" dirty="0"/>
              <a:t>LLM</a:t>
            </a:r>
            <a:r>
              <a:rPr lang="zh-CN" altLang="en-US" dirty="0"/>
              <a:t>实际应用到芯片验证这一场景时，我们发现在语言、验证任务以及验证效果方面存在以下</a:t>
            </a:r>
            <a:r>
              <a:rPr lang="en-US" altLang="zh-CN" dirty="0"/>
              <a:t>3</a:t>
            </a:r>
            <a:r>
              <a:rPr lang="zh-CN" altLang="en-US" dirty="0"/>
              <a:t>点挑战。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硬件的训练数据少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闭源，好的开源硬件数据更少</a:t>
            </a:r>
            <a:br>
              <a:rPr lang="en-US" altLang="zh-CN" dirty="0"/>
            </a:br>
            <a:r>
              <a:rPr lang="en-US" altLang="zh-CN" dirty="0"/>
              <a:t>3.</a:t>
            </a:r>
            <a:r>
              <a:rPr lang="zh-CN" altLang="en-US" dirty="0"/>
              <a:t>大多数模型上的验证生成</a:t>
            </a:r>
            <a:r>
              <a:rPr lang="en-US" altLang="zh-CN" dirty="0"/>
              <a:t>1</a:t>
            </a:r>
            <a:r>
              <a:rPr lang="zh-CN" altLang="en-US" dirty="0"/>
              <a:t>次通过率低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大模型生成硬件验证代码，比生成一般 RTL 代码更困难，尤其容易在测试激励、结果检查和断言上出错</a:t>
            </a:r>
            <a:r>
              <a:rPr lang="zh-CN" altLang="en-US" dirty="0"/>
              <a:t>，容易出现语法错误，同时写出来的验证代码质量也很一般。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一方面，目前的一些</a:t>
            </a:r>
            <a:r>
              <a:rPr lang="en-US" altLang="zh-CN" dirty="0"/>
              <a:t>LLM</a:t>
            </a:r>
            <a:r>
              <a:rPr lang="zh-CN" altLang="en-US" dirty="0"/>
              <a:t>对于芯片、硬件的领域知识本身训练的数据量就少，对部分概念不明，导致容易出现幻觉。（比如</a:t>
            </a:r>
            <a:r>
              <a:rPr lang="en-US" altLang="zh-CN" dirty="0"/>
              <a:t>IEEE754</a:t>
            </a:r>
            <a:r>
              <a:rPr lang="zh-CN" altLang="en-US" dirty="0"/>
              <a:t>这个浮点数标准）</a:t>
            </a:r>
            <a:br>
              <a:rPr lang="en-US" altLang="zh-CN" dirty="0"/>
            </a:br>
            <a:r>
              <a:rPr lang="zh-CN" altLang="en-US" dirty="0"/>
              <a:t>其次，</a:t>
            </a:r>
            <a:r>
              <a:rPr lang="en-US" altLang="zh-CN" dirty="0"/>
              <a:t>LLM</a:t>
            </a:r>
            <a:r>
              <a:rPr lang="zh-CN" altLang="en-US" dirty="0"/>
              <a:t>的能力与其上下文窗口以及使用情况相关，一个模型可能标榜了有</a:t>
            </a:r>
            <a:r>
              <a:rPr lang="en-US" altLang="zh-CN" dirty="0"/>
              <a:t>1M</a:t>
            </a:r>
            <a:r>
              <a:rPr lang="zh-CN" altLang="en-US" dirty="0"/>
              <a:t>的上下文，但可能使用了</a:t>
            </a:r>
            <a:r>
              <a:rPr lang="en-US" altLang="zh-CN" dirty="0"/>
              <a:t>500k</a:t>
            </a:r>
            <a:r>
              <a:rPr lang="zh-CN" altLang="en-US" dirty="0"/>
              <a:t>的时候，输出效果就比较差了。且</a:t>
            </a:r>
            <a:r>
              <a:rPr lang="en-US" altLang="zh-CN" dirty="0"/>
              <a:t>LLM</a:t>
            </a:r>
            <a:r>
              <a:rPr lang="zh-CN" altLang="en-US" dirty="0"/>
              <a:t>的上下文窗口是有限的，</a:t>
            </a:r>
            <a:br>
              <a:rPr lang="en-US" altLang="zh-CN" dirty="0"/>
            </a:br>
            <a:r>
              <a:rPr lang="zh-CN" altLang="en-US" dirty="0"/>
              <a:t>因此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同时，只是将验证这个复杂任务拆解为多个子任务还是不够的，如果不对单个子任务的输出做约束或者检查，在这个阶段的错误可能就会传播到下一个阶段，导致错误传播，同时也不利于回溯。比如说：。。。</a:t>
            </a:r>
            <a:br>
              <a:rPr lang="en-US" altLang="zh-CN" dirty="0"/>
            </a:br>
            <a:r>
              <a:rPr lang="zh-CN" altLang="en-US" dirty="0"/>
              <a:t>因此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最后，关于验证一致性，可以理解为。。。</a:t>
            </a:r>
            <a:endParaRPr lang="en-US" altLang="zh-CN" dirty="0"/>
          </a:p>
          <a:p>
            <a:r>
              <a:rPr lang="zh-CN" altLang="en-US" dirty="0"/>
              <a:t>而由于大模型本身上下文、训练方法，以及随机性等各类因素，这种一致性是难以在验证全程始终保持的。</a:t>
            </a:r>
            <a:br>
              <a:rPr lang="en-US" altLang="zh-CN" dirty="0"/>
            </a:br>
            <a:r>
              <a:rPr lang="zh-CN" altLang="en-US" dirty="0"/>
              <a:t>因此，我们。。。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目前，其实也有很多工作，甚至商用公司在开发芯片验证相关的</a:t>
            </a:r>
            <a:r>
              <a:rPr lang="en-US" altLang="zh-CN" dirty="0"/>
              <a:t>Agent</a:t>
            </a:r>
            <a:r>
              <a:rPr lang="zh-CN" altLang="en-US" dirty="0"/>
              <a:t>，但我们分析发现，可能或多或少都存在一些问题：。。。</a:t>
            </a:r>
            <a:br>
              <a:rPr lang="en-US" altLang="zh-CN" dirty="0"/>
            </a:br>
            <a:r>
              <a:rPr lang="zh-CN" altLang="en-US" dirty="0"/>
              <a:t>因此，我们希望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基于上述分析的挑战，以及我们的目标，我们开发了</a:t>
            </a:r>
            <a:r>
              <a:rPr lang="en-US" altLang="zh-CN" dirty="0"/>
              <a:t>UCAgent</a:t>
            </a:r>
            <a:r>
              <a:rPr lang="zh-CN" altLang="en-US" dirty="0"/>
              <a:t>，并且针对</a:t>
            </a:r>
            <a:r>
              <a:rPr lang="en-US" altLang="zh-CN" dirty="0"/>
              <a:t>3</a:t>
            </a:r>
            <a:r>
              <a:rPr lang="zh-CN" altLang="en-US" dirty="0"/>
              <a:t>个挑战实现了对应的机制，分别是。。。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首先，针对语言方面的挑战，我们选择</a:t>
            </a:r>
            <a:r>
              <a:rPr lang="en-US" altLang="zh-CN" dirty="0"/>
              <a:t>Python</a:t>
            </a:r>
            <a:r>
              <a:rPr lang="zh-CN" altLang="en-US" dirty="0"/>
              <a:t>作为验证语言，对芯片进行验证。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首先介绍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</a:pP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传统的验证通常需要验证人员具备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Verilog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SystemVerilog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的语言背景，这对于想要完成众包任务的非硬件工程师而言是较高的一个门槛，而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工具就能够降低编程语言方面的门槛难度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</a:pP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Picker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工具能够通过一条命令将香山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RTL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打包为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包，当然，也支持其他高级编程语言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</a:pP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后续，验证人员基于验证文档，使用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编写测试用例并执行后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</a:pP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将生成测试报告，验证人员基于报告分析覆盖率等指标情况，编写验证报告，确认无误后，通过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提交该部分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RTL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的成果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前面介绍的 Picker，解决了一个基础问题：把 RTL 打包成 Python 可以调用的软件包。有了这个能力，我们就可以</a:t>
            </a:r>
            <a:r>
              <a:rPr lang="zh-CN" altLang="en-US" dirty="0"/>
              <a:t>通过写</a:t>
            </a:r>
            <a:r>
              <a:rPr lang="zh-CN" altLang="zh-CN" dirty="0"/>
              <a:t> Python</a:t>
            </a:r>
            <a:r>
              <a:rPr lang="en-US" altLang="zh-CN" dirty="0"/>
              <a:t> </a:t>
            </a:r>
            <a:r>
              <a:rPr lang="zh-CN" altLang="en-US" dirty="0"/>
              <a:t>控制芯片的输入输出了</a:t>
            </a:r>
            <a:endParaRPr lang="zh-CN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但是</a:t>
            </a:r>
            <a:r>
              <a:rPr lang="zh-CN" altLang="zh-CN" dirty="0"/>
              <a:t>当模块变复杂、测试用例变多时，</a:t>
            </a:r>
            <a:r>
              <a:rPr lang="zh-CN" altLang="en-US" dirty="0"/>
              <a:t>不可能每次都直接与引脚接口进行交互，因此</a:t>
            </a:r>
            <a:r>
              <a:rPr lang="zh-CN" altLang="zh-CN" dirty="0"/>
              <a:t>Toffee 就是在这个基础上，</a:t>
            </a:r>
            <a:r>
              <a:rPr lang="zh-CN" altLang="en-US" dirty="0"/>
              <a:t>实现了</a:t>
            </a:r>
            <a:r>
              <a:rPr lang="zh-CN" altLang="zh-CN" dirty="0"/>
              <a:t>一套</a:t>
            </a:r>
            <a:r>
              <a:rPr lang="zh-CN" altLang="en-US" dirty="0"/>
              <a:t>基于 </a:t>
            </a:r>
            <a:r>
              <a:rPr lang="en-US" altLang="zh-CN" dirty="0"/>
              <a:t>Python</a:t>
            </a:r>
            <a:r>
              <a:rPr lang="zh-CN" altLang="en-US" dirty="0"/>
              <a:t>，</a:t>
            </a:r>
            <a:r>
              <a:rPr lang="zh-CN" altLang="zh-CN" dirty="0"/>
              <a:t>面向软件开发习惯的硬件验证框架。</a:t>
            </a:r>
            <a:br>
              <a:rPr lang="en-US" altLang="zh-CN" dirty="0"/>
            </a:br>
            <a:r>
              <a:rPr lang="zh-CN" altLang="en-US" dirty="0"/>
              <a:t>其主要功能是。。。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UCAgent</a:t>
            </a:r>
            <a:r>
              <a:rPr lang="zh-CN" altLang="en-US" dirty="0"/>
              <a:t>的第二个机制就是实现了多阶段工作流以及检查器。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目前，我们将单元验证这个任务拆分为了</a:t>
            </a:r>
            <a:r>
              <a:rPr lang="en-US" altLang="zh-CN" dirty="0"/>
              <a:t>31</a:t>
            </a:r>
            <a:r>
              <a:rPr lang="zh-CN" altLang="en-US" dirty="0"/>
              <a:t>个阶段，且每个阶段都有相应的检查器去检查阶段输出（检查器这个机制还与后续的验证一致性相关，关于检查器的详细介绍我等下再讲）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我们为</a:t>
            </a:r>
            <a:r>
              <a:rPr lang="en-US" altLang="zh-CN" dirty="0"/>
              <a:t>UCAgent</a:t>
            </a:r>
            <a:r>
              <a:rPr lang="zh-CN" altLang="en-US" dirty="0"/>
              <a:t>建立了验证一致性标签的机制，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总结一下，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UC_ENV_CMD_BACKEND_EX_ARGS="-m opencode/mimo-v2.6-flash-free"</a:t>
            </a:r>
            <a:endParaRPr lang="en-US" altLang="zh-CN"/>
          </a:p>
          <a:p>
            <a:r>
              <a:rPr lang="zh-CN" altLang="en-US"/>
              <a:t>有免费的</a:t>
            </a:r>
            <a:r>
              <a:rPr lang="en-US" altLang="zh-CN"/>
              <a:t>apikey，</a:t>
            </a:r>
            <a:r>
              <a:rPr lang="zh-CN" altLang="en-US"/>
              <a:t>但是还不稳定，有自己的也可以用自己的之类的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34A32-DAFE-4B68-86C0-31389F4D03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4BFE467A-8837-499C-9DD2-88722A0B358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14069" y="0"/>
            <a:ext cx="10539096" cy="102171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r>
              <a:rPr lang="en-US" altLang="zh-CN" dirty="0"/>
              <a:t>ABC</a:t>
            </a:r>
            <a:endParaRPr 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815009" y="1021543"/>
            <a:ext cx="10538791" cy="0"/>
            <a:chOff x="815009" y="1021543"/>
            <a:chExt cx="10538791" cy="0"/>
          </a:xfrm>
        </p:grpSpPr>
        <p:cxnSp>
          <p:nvCxnSpPr>
            <p:cNvPr id="9" name="直接连接符 8"/>
            <p:cNvCxnSpPr/>
            <p:nvPr userDrawn="1"/>
          </p:nvCxnSpPr>
          <p:spPr>
            <a:xfrm>
              <a:off x="815009" y="1021543"/>
              <a:ext cx="713715" cy="0"/>
            </a:xfrm>
            <a:prstGeom prst="line">
              <a:avLst/>
            </a:prstGeom>
            <a:ln w="44450">
              <a:solidFill>
                <a:srgbClr val="AE13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/>
          </p:nvCxnSpPr>
          <p:spPr>
            <a:xfrm>
              <a:off x="1683945" y="1021543"/>
              <a:ext cx="9669855" cy="0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占位符 10"/>
          <p:cNvSpPr>
            <a:spLocks noGrp="1"/>
          </p:cNvSpPr>
          <p:nvPr>
            <p:ph type="body" idx="1"/>
          </p:nvPr>
        </p:nvSpPr>
        <p:spPr>
          <a:xfrm>
            <a:off x="814069" y="1136650"/>
            <a:ext cx="10539731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8" t="38628" r="18733" b="38630"/>
          <a:stretch>
            <a:fillRect/>
          </a:stretch>
        </p:blipFill>
        <p:spPr>
          <a:xfrm>
            <a:off x="10987538" y="376381"/>
            <a:ext cx="1096592" cy="2666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35834" y="6198235"/>
            <a:ext cx="656166" cy="656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C3EC9-D1C0-4DCC-B5AF-E08A270A62E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6031A-F02C-4455-BDD8-E354B45A46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BDD1-BD03-4D92-8043-653BE8DAAD61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9C1FC-F2F2-4272-9E6C-F02FAFEB85F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31FD-0482-4EAB-95CC-34E1FEAA37C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AF32-E217-406D-9CE2-C8F26CE4B61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8A98-9A1E-4A3D-95D9-A47F294BDC4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E3B0A-EBB8-4B22-A9CA-37D86270AF59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9D01-70B7-48B3-9839-3D4F4E47674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A0635-825A-4B70-834F-D9BAA9E68F4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tags" Target="../tags/tag5.xml"/><Relationship Id="rId5" Type="http://schemas.openxmlformats.org/officeDocument/2006/relationships/image" Target="../media/image10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huggingface.co/datasets/bigcode/the-stack-v2/blob/main/language_stats.csv" TargetMode="External"/><Relationship Id="rId2" Type="http://schemas.openxmlformats.org/officeDocument/2006/relationships/image" Target="../media/image16.png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emf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5.png"/><Relationship Id="rId7" Type="http://schemas.openxmlformats.org/officeDocument/2006/relationships/image" Target="../media/image54.webp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0" Type="http://schemas.openxmlformats.org/officeDocument/2006/relationships/notesSlide" Target="../notesSlides/notesSlide24.xml"/><Relationship Id="rId1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image" Target="../media/image65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1864"/>
            <a:ext cx="1219668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098824"/>
            <a:ext cx="12192000" cy="1411456"/>
          </a:xfrm>
        </p:spPr>
        <p:txBody>
          <a:bodyPr/>
          <a:lstStyle/>
          <a:p>
            <a:pPr algn="ctr"/>
            <a:r>
              <a:rPr lang="en-US" altLang="zh-CN" sz="48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AI </a:t>
            </a:r>
            <a:r>
              <a:rPr lang="zh-CN" alt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驱动芯片验证：</a:t>
            </a:r>
            <a:r>
              <a:rPr lang="en-US" altLang="zh-CN" sz="48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UCAgent </a:t>
            </a:r>
            <a:r>
              <a:rPr lang="zh-CN" alt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智能体</a:t>
            </a:r>
            <a:br>
              <a:rPr lang="zh-CN" alt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</a:br>
            <a:r>
              <a:rPr lang="zh-CN" alt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在香山处理器中的实践</a:t>
            </a:r>
            <a:endParaRPr lang="zh-CN" altLang="en-US" sz="4800" b="1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077085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万众一芯团队</a:t>
            </a:r>
            <a:endParaRPr lang="en-US" altLang="zh-CN" dirty="0"/>
          </a:p>
          <a:p>
            <a:r>
              <a:rPr lang="zh-CN" altLang="en-US" dirty="0"/>
              <a:t>皮彦</a:t>
            </a:r>
            <a:endParaRPr lang="zh-CN" altLang="en-US" dirty="0"/>
          </a:p>
          <a:p>
            <a:r>
              <a:rPr lang="en-US" altLang="zh-CN" dirty="0"/>
              <a:t>2026 </a:t>
            </a:r>
            <a:r>
              <a:rPr lang="zh-CN" altLang="en-US" dirty="0"/>
              <a:t>年</a:t>
            </a:r>
            <a:r>
              <a:rPr lang="en-US" altLang="zh-CN" dirty="0"/>
              <a:t> 10 </a:t>
            </a:r>
            <a:r>
              <a:rPr lang="zh-CN" altLang="en-US" dirty="0"/>
              <a:t>月</a:t>
            </a:r>
            <a:r>
              <a:rPr lang="en-US" altLang="zh-CN" dirty="0"/>
              <a:t> 18 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47" y="350981"/>
            <a:ext cx="3372485" cy="67056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802" y="350981"/>
            <a:ext cx="4471089" cy="67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文本&#10;&#10;AI 生成的内容可能不正确。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88" t="38628" r="18733" b="38630"/>
          <a:stretch>
            <a:fillRect/>
          </a:stretch>
        </p:blipFill>
        <p:spPr>
          <a:xfrm>
            <a:off x="9163050" y="350981"/>
            <a:ext cx="2487242" cy="604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我们是谁？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5340" y="1136650"/>
            <a:ext cx="10538460" cy="5500370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万众一芯（</a:t>
            </a:r>
            <a:r>
              <a:rPr lang="en-US" altLang="zh-CN" sz="3600" b="1" dirty="0" err="1"/>
              <a:t>UnityChip</a:t>
            </a:r>
            <a:r>
              <a:rPr lang="zh-CN" altLang="en-US" sz="3600" b="1" dirty="0"/>
              <a:t>）</a:t>
            </a:r>
            <a:endParaRPr lang="zh-CN" altLang="en-US" sz="3600" b="1" dirty="0"/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一个芯片验证平台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致力于探索开源硬件众包验证的可能性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希望降低芯片验证成本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让软件工程师参与到硬件验证中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让“一万个人共同参与验证一款芯片”</a:t>
            </a:r>
            <a:endParaRPr kumimoji="1"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32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香山</a:t>
            </a:r>
            <a:r>
              <a:rPr kumimoji="1" lang="en-US" altLang="zh-CN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是首个使用万众一芯的项目</a:t>
            </a:r>
            <a:endParaRPr kumimoji="1"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7328" r="8377"/>
          <a:stretch>
            <a:fillRect/>
          </a:stretch>
        </p:blipFill>
        <p:spPr>
          <a:xfrm>
            <a:off x="7408829" y="1136453"/>
            <a:ext cx="3944332" cy="474003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万众一芯</a:t>
            </a:r>
            <a:r>
              <a:rPr altLang="zh-CN" dirty="0"/>
              <a:t> - </a:t>
            </a:r>
            <a:r>
              <a:rPr lang="zh-CN" altLang="en-US" dirty="0"/>
              <a:t>产品与服务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7922" y="1083290"/>
            <a:ext cx="8556155" cy="570593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万众一芯</a:t>
            </a:r>
            <a:r>
              <a:rPr altLang="zh-CN"/>
              <a:t> - </a:t>
            </a:r>
            <a:r>
              <a:rPr lang="zh-CN" altLang="en-US"/>
              <a:t>合作交流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070" y="1310005"/>
            <a:ext cx="4883150" cy="481965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6783740" y="1309715"/>
            <a:ext cx="1830113" cy="2071846"/>
            <a:chOff x="7719040" y="2113654"/>
            <a:chExt cx="2737855" cy="3099487"/>
          </a:xfrm>
        </p:grpSpPr>
        <p:sp>
          <p:nvSpPr>
            <p:cNvPr id="11" name="文本框 10"/>
            <p:cNvSpPr txBox="1"/>
            <p:nvPr>
              <p:custDataLst>
                <p:tags r:id="rId3"/>
              </p:custDataLst>
            </p:nvPr>
          </p:nvSpPr>
          <p:spPr>
            <a:xfrm>
              <a:off x="7719040" y="4340126"/>
              <a:ext cx="2737855" cy="8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技术交流</a:t>
              </a:r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QQ</a:t>
              </a:r>
              <a:r>
                <a: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群</a:t>
              </a:r>
              <a:endPara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600480230</a:t>
              </a:r>
              <a:endPara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7918532" y="2113654"/>
              <a:ext cx="2338807" cy="2338806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9504680" y="2740660"/>
            <a:ext cx="1925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微信公众号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万众一芯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UnityChip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0260" y="1367155"/>
            <a:ext cx="1367790" cy="137350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6649939" y="3923963"/>
            <a:ext cx="2037164" cy="2171742"/>
            <a:chOff x="5074312" y="4260820"/>
            <a:chExt cx="2037164" cy="2171742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8"/>
            <a:srcRect l="20136" t="29895" r="20005" b="31031"/>
            <a:stretch>
              <a:fillRect/>
            </a:stretch>
          </p:blipFill>
          <p:spPr>
            <a:xfrm>
              <a:off x="5262597" y="4260820"/>
              <a:ext cx="1721716" cy="1597437"/>
            </a:xfrm>
            <a:prstGeom prst="rect">
              <a:avLst/>
            </a:prstGeom>
          </p:spPr>
        </p:pic>
        <p:sp>
          <p:nvSpPr>
            <p:cNvPr id="21" name="文本框 13"/>
            <p:cNvSpPr txBox="1"/>
            <p:nvPr/>
          </p:nvSpPr>
          <p:spPr>
            <a:xfrm>
              <a:off x="5074312" y="5848997"/>
              <a:ext cx="203716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/>
                <a:t>Bilibili </a:t>
              </a:r>
              <a:r>
                <a:rPr lang="zh-CN" altLang="en-US" sz="1600" dirty="0" err="1"/>
                <a:t>视频号</a:t>
              </a:r>
              <a:br>
                <a:rPr lang="en-US" altLang="zh-CN" sz="1600" dirty="0"/>
              </a:br>
              <a:r>
                <a:rPr lang="zh-CN" altLang="en-US" sz="1600" dirty="0"/>
                <a:t>视频教程</a:t>
              </a:r>
              <a:endParaRPr lang="en-US" altLang="zh-CN" sz="1600" dirty="0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8849995" y="3822700"/>
            <a:ext cx="30308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万众一芯官网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http://open-verify.cc</a:t>
            </a:r>
            <a:endParaRPr lang="en-US" altLang="zh-C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https://github.com/XS-MLVP</a:t>
            </a:r>
            <a:endParaRPr lang="en-US" altLang="zh-C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邮箱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unitychip@bosc.ac.cn</a:t>
            </a:r>
            <a:endParaRPr lang="en-US" altLang="zh-C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Tutorial</a:t>
            </a:r>
            <a:endParaRPr lang="zh-CN" altLang="en-US" dirty="0"/>
          </a:p>
        </p:txBody>
      </p:sp>
      <p:graphicFrame>
        <p:nvGraphicFramePr>
          <p:cNvPr id="4" name="图示 3"/>
          <p:cNvGraphicFramePr/>
          <p:nvPr/>
        </p:nvGraphicFramePr>
        <p:xfrm>
          <a:off x="814069" y="1469803"/>
          <a:ext cx="10539731" cy="435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679" y="-1"/>
            <a:ext cx="1219668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4678" y="2515239"/>
            <a:ext cx="12196678" cy="778443"/>
          </a:xfrm>
        </p:spPr>
        <p:txBody>
          <a:bodyPr>
            <a:normAutofit/>
          </a:bodyPr>
          <a:lstStyle/>
          <a:p>
            <a:pPr algn="ctr"/>
            <a:r>
              <a:rPr lang="zh-CN" altLang="zh-CN" dirty="0">
                <a:solidFill>
                  <a:schemeClr val="tx1"/>
                </a:solidFill>
              </a:rPr>
              <a:t>端到端的验证智能体</a:t>
            </a:r>
            <a:r>
              <a:rPr lang="en-US" altLang="zh-CN" dirty="0">
                <a:solidFill>
                  <a:schemeClr val="tx1"/>
                </a:solidFill>
              </a:rPr>
              <a:t> - UCAgent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验证是芯片开发中的关键瓶颈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5340" y="4677508"/>
            <a:ext cx="10537823" cy="2180492"/>
          </a:xfrm>
        </p:spPr>
        <p:txBody>
          <a:bodyPr/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项目总时间的 </a:t>
            </a:r>
            <a:r>
              <a:rPr lang="en-US" altLang="zh-CN" dirty="0">
                <a:solidFill>
                  <a:schemeClr val="accent6"/>
                </a:solidFill>
              </a:rPr>
              <a:t>50-70%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用于验证</a:t>
            </a:r>
            <a:endParaRPr lang="en-US" altLang="zh-CN" dirty="0"/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2007 -</a:t>
            </a:r>
            <a:r>
              <a:rPr lang="zh-CN" altLang="en-US" dirty="0"/>
              <a:t> </a:t>
            </a:r>
            <a:r>
              <a:rPr lang="en-US" altLang="zh-CN" dirty="0"/>
              <a:t>2024 </a:t>
            </a:r>
            <a:r>
              <a:rPr lang="zh-CN" altLang="en-US" dirty="0"/>
              <a:t>年，验证工程师的需求</a:t>
            </a:r>
            <a:r>
              <a:rPr lang="zh-CN" altLang="en-US" dirty="0">
                <a:solidFill>
                  <a:schemeClr val="accent6"/>
                </a:solidFill>
              </a:rPr>
              <a:t>增长约 </a:t>
            </a:r>
            <a:r>
              <a:rPr lang="en-US" altLang="zh-CN" dirty="0">
                <a:solidFill>
                  <a:schemeClr val="accent6"/>
                </a:solidFill>
              </a:rPr>
              <a:t>3 </a:t>
            </a:r>
            <a:r>
              <a:rPr lang="zh-CN" altLang="en-US" dirty="0">
                <a:solidFill>
                  <a:schemeClr val="accent6"/>
                </a:solidFill>
              </a:rPr>
              <a:t>倍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pic>
        <p:nvPicPr>
          <p:cNvPr id="4" name="内容占位符 11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3" y="1136650"/>
            <a:ext cx="10538460" cy="3494956"/>
          </a:xfrm>
          <a:prstGeom prst="rect">
            <a:avLst/>
          </a:prstGeom>
        </p:spPr>
      </p:pic>
      <p:sp>
        <p:nvSpPr>
          <p:cNvPr id="5" name="文本框 15"/>
          <p:cNvSpPr txBox="1"/>
          <p:nvPr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b="1" i="1" u="none" strike="noStrike" baseline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2024 Wilson Research Group  IC/ASIC functional verification trend report, </a:t>
            </a:r>
            <a:r>
              <a:rPr lang="en-US" altLang="zh-CN" sz="1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SIEMENS, </a:t>
            </a:r>
            <a:r>
              <a:rPr lang="en-US" altLang="zh-CN" sz="1000" b="0" i="1" u="none" strike="noStrike" baseline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https://resources.sw.siemens.com/zh-TW/white-paper-2024-wilson-research-group-ic-asic-functional-verification-trend-report/</a:t>
            </a:r>
            <a:endParaRPr lang="zh-CN" altLang="en-US" sz="1000" i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7600255" y="1793631"/>
            <a:ext cx="2997407" cy="1313470"/>
          </a:xfrm>
          <a:prstGeom prst="straightConnector1">
            <a:avLst/>
          </a:prstGeom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文本框 18"/>
          <p:cNvSpPr txBox="1"/>
          <p:nvPr/>
        </p:nvSpPr>
        <p:spPr>
          <a:xfrm>
            <a:off x="8357705" y="1678696"/>
            <a:ext cx="830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24160" y="1529783"/>
            <a:ext cx="1095297" cy="240388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文本框 20"/>
          <p:cNvSpPr txBox="1"/>
          <p:nvPr/>
        </p:nvSpPr>
        <p:spPr>
          <a:xfrm>
            <a:off x="3613021" y="1106300"/>
            <a:ext cx="1317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50-70%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92069" y="6042657"/>
            <a:ext cx="5583096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accent6"/>
                </a:solidFill>
              </a:rPr>
              <a:t>验证已成为芯片开发的主要瓶颈</a:t>
            </a:r>
            <a:endParaRPr lang="zh-CN" altLang="en-US" sz="28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设计需求增长让验证更加困难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两个趋势正在增加设计复杂度</a:t>
            </a:r>
            <a:endParaRPr lang="zh-CN" altLang="en-US" dirty="0"/>
          </a:p>
          <a:p>
            <a:pPr marL="96139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RISC-V </a:t>
            </a:r>
            <a:r>
              <a:rPr lang="zh-CN" altLang="en-US" b="1" dirty="0"/>
              <a:t>市场需求增长</a:t>
            </a:r>
            <a:endParaRPr lang="zh-CN" altLang="en-US" dirty="0"/>
          </a:p>
          <a:p>
            <a:pPr marL="1189990" lvl="2" indent="0">
              <a:lnSpc>
                <a:spcPct val="130000"/>
              </a:lnSpc>
              <a:buNone/>
            </a:pPr>
            <a:r>
              <a:rPr lang="zh-CN" altLang="en-US" b="1" dirty="0"/>
              <a:t>带来更多定制化设计</a:t>
            </a:r>
            <a:endParaRPr lang="zh-CN" altLang="en-US" b="1" dirty="0"/>
          </a:p>
          <a:p>
            <a:pPr marL="961390" lvl="1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AI </a:t>
            </a:r>
            <a:r>
              <a:rPr lang="zh-CN" altLang="en-US" b="1" dirty="0"/>
              <a:t>计算需求增长</a:t>
            </a:r>
            <a:endParaRPr lang="zh-CN" altLang="en-US" b="1" dirty="0"/>
          </a:p>
          <a:p>
            <a:pPr marL="1189990" lvl="2" indent="0">
              <a:lnSpc>
                <a:spcPct val="130000"/>
              </a:lnSpc>
              <a:buNone/>
            </a:pPr>
            <a:r>
              <a:rPr lang="zh-CN" altLang="en-US" b="1" dirty="0"/>
              <a:t>带来更多面向 </a:t>
            </a:r>
            <a:r>
              <a:rPr lang="en-US" altLang="zh-CN" b="1" dirty="0"/>
              <a:t>AI </a:t>
            </a:r>
            <a:r>
              <a:rPr lang="zh-CN" altLang="en-US" b="1" dirty="0"/>
              <a:t>的设计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069" y="4330338"/>
            <a:ext cx="5149646" cy="95410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accent6"/>
                </a:solidFill>
              </a:rPr>
              <a:t>设计多样性增加，</a:t>
            </a:r>
            <a:endParaRPr lang="en-US" altLang="zh-CN" sz="2800" dirty="0">
              <a:solidFill>
                <a:schemeClr val="accent6"/>
              </a:solidFill>
            </a:endParaRPr>
          </a:p>
          <a:p>
            <a:pPr algn="ctr"/>
            <a:r>
              <a:rPr lang="zh-CN" altLang="en-US" sz="2800" dirty="0">
                <a:solidFill>
                  <a:schemeClr val="accent6"/>
                </a:solidFill>
              </a:rPr>
              <a:t>需要覆盖更多的验证场景</a:t>
            </a:r>
            <a:endParaRPr lang="zh-CN" altLang="en-US" sz="2800" dirty="0">
              <a:solidFill>
                <a:schemeClr val="accent6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613" t="3116" r="1230" b="5507"/>
          <a:stretch>
            <a:fillRect/>
          </a:stretch>
        </p:blipFill>
        <p:spPr>
          <a:xfrm>
            <a:off x="7076591" y="3638650"/>
            <a:ext cx="4276574" cy="2238253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/>
          </p:cNvPicPr>
          <p:nvPr/>
        </p:nvPicPr>
        <p:blipFill rotWithShape="1">
          <a:blip r:embed="rId2"/>
          <a:srcRect l="4500" t="5960" r="4696" b="5937"/>
          <a:stretch>
            <a:fillRect/>
          </a:stretch>
        </p:blipFill>
        <p:spPr>
          <a:xfrm>
            <a:off x="7076591" y="1136650"/>
            <a:ext cx="4272099" cy="2321194"/>
          </a:xfrm>
          <a:prstGeom prst="rect">
            <a:avLst/>
          </a:prstGeom>
        </p:spPr>
      </p:pic>
      <p:sp>
        <p:nvSpPr>
          <p:cNvPr id="8" name="文本框 15"/>
          <p:cNvSpPr txBox="1"/>
          <p:nvPr/>
        </p:nvSpPr>
        <p:spPr>
          <a:xfrm>
            <a:off x="0" y="6457890"/>
            <a:ext cx="12192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[1]</a:t>
            </a:r>
            <a:r>
              <a:rPr lang="en-US" altLang="zh-CN" sz="1000" b="1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The SHD Group, RISC-V Outperforming Expectations, RISC-V Summit North America 2025</a:t>
            </a:r>
            <a:br>
              <a:rPr lang="en-US" altLang="zh-CN" sz="10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</a:br>
            <a:r>
              <a:rPr lang="en-US" altLang="zh-CN" sz="10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[2] </a:t>
            </a:r>
            <a:r>
              <a:rPr lang="en-US" altLang="zh-CN" sz="1000" b="1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Generated by GPT-image-2, OpenAI</a:t>
            </a:r>
            <a:endParaRPr lang="zh-CN" altLang="en-US" sz="10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altLang="zh-CN" dirty="0"/>
              <a:t> LLM </a:t>
            </a:r>
            <a:r>
              <a:rPr lang="zh-CN" altLang="en-US" dirty="0"/>
              <a:t>引入芯片验证</a:t>
            </a:r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14069" y="2076239"/>
          <a:ext cx="10477501" cy="3181350"/>
        </p:xfrm>
        <a:graphic>
          <a:graphicData uri="http://schemas.openxmlformats.org/drawingml/2006/table">
            <a:tbl>
              <a:tblPr/>
              <a:tblGrid>
                <a:gridCol w="1714500"/>
                <a:gridCol w="3857626"/>
                <a:gridCol w="4905375"/>
              </a:tblGrid>
              <a:tr h="495300"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sz="1875" b="1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验证任务</a:t>
                      </a:r>
                      <a:endParaRPr sz="1875" b="1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lang="zh-CN" altLang="en-US" sz="1875" b="1" dirty="0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验证挑战</a:t>
                      </a:r>
                      <a:endParaRPr sz="1875" b="1" dirty="0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sz="1875" b="1" dirty="0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LLM</a:t>
                      </a:r>
                      <a:r>
                        <a:rPr lang="en-US" sz="1875" b="1" dirty="0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875" b="1" dirty="0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能力</a:t>
                      </a:r>
                      <a:endParaRPr sz="1875" b="1" dirty="0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895350"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sz="1950" b="1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基础验证</a:t>
                      </a:r>
                      <a:endParaRPr sz="1950" b="1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lang="zh-CN" altLang="en-US"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</a:t>
                      </a:r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搭环境、写用例</a:t>
                      </a:r>
                      <a:endParaRPr sz="1950" b="0" dirty="0">
                        <a:solidFill>
                          <a:srgbClr val="2025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生成环境和基础用例</a:t>
                      </a:r>
                      <a:r>
                        <a:rPr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endParaRPr sz="1950" b="0" dirty="0">
                        <a:solidFill>
                          <a:srgbClr val="2025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lang="zh-CN" altLang="en-US"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减少重复性工作，</a:t>
                      </a:r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更快</a:t>
                      </a:r>
                      <a:r>
                        <a:rPr lang="zh-CN" altLang="en-US"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开始</a:t>
                      </a:r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</a:t>
                      </a:r>
                      <a:endParaRPr sz="1950" b="0" dirty="0">
                        <a:solidFill>
                          <a:srgbClr val="2025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lang="zh-CN" altLang="en-US" sz="1950" b="1" dirty="0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提升</a:t>
                      </a:r>
                      <a:r>
                        <a:rPr sz="1950" b="1" dirty="0" err="1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覆盖</a:t>
                      </a:r>
                      <a:endParaRPr sz="1950" b="1" dirty="0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持续补充边界场景</a:t>
                      </a:r>
                      <a:endParaRPr sz="1950" b="0" dirty="0">
                        <a:solidFill>
                          <a:srgbClr val="2025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lang="zh-CN" altLang="en-US"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帮忙</a:t>
                      </a:r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梳理测试点</a:t>
                      </a:r>
                      <a:r>
                        <a:rPr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endParaRPr sz="1950" b="0" dirty="0">
                        <a:solidFill>
                          <a:srgbClr val="2025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根据执行结果补充遗漏场景</a:t>
                      </a:r>
                      <a:endParaRPr sz="1950" b="0" dirty="0">
                        <a:solidFill>
                          <a:srgbClr val="2025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sz="1950" b="1" dirty="0" err="1">
                          <a:solidFill>
                            <a:srgbClr val="4472C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问题分析</a:t>
                      </a:r>
                      <a:endParaRPr sz="1950" b="1" dirty="0">
                        <a:solidFill>
                          <a:srgbClr val="4472C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追查失败原因需要时间和经验</a:t>
                      </a:r>
                      <a:endParaRPr sz="1950" b="0" dirty="0">
                        <a:solidFill>
                          <a:srgbClr val="2025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1pPr>
                      <a:lvl2pPr marL="457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2pPr>
                      <a:lvl3pPr marL="914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3pPr>
                      <a:lvl4pPr marL="1371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4pPr>
                      <a:lvl5pPr marL="18288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5pPr>
                      <a:lvl6pPr marL="22860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6pPr>
                      <a:lvl7pPr marL="27432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7pPr>
                      <a:lvl8pPr marL="32004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8pPr>
                      <a:lvl9pPr marL="3657600" algn="l" defTabSz="914400">
                        <a:buNone/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defRPr>
                      </a:lvl9pPr>
                    </a:lstStyle>
                    <a:p>
                      <a:pPr algn="l"/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整理失败</a:t>
                      </a:r>
                      <a:r>
                        <a:rPr lang="zh-CN" altLang="en-US"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用例</a:t>
                      </a:r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与波形证据</a:t>
                      </a:r>
                      <a:r>
                        <a:rPr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endParaRPr sz="1950" b="0" dirty="0">
                        <a:solidFill>
                          <a:srgbClr val="2025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由</a:t>
                      </a:r>
                      <a:r>
                        <a:rPr lang="zh-CN" altLang="en-US"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专家</a:t>
                      </a:r>
                      <a:r>
                        <a:rPr sz="1950" b="0" dirty="0" err="1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复核、确认</a:t>
                      </a:r>
                      <a:r>
                        <a:rPr sz="1950" b="0" dirty="0">
                          <a:solidFill>
                            <a:srgbClr val="2025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Bug</a:t>
                      </a:r>
                      <a:endParaRPr sz="1950" b="0" dirty="0">
                        <a:solidFill>
                          <a:srgbClr val="20252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47625" marB="4762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基于 </a:t>
            </a:r>
            <a:r>
              <a:rPr lang="en-US" altLang="zh-CN" dirty="0">
                <a:latin typeface="+mn-ea"/>
              </a:rPr>
              <a:t>LLM </a:t>
            </a:r>
            <a:r>
              <a:rPr lang="zh-CN" altLang="en-US" dirty="0">
                <a:latin typeface="+mn-ea"/>
              </a:rPr>
              <a:t>的芯片验证挑战</a:t>
            </a:r>
            <a:endParaRPr lang="zh-CN" altLang="en-US" dirty="0"/>
          </a:p>
        </p:txBody>
      </p:sp>
      <p:graphicFrame>
        <p:nvGraphicFramePr>
          <p:cNvPr id="11" name="图示 10"/>
          <p:cNvGraphicFramePr/>
          <p:nvPr/>
        </p:nvGraphicFramePr>
        <p:xfrm>
          <a:off x="814069" y="1240464"/>
          <a:ext cx="10443742" cy="5117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挑战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zh-CN" dirty="0"/>
              <a:t>生成 </a:t>
            </a:r>
            <a:r>
              <a:rPr lang="en-US" altLang="zh-CN" dirty="0"/>
              <a:t>Verilog/SV </a:t>
            </a:r>
            <a:r>
              <a:rPr lang="zh-CN" altLang="en-US" dirty="0"/>
              <a:t>准确率不够</a:t>
            </a:r>
            <a:endParaRPr lang="zh-CN" altLang="en-US" dirty="0"/>
          </a:p>
        </p:txBody>
      </p:sp>
      <p:graphicFrame>
        <p:nvGraphicFramePr>
          <p:cNvPr id="3" name="图表 2"/>
          <p:cNvGraphicFramePr/>
          <p:nvPr/>
        </p:nvGraphicFramePr>
        <p:xfrm>
          <a:off x="814067" y="1524072"/>
          <a:ext cx="3969358" cy="2903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600" y="1644574"/>
            <a:ext cx="5804564" cy="284000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14068" y="5020467"/>
            <a:ext cx="105390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训练数据不够，导致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 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验证代码生成质量差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6442502"/>
            <a:ext cx="1219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[1] </a:t>
            </a:r>
            <a:r>
              <a:rPr lang="zh-CN" altLang="en-US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Lozhkov et al. StarCoder 2 and The Stack v2: The Next Generation. </a:t>
            </a:r>
            <a:r>
              <a:rPr lang="en-GB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  <a:hlinkClick r:id="rId3"/>
              </a:rPr>
              <a:t>https://huggingface.co/datasets/bigcode/the-stack-v2/blob/main/language_stats.csv</a:t>
            </a:r>
            <a:endParaRPr lang="en-GB" altLang="zh-CN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[2] N. Pinckney et al. Comprehensive Verilog Design Problems: A Next-Generation Benchmark Dataset for Evaluating Large Language Models and Agents on RTL Design and Verification</a:t>
            </a:r>
            <a:endParaRPr lang="zh-CN" altLang="en-US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8836" y="1585432"/>
            <a:ext cx="2047455" cy="74716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37"/>
          <p:cNvSpPr/>
          <p:nvPr/>
        </p:nvSpPr>
        <p:spPr>
          <a:xfrm>
            <a:off x="2659575" y="3513764"/>
            <a:ext cx="6887479" cy="2305879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 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擅长的语言进行硬件验证</a:t>
            </a:r>
            <a:endParaRPr lang="en-GB" altLang="zh-CN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</a:t>
            </a:r>
            <a:r>
              <a:rPr lang="en-US" altLang="zh-CN" dirty="0"/>
              <a:t>2</a:t>
            </a:r>
            <a:r>
              <a:rPr lang="zh-CN" altLang="en-US" dirty="0"/>
              <a:t>：难以完成复杂的</a:t>
            </a:r>
            <a:r>
              <a:rPr kumimoji="1" lang="zh-CN" altLang="en-US" dirty="0">
                <a:solidFill>
                  <a:srgbClr val="0070C0"/>
                </a:solidFill>
              </a:rPr>
              <a:t>端到端</a:t>
            </a:r>
            <a:r>
              <a:rPr lang="zh-CN" altLang="en-US" dirty="0"/>
              <a:t>验证任务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6133" y="5048721"/>
            <a:ext cx="10539731" cy="873775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zh-CN" altLang="en-US" dirty="0"/>
              <a:t>验证任务涉及数据量“远大于上下文”</a:t>
            </a:r>
            <a:endParaRPr lang="en-US" altLang="zh-CN" dirty="0"/>
          </a:p>
          <a:p>
            <a:pPr algn="ctr"/>
            <a:r>
              <a:rPr lang="zh-CN" altLang="en-US" dirty="0"/>
              <a:t>有限的上下文窗口导致 </a:t>
            </a:r>
            <a:r>
              <a:rPr lang="en-US" altLang="zh-CN" dirty="0"/>
              <a:t>LLM </a:t>
            </a:r>
            <a:r>
              <a:rPr lang="zh-CN" altLang="en-US" dirty="0"/>
              <a:t>更健忘</a:t>
            </a:r>
            <a:r>
              <a:rPr lang="en-US" altLang="zh-CN" dirty="0"/>
              <a:t>\</a:t>
            </a:r>
            <a:r>
              <a:rPr lang="zh-CN" altLang="en-US" dirty="0"/>
              <a:t>幻觉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Picture 2" descr="论文阅读笔记：大模型幻觉综述- BeBr2's Blo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88" y="1491272"/>
            <a:ext cx="4591381" cy="3297446"/>
          </a:xfrm>
          <a:prstGeom prst="rect">
            <a:avLst/>
          </a:prstGeom>
          <a:noFill/>
          <a:effectLst>
            <a:outerShdw blurRad="635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LLM Context Rot. The Chroma “Context Rot” study reveals… | by Cobus  Greyling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348" y="1491272"/>
            <a:ext cx="6361312" cy="3297446"/>
          </a:xfrm>
          <a:prstGeom prst="rect">
            <a:avLst/>
          </a:prstGeom>
          <a:noFill/>
          <a:effectLst>
            <a:outerShdw blurRad="635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0" y="6442502"/>
            <a:ext cx="1219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[1] Zhang Y, Li Y, Cui L, et al. 🧜 Siren’s Song in the AI Ocean: A Survey on Hallucination in Large Language Models.</a:t>
            </a:r>
            <a:endParaRPr lang="en-US" altLang="zh-CN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[2] Hong K, </a:t>
            </a:r>
            <a:r>
              <a:rPr lang="en-US" altLang="zh-CN" sz="105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Troynikov</a:t>
            </a:r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A, Huber J. Context rot: How increasing input tokens impacts </a:t>
            </a:r>
            <a:r>
              <a:rPr lang="en-US" altLang="zh-CN" sz="105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llm</a:t>
            </a:r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performance. https://research. </a:t>
            </a:r>
            <a:r>
              <a:rPr lang="en-US" altLang="zh-CN" sz="105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trychroma</a:t>
            </a:r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com/context-rot, 2025.</a:t>
            </a:r>
            <a:endParaRPr lang="en-US" altLang="zh-CN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圆角矩形 37"/>
          <p:cNvSpPr/>
          <p:nvPr/>
        </p:nvSpPr>
        <p:spPr>
          <a:xfrm>
            <a:off x="2768676" y="3616617"/>
            <a:ext cx="6654647" cy="2305879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将验证任务拆解为 </a:t>
            </a:r>
            <a:r>
              <a:rPr lang="en-US" altLang="zh-C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</a:t>
            </a: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可以处理的多个连续子任务</a:t>
            </a:r>
            <a:endParaRPr lang="en-GB" altLang="zh-CN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挑战</a:t>
            </a:r>
            <a:r>
              <a:rPr lang="en-US" altLang="zh-CN" dirty="0"/>
              <a:t>2</a:t>
            </a:r>
            <a:r>
              <a:rPr lang="zh-CN" altLang="en-US" dirty="0"/>
              <a:t>：难以完成复杂的端到端验证任务</a:t>
            </a:r>
            <a:endParaRPr lang="zh-CN" altLang="en-US" dirty="0"/>
          </a:p>
        </p:txBody>
      </p:sp>
      <p:graphicFrame>
        <p:nvGraphicFramePr>
          <p:cNvPr id="4" name="图示 3"/>
          <p:cNvGraphicFramePr/>
          <p:nvPr/>
        </p:nvGraphicFramePr>
        <p:xfrm>
          <a:off x="6096000" y="1300077"/>
          <a:ext cx="5001699" cy="4768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427454" y="1653088"/>
            <a:ext cx="3223959" cy="1741810"/>
            <a:chOff x="2053818" y="3114848"/>
            <a:chExt cx="3223959" cy="1803445"/>
          </a:xfrm>
        </p:grpSpPr>
        <p:sp>
          <p:nvSpPr>
            <p:cNvPr id="14" name="文本框 5"/>
            <p:cNvSpPr txBox="1"/>
            <p:nvPr/>
          </p:nvSpPr>
          <p:spPr>
            <a:xfrm>
              <a:off x="2117136" y="3114849"/>
              <a:ext cx="3097323" cy="1398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def </a:t>
              </a:r>
              <a:r>
                <a:rPr kumimoji="1" lang="en-US" altLang="zh-CN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test_feature_xxx</a:t>
              </a: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():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  <a:endPara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>
                <a:lnSpc>
                  <a:spcPct val="120000"/>
                </a:lnSpc>
              </a:pPr>
              <a:r>
                <a:rPr kumimoji="1"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kumimoji="1"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 Fake-pass Testcase</a:t>
              </a:r>
              <a:br>
                <a:rPr kumimoji="1" lang="en-US" altLang="zh-CN" b="1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kumimoji="1" lang="en-US" altLang="zh-CN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kumimoji="1" lang="en-US" altLang="zh-CN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assert True</a:t>
              </a:r>
              <a:endParaRPr kumimoji="1" lang="zh-CN" alt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" name="object 3"/>
            <p:cNvSpPr/>
            <p:nvPr/>
          </p:nvSpPr>
          <p:spPr>
            <a:xfrm>
              <a:off x="2053818" y="3114848"/>
              <a:ext cx="3223959" cy="1803445"/>
            </a:xfrm>
            <a:custGeom>
              <a:avLst/>
              <a:gdLst/>
              <a:ahLst/>
              <a:cxnLst/>
              <a:rect l="l" t="t" r="r" b="b"/>
              <a:pathLst>
                <a:path w="3101975" h="2619375">
                  <a:moveTo>
                    <a:pt x="76200" y="0"/>
                  </a:moveTo>
                  <a:lnTo>
                    <a:pt x="3025363" y="0"/>
                  </a:lnTo>
                  <a:lnTo>
                    <a:pt x="3055023" y="5987"/>
                  </a:lnTo>
                  <a:lnTo>
                    <a:pt x="3079245" y="22317"/>
                  </a:lnTo>
                  <a:lnTo>
                    <a:pt x="3095575" y="46537"/>
                  </a:lnTo>
                  <a:lnTo>
                    <a:pt x="3101563" y="76200"/>
                  </a:lnTo>
                  <a:lnTo>
                    <a:pt x="3101563" y="2190038"/>
                  </a:lnTo>
                  <a:lnTo>
                    <a:pt x="3063152" y="2179551"/>
                  </a:lnTo>
                  <a:lnTo>
                    <a:pt x="3024400" y="2170559"/>
                  </a:lnTo>
                  <a:lnTo>
                    <a:pt x="2985319" y="2163015"/>
                  </a:lnTo>
                  <a:lnTo>
                    <a:pt x="2945918" y="2156872"/>
                  </a:lnTo>
                  <a:lnTo>
                    <a:pt x="2906205" y="2152085"/>
                  </a:lnTo>
                  <a:lnTo>
                    <a:pt x="2866191" y="2148607"/>
                  </a:lnTo>
                  <a:lnTo>
                    <a:pt x="2825885" y="2146391"/>
                  </a:lnTo>
                  <a:lnTo>
                    <a:pt x="2785297" y="2145391"/>
                  </a:lnTo>
                  <a:lnTo>
                    <a:pt x="2744436" y="2145561"/>
                  </a:lnTo>
                  <a:lnTo>
                    <a:pt x="2703312" y="2146854"/>
                  </a:lnTo>
                  <a:lnTo>
                    <a:pt x="2661935" y="2149224"/>
                  </a:lnTo>
                  <a:lnTo>
                    <a:pt x="2620314" y="2152623"/>
                  </a:lnTo>
                  <a:lnTo>
                    <a:pt x="2578458" y="2157007"/>
                  </a:lnTo>
                  <a:lnTo>
                    <a:pt x="2536378" y="2162328"/>
                  </a:lnTo>
                  <a:lnTo>
                    <a:pt x="2494082" y="2168540"/>
                  </a:lnTo>
                  <a:lnTo>
                    <a:pt x="2451580" y="2175596"/>
                  </a:lnTo>
                  <a:lnTo>
                    <a:pt x="2408883" y="2183450"/>
                  </a:lnTo>
                  <a:lnTo>
                    <a:pt x="2365998" y="2192056"/>
                  </a:lnTo>
                  <a:lnTo>
                    <a:pt x="2322937" y="2201367"/>
                  </a:lnTo>
                  <a:lnTo>
                    <a:pt x="2279708" y="2211336"/>
                  </a:lnTo>
                  <a:lnTo>
                    <a:pt x="2236322" y="2221918"/>
                  </a:lnTo>
                  <a:lnTo>
                    <a:pt x="2192787" y="2233066"/>
                  </a:lnTo>
                  <a:lnTo>
                    <a:pt x="2149114" y="2244733"/>
                  </a:lnTo>
                  <a:lnTo>
                    <a:pt x="2105311" y="2256873"/>
                  </a:lnTo>
                  <a:lnTo>
                    <a:pt x="2061389" y="2269439"/>
                  </a:lnTo>
                  <a:lnTo>
                    <a:pt x="2017356" y="2282385"/>
                  </a:lnTo>
                  <a:lnTo>
                    <a:pt x="1973224" y="2295665"/>
                  </a:lnTo>
                  <a:lnTo>
                    <a:pt x="1929000" y="2309232"/>
                  </a:lnTo>
                  <a:lnTo>
                    <a:pt x="1884695" y="2323039"/>
                  </a:lnTo>
                  <a:lnTo>
                    <a:pt x="1840318" y="2337041"/>
                  </a:lnTo>
                  <a:lnTo>
                    <a:pt x="1795879" y="2351191"/>
                  </a:lnTo>
                  <a:lnTo>
                    <a:pt x="1751388" y="2365442"/>
                  </a:lnTo>
                  <a:lnTo>
                    <a:pt x="1706853" y="2379747"/>
                  </a:lnTo>
                  <a:lnTo>
                    <a:pt x="1662285" y="2394062"/>
                  </a:lnTo>
                  <a:lnTo>
                    <a:pt x="1617693" y="2408338"/>
                  </a:lnTo>
                  <a:lnTo>
                    <a:pt x="1573087" y="2422530"/>
                  </a:lnTo>
                  <a:lnTo>
                    <a:pt x="1528476" y="2436591"/>
                  </a:lnTo>
                  <a:lnTo>
                    <a:pt x="1483869" y="2450474"/>
                  </a:lnTo>
                  <a:lnTo>
                    <a:pt x="1439277" y="2464134"/>
                  </a:lnTo>
                  <a:lnTo>
                    <a:pt x="1394709" y="2477523"/>
                  </a:lnTo>
                  <a:lnTo>
                    <a:pt x="1350175" y="2490596"/>
                  </a:lnTo>
                  <a:lnTo>
                    <a:pt x="1305683" y="2503306"/>
                  </a:lnTo>
                  <a:lnTo>
                    <a:pt x="1261244" y="2515606"/>
                  </a:lnTo>
                  <a:lnTo>
                    <a:pt x="1216868" y="2527450"/>
                  </a:lnTo>
                  <a:lnTo>
                    <a:pt x="1172563" y="2538792"/>
                  </a:lnTo>
                  <a:lnTo>
                    <a:pt x="1128339" y="2549585"/>
                  </a:lnTo>
                  <a:lnTo>
                    <a:pt x="1084206" y="2559782"/>
                  </a:lnTo>
                  <a:lnTo>
                    <a:pt x="1040174" y="2569338"/>
                  </a:lnTo>
                  <a:lnTo>
                    <a:pt x="996252" y="2578206"/>
                  </a:lnTo>
                  <a:lnTo>
                    <a:pt x="952449" y="2586338"/>
                  </a:lnTo>
                  <a:lnTo>
                    <a:pt x="908775" y="2593690"/>
                  </a:lnTo>
                  <a:lnTo>
                    <a:pt x="865241" y="2600214"/>
                  </a:lnTo>
                  <a:lnTo>
                    <a:pt x="821854" y="2605864"/>
                  </a:lnTo>
                  <a:lnTo>
                    <a:pt x="778625" y="2610594"/>
                  </a:lnTo>
                  <a:lnTo>
                    <a:pt x="735564" y="2614357"/>
                  </a:lnTo>
                  <a:lnTo>
                    <a:pt x="692680" y="2617106"/>
                  </a:lnTo>
                  <a:lnTo>
                    <a:pt x="649982" y="2618796"/>
                  </a:lnTo>
                  <a:lnTo>
                    <a:pt x="607481" y="2619379"/>
                  </a:lnTo>
                  <a:lnTo>
                    <a:pt x="565185" y="2618810"/>
                  </a:lnTo>
                  <a:lnTo>
                    <a:pt x="523104" y="2617041"/>
                  </a:lnTo>
                  <a:lnTo>
                    <a:pt x="481249" y="2614027"/>
                  </a:lnTo>
                  <a:lnTo>
                    <a:pt x="439627" y="2609721"/>
                  </a:lnTo>
                  <a:lnTo>
                    <a:pt x="398250" y="2604077"/>
                  </a:lnTo>
                  <a:lnTo>
                    <a:pt x="357126" y="2597048"/>
                  </a:lnTo>
                  <a:lnTo>
                    <a:pt x="316265" y="2588587"/>
                  </a:lnTo>
                  <a:lnTo>
                    <a:pt x="275677" y="2578648"/>
                  </a:lnTo>
                  <a:lnTo>
                    <a:pt x="235372" y="2567186"/>
                  </a:lnTo>
                  <a:lnTo>
                    <a:pt x="195358" y="2554152"/>
                  </a:lnTo>
                  <a:lnTo>
                    <a:pt x="155645" y="2539502"/>
                  </a:lnTo>
                  <a:lnTo>
                    <a:pt x="116243" y="2523188"/>
                  </a:lnTo>
                  <a:lnTo>
                    <a:pt x="77162" y="2505164"/>
                  </a:lnTo>
                  <a:lnTo>
                    <a:pt x="38411" y="2485383"/>
                  </a:lnTo>
                  <a:lnTo>
                    <a:pt x="0" y="2463800"/>
                  </a:lnTo>
                  <a:lnTo>
                    <a:pt x="0" y="76200"/>
                  </a:lnTo>
                  <a:lnTo>
                    <a:pt x="5988" y="46537"/>
                  </a:lnTo>
                  <a:lnTo>
                    <a:pt x="22318" y="22317"/>
                  </a:lnTo>
                  <a:lnTo>
                    <a:pt x="46539" y="5987"/>
                  </a:lnTo>
                  <a:lnTo>
                    <a:pt x="7620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dirty="0"/>
            </a:p>
          </p:txBody>
        </p:sp>
      </p:grpSp>
      <p:cxnSp>
        <p:nvCxnSpPr>
          <p:cNvPr id="7" name="直线箭头连接符 27"/>
          <p:cNvCxnSpPr/>
          <p:nvPr/>
        </p:nvCxnSpPr>
        <p:spPr>
          <a:xfrm flipH="1" flipV="1">
            <a:off x="4651413" y="2368632"/>
            <a:ext cx="2243988" cy="2133363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3"/>
          <p:cNvSpPr/>
          <p:nvPr/>
        </p:nvSpPr>
        <p:spPr>
          <a:xfrm>
            <a:off x="1427454" y="4181248"/>
            <a:ext cx="3223959" cy="1570461"/>
          </a:xfrm>
          <a:custGeom>
            <a:avLst/>
            <a:gdLst/>
            <a:ahLst/>
            <a:cxnLst/>
            <a:rect l="l" t="t" r="r" b="b"/>
            <a:pathLst>
              <a:path w="3101975" h="2619375">
                <a:moveTo>
                  <a:pt x="76200" y="0"/>
                </a:moveTo>
                <a:lnTo>
                  <a:pt x="3025363" y="0"/>
                </a:lnTo>
                <a:lnTo>
                  <a:pt x="3055023" y="5987"/>
                </a:lnTo>
                <a:lnTo>
                  <a:pt x="3079245" y="22317"/>
                </a:lnTo>
                <a:lnTo>
                  <a:pt x="3095575" y="46537"/>
                </a:lnTo>
                <a:lnTo>
                  <a:pt x="3101563" y="76200"/>
                </a:lnTo>
                <a:lnTo>
                  <a:pt x="3101563" y="2190038"/>
                </a:lnTo>
                <a:lnTo>
                  <a:pt x="3063152" y="2179551"/>
                </a:lnTo>
                <a:lnTo>
                  <a:pt x="3024400" y="2170559"/>
                </a:lnTo>
                <a:lnTo>
                  <a:pt x="2985319" y="2163015"/>
                </a:lnTo>
                <a:lnTo>
                  <a:pt x="2945918" y="2156872"/>
                </a:lnTo>
                <a:lnTo>
                  <a:pt x="2906205" y="2152085"/>
                </a:lnTo>
                <a:lnTo>
                  <a:pt x="2866191" y="2148607"/>
                </a:lnTo>
                <a:lnTo>
                  <a:pt x="2825885" y="2146391"/>
                </a:lnTo>
                <a:lnTo>
                  <a:pt x="2785297" y="2145391"/>
                </a:lnTo>
                <a:lnTo>
                  <a:pt x="2744436" y="2145561"/>
                </a:lnTo>
                <a:lnTo>
                  <a:pt x="2703312" y="2146854"/>
                </a:lnTo>
                <a:lnTo>
                  <a:pt x="2661935" y="2149224"/>
                </a:lnTo>
                <a:lnTo>
                  <a:pt x="2620314" y="2152623"/>
                </a:lnTo>
                <a:lnTo>
                  <a:pt x="2578458" y="2157007"/>
                </a:lnTo>
                <a:lnTo>
                  <a:pt x="2536378" y="2162328"/>
                </a:lnTo>
                <a:lnTo>
                  <a:pt x="2494082" y="2168540"/>
                </a:lnTo>
                <a:lnTo>
                  <a:pt x="2451580" y="2175596"/>
                </a:lnTo>
                <a:lnTo>
                  <a:pt x="2408883" y="2183450"/>
                </a:lnTo>
                <a:lnTo>
                  <a:pt x="2365998" y="2192056"/>
                </a:lnTo>
                <a:lnTo>
                  <a:pt x="2322937" y="2201367"/>
                </a:lnTo>
                <a:lnTo>
                  <a:pt x="2279708" y="2211336"/>
                </a:lnTo>
                <a:lnTo>
                  <a:pt x="2236322" y="2221918"/>
                </a:lnTo>
                <a:lnTo>
                  <a:pt x="2192787" y="2233066"/>
                </a:lnTo>
                <a:lnTo>
                  <a:pt x="2149114" y="2244733"/>
                </a:lnTo>
                <a:lnTo>
                  <a:pt x="2105311" y="2256873"/>
                </a:lnTo>
                <a:lnTo>
                  <a:pt x="2061389" y="2269439"/>
                </a:lnTo>
                <a:lnTo>
                  <a:pt x="2017356" y="2282385"/>
                </a:lnTo>
                <a:lnTo>
                  <a:pt x="1973224" y="2295665"/>
                </a:lnTo>
                <a:lnTo>
                  <a:pt x="1929000" y="2309232"/>
                </a:lnTo>
                <a:lnTo>
                  <a:pt x="1884695" y="2323039"/>
                </a:lnTo>
                <a:lnTo>
                  <a:pt x="1840318" y="2337041"/>
                </a:lnTo>
                <a:lnTo>
                  <a:pt x="1795879" y="2351191"/>
                </a:lnTo>
                <a:lnTo>
                  <a:pt x="1751388" y="2365442"/>
                </a:lnTo>
                <a:lnTo>
                  <a:pt x="1706853" y="2379747"/>
                </a:lnTo>
                <a:lnTo>
                  <a:pt x="1662285" y="2394062"/>
                </a:lnTo>
                <a:lnTo>
                  <a:pt x="1617693" y="2408338"/>
                </a:lnTo>
                <a:lnTo>
                  <a:pt x="1573087" y="2422530"/>
                </a:lnTo>
                <a:lnTo>
                  <a:pt x="1528476" y="2436591"/>
                </a:lnTo>
                <a:lnTo>
                  <a:pt x="1483869" y="2450474"/>
                </a:lnTo>
                <a:lnTo>
                  <a:pt x="1439277" y="2464134"/>
                </a:lnTo>
                <a:lnTo>
                  <a:pt x="1394709" y="2477523"/>
                </a:lnTo>
                <a:lnTo>
                  <a:pt x="1350175" y="2490596"/>
                </a:lnTo>
                <a:lnTo>
                  <a:pt x="1305683" y="2503306"/>
                </a:lnTo>
                <a:lnTo>
                  <a:pt x="1261244" y="2515606"/>
                </a:lnTo>
                <a:lnTo>
                  <a:pt x="1216868" y="2527450"/>
                </a:lnTo>
                <a:lnTo>
                  <a:pt x="1172563" y="2538792"/>
                </a:lnTo>
                <a:lnTo>
                  <a:pt x="1128339" y="2549585"/>
                </a:lnTo>
                <a:lnTo>
                  <a:pt x="1084206" y="2559782"/>
                </a:lnTo>
                <a:lnTo>
                  <a:pt x="1040174" y="2569338"/>
                </a:lnTo>
                <a:lnTo>
                  <a:pt x="996252" y="2578206"/>
                </a:lnTo>
                <a:lnTo>
                  <a:pt x="952449" y="2586338"/>
                </a:lnTo>
                <a:lnTo>
                  <a:pt x="908775" y="2593690"/>
                </a:lnTo>
                <a:lnTo>
                  <a:pt x="865241" y="2600214"/>
                </a:lnTo>
                <a:lnTo>
                  <a:pt x="821854" y="2605864"/>
                </a:lnTo>
                <a:lnTo>
                  <a:pt x="778625" y="2610594"/>
                </a:lnTo>
                <a:lnTo>
                  <a:pt x="735564" y="2614357"/>
                </a:lnTo>
                <a:lnTo>
                  <a:pt x="692680" y="2617106"/>
                </a:lnTo>
                <a:lnTo>
                  <a:pt x="649982" y="2618796"/>
                </a:lnTo>
                <a:lnTo>
                  <a:pt x="607481" y="2619379"/>
                </a:lnTo>
                <a:lnTo>
                  <a:pt x="565185" y="2618810"/>
                </a:lnTo>
                <a:lnTo>
                  <a:pt x="523104" y="2617041"/>
                </a:lnTo>
                <a:lnTo>
                  <a:pt x="481249" y="2614027"/>
                </a:lnTo>
                <a:lnTo>
                  <a:pt x="439627" y="2609721"/>
                </a:lnTo>
                <a:lnTo>
                  <a:pt x="398250" y="2604077"/>
                </a:lnTo>
                <a:lnTo>
                  <a:pt x="357126" y="2597048"/>
                </a:lnTo>
                <a:lnTo>
                  <a:pt x="316265" y="2588587"/>
                </a:lnTo>
                <a:lnTo>
                  <a:pt x="275677" y="2578648"/>
                </a:lnTo>
                <a:lnTo>
                  <a:pt x="235372" y="2567186"/>
                </a:lnTo>
                <a:lnTo>
                  <a:pt x="195358" y="2554152"/>
                </a:lnTo>
                <a:lnTo>
                  <a:pt x="155645" y="2539502"/>
                </a:lnTo>
                <a:lnTo>
                  <a:pt x="116243" y="2523188"/>
                </a:lnTo>
                <a:lnTo>
                  <a:pt x="77162" y="2505164"/>
                </a:lnTo>
                <a:lnTo>
                  <a:pt x="38411" y="2485383"/>
                </a:lnTo>
                <a:lnTo>
                  <a:pt x="0" y="2463800"/>
                </a:lnTo>
                <a:lnTo>
                  <a:pt x="0" y="76200"/>
                </a:lnTo>
                <a:lnTo>
                  <a:pt x="5988" y="46537"/>
                </a:lnTo>
                <a:lnTo>
                  <a:pt x="22318" y="22317"/>
                </a:lnTo>
                <a:lnTo>
                  <a:pt x="46539" y="5987"/>
                </a:lnTo>
                <a:lnTo>
                  <a:pt x="7620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</p:txBody>
      </p:sp>
      <p:sp>
        <p:nvSpPr>
          <p:cNvPr id="9" name="文本框 31"/>
          <p:cNvSpPr txBox="1"/>
          <p:nvPr/>
        </p:nvSpPr>
        <p:spPr>
          <a:xfrm>
            <a:off x="1490773" y="4195878"/>
            <a:ext cx="2970685" cy="1102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2000" b="1" dirty="0">
                <a:latin typeface="Avenir Book" panose="02000503020000020003" pitchFamily="2" charset="0"/>
                <a:cs typeface="Calibri" panose="020F0502020204030204" pitchFamily="34" charset="0"/>
              </a:rPr>
              <a:t>Test Report:</a:t>
            </a:r>
            <a:endParaRPr kumimoji="1" lang="en-US" altLang="zh-CN" sz="2000" b="1" dirty="0">
              <a:latin typeface="Avenir Book" panose="02000503020000020003" pitchFamily="2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test_feature_xxx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1" lang="en-US" altLang="zh-CN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</a:t>
            </a:r>
            <a:endParaRPr kumimoji="1" lang="zh-CN" alt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直线箭头连接符 33"/>
          <p:cNvCxnSpPr/>
          <p:nvPr/>
        </p:nvCxnSpPr>
        <p:spPr>
          <a:xfrm flipH="1" flipV="1">
            <a:off x="4651413" y="4909963"/>
            <a:ext cx="2243988" cy="798288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2547964" y="4540631"/>
            <a:ext cx="2548213" cy="401214"/>
            <a:chOff x="3193234" y="4543991"/>
            <a:chExt cx="2548213" cy="401214"/>
          </a:xfrm>
        </p:grpSpPr>
        <p:sp>
          <p:nvSpPr>
            <p:cNvPr id="12" name="二十四角星 35"/>
            <p:cNvSpPr/>
            <p:nvPr/>
          </p:nvSpPr>
          <p:spPr>
            <a:xfrm>
              <a:off x="3193234" y="4548517"/>
              <a:ext cx="2548213" cy="396688"/>
            </a:xfrm>
            <a:prstGeom prst="star24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3" name="文本框 34"/>
            <p:cNvSpPr txBox="1"/>
            <p:nvPr/>
          </p:nvSpPr>
          <p:spPr>
            <a:xfrm>
              <a:off x="3574761" y="4543991"/>
              <a:ext cx="18201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en-US" altLang="zh-CN" b="1" i="1" dirty="0">
                  <a:solidFill>
                    <a:schemeClr val="bg1"/>
                  </a:solidFill>
                </a:rPr>
                <a:t>Unreliable Result</a:t>
              </a:r>
              <a:endParaRPr kumimoji="1" lang="zh-CN" altLang="en-US" b="1" i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8" name="直线箭头连接符 27"/>
          <p:cNvCxnSpPr/>
          <p:nvPr/>
        </p:nvCxnSpPr>
        <p:spPr>
          <a:xfrm>
            <a:off x="2135877" y="3394898"/>
            <a:ext cx="0" cy="786350"/>
          </a:xfrm>
          <a:prstGeom prst="straightConnector1">
            <a:avLst/>
          </a:prstGeom>
          <a:ln w="25400">
            <a:solidFill>
              <a:srgbClr val="C0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425904" y="342151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错误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传播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37"/>
          <p:cNvSpPr/>
          <p:nvPr/>
        </p:nvSpPr>
        <p:spPr>
          <a:xfrm>
            <a:off x="2756290" y="3510291"/>
            <a:ext cx="6654647" cy="2305879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对子任务的输出进行约束和验证</a:t>
            </a:r>
            <a:endParaRPr lang="en-GB" altLang="zh-CN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6289" y="3738809"/>
            <a:ext cx="6654647" cy="238400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</a:t>
            </a:r>
            <a:r>
              <a:rPr lang="en-US" altLang="zh-CN" dirty="0"/>
              <a:t>3</a:t>
            </a:r>
            <a:r>
              <a:rPr lang="zh-CN" altLang="en-US" dirty="0"/>
              <a:t>：难以保持验证全程的一致性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4069" y="1136650"/>
            <a:ext cx="10539731" cy="263799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accent6"/>
                </a:solidFill>
              </a:rPr>
              <a:t>验证一致性：</a:t>
            </a:r>
            <a:endParaRPr lang="en-US" altLang="zh-CN" b="1" dirty="0">
              <a:solidFill>
                <a:srgbClr val="00B0F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dirty="0"/>
              <a:t>验证目标、验证实现与验证结果在逻辑与行为层面保持统一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逻辑统一：规格、覆盖率模型、测试实现中保持一致语义</a:t>
            </a:r>
            <a:endParaRPr lang="zh-CN" altLang="en-US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行为统一：测试执行能正确激发并观测预期行为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二者共同构成验证闭环的基础，确保结果可追溯、可解释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0" y="6122818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由于 </a:t>
            </a:r>
            <a:r>
              <a:rPr lang="en-US" altLang="zh-CN" sz="2800" dirty="0"/>
              <a:t>LLM </a:t>
            </a:r>
            <a:r>
              <a:rPr lang="zh-CN" altLang="en-US" sz="2800" dirty="0"/>
              <a:t>本身上下文、训练方法、随机性等原因，</a:t>
            </a:r>
            <a:r>
              <a:rPr lang="zh-CN" altLang="en-US" sz="2800" dirty="0">
                <a:solidFill>
                  <a:schemeClr val="accent6"/>
                </a:solidFill>
              </a:rPr>
              <a:t>验证一致性差</a:t>
            </a:r>
            <a:endParaRPr lang="zh-CN" altLang="en-US" sz="2800" dirty="0">
              <a:solidFill>
                <a:schemeClr val="accent6"/>
              </a:solidFill>
            </a:endParaRPr>
          </a:p>
        </p:txBody>
      </p:sp>
      <p:sp>
        <p:nvSpPr>
          <p:cNvPr id="9" name="圆角矩形 37"/>
          <p:cNvSpPr/>
          <p:nvPr/>
        </p:nvSpPr>
        <p:spPr>
          <a:xfrm>
            <a:off x="2756290" y="3510291"/>
            <a:ext cx="6654647" cy="2305879"/>
          </a:xfrm>
          <a:prstGeom prst="roundRect">
            <a:avLst>
              <a:gd name="adj" fmla="val 11483"/>
            </a:avLst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3600" b="1" dirty="0">
                <a:solidFill>
                  <a:schemeClr val="accent1"/>
                </a:solidFill>
              </a:rPr>
              <a:t>构建完整追溯链以保证一致性</a:t>
            </a:r>
            <a:endParaRPr lang="en-GB" altLang="zh-CN" sz="36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相关工作：</a:t>
            </a:r>
            <a:r>
              <a:rPr lang="en-US" altLang="zh-CN" dirty="0"/>
              <a:t>LLM for Verification</a:t>
            </a:r>
            <a:endParaRPr lang="zh-CN" altLang="en-US" dirty="0"/>
          </a:p>
        </p:txBody>
      </p:sp>
      <p:sp>
        <p:nvSpPr>
          <p:cNvPr id="4" name="Shape 3"/>
          <p:cNvSpPr/>
          <p:nvPr/>
        </p:nvSpPr>
        <p:spPr>
          <a:xfrm>
            <a:off x="991726" y="1669392"/>
            <a:ext cx="3204000" cy="530352"/>
          </a:xfrm>
          <a:prstGeom prst="roundRect">
            <a:avLst>
              <a:gd name="adj" fmla="val 10345"/>
            </a:avLst>
          </a:prstGeom>
          <a:solidFill>
            <a:srgbClr val="309B8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 tIns="468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1. SV /</a:t>
            </a:r>
            <a:r>
              <a:rPr lang="zh-CN" altLang="en-US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UVM-based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5" name="Shape 4"/>
          <p:cNvSpPr/>
          <p:nvPr/>
        </p:nvSpPr>
        <p:spPr>
          <a:xfrm>
            <a:off x="991726" y="2194146"/>
            <a:ext cx="3204000" cy="2994462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6" name="Text 7"/>
          <p:cNvSpPr/>
          <p:nvPr/>
        </p:nvSpPr>
        <p:spPr>
          <a:xfrm>
            <a:off x="1446154" y="2442060"/>
            <a:ext cx="2295144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06184A"/>
                </a:solidFill>
                <a:ea typeface="Aptos" pitchFamily="34" charset="-122"/>
                <a:cs typeface="Aptos" pitchFamily="34" charset="-120"/>
              </a:rPr>
              <a:t>UVM², MAVF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7" name="Shape 8"/>
          <p:cNvSpPr/>
          <p:nvPr/>
        </p:nvSpPr>
        <p:spPr>
          <a:xfrm>
            <a:off x="1446154" y="3045553"/>
            <a:ext cx="2295144" cy="0"/>
          </a:xfrm>
          <a:prstGeom prst="lin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grpSp>
        <p:nvGrpSpPr>
          <p:cNvPr id="8" name="组合 7"/>
          <p:cNvGrpSpPr/>
          <p:nvPr/>
        </p:nvGrpSpPr>
        <p:grpSpPr>
          <a:xfrm>
            <a:off x="1192896" y="3145196"/>
            <a:ext cx="2849287" cy="632133"/>
            <a:chOff x="1346195" y="2770345"/>
            <a:chExt cx="2849287" cy="632133"/>
          </a:xfrm>
        </p:grpSpPr>
        <p:sp>
          <p:nvSpPr>
            <p:cNvPr id="38" name="Shape 10"/>
            <p:cNvSpPr/>
            <p:nvPr/>
          </p:nvSpPr>
          <p:spPr>
            <a:xfrm>
              <a:off x="1346195" y="2835017"/>
              <a:ext cx="91440" cy="91440"/>
            </a:xfrm>
            <a:prstGeom prst="ellipse">
              <a:avLst/>
            </a:prstGeom>
            <a:solidFill>
              <a:srgbClr val="309B8E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</p:sp>
        <p:sp>
          <p:nvSpPr>
            <p:cNvPr id="39" name="Text 11"/>
            <p:cNvSpPr/>
            <p:nvPr/>
          </p:nvSpPr>
          <p:spPr>
            <a:xfrm>
              <a:off x="1510786" y="2770345"/>
              <a:ext cx="2684696" cy="632133"/>
            </a:xfrm>
            <a:prstGeom prst="rect">
              <a:avLst/>
            </a:prstGeom>
            <a:noFill/>
          </p:spPr>
          <p:txBody>
            <a:bodyPr wrap="square" lIns="381" tIns="381" rIns="381" bIns="381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400" dirty="0"/>
                <a:t>生成 </a:t>
              </a:r>
              <a:r>
                <a:rPr lang="zh-CN" altLang="zh-CN" sz="1400" dirty="0">
                  <a:solidFill>
                    <a:srgbClr val="FF0000"/>
                  </a:solidFill>
                </a:rPr>
                <a:t>UVM 验证环境</a:t>
              </a:r>
              <a:r>
                <a:rPr lang="zh-CN" altLang="zh-CN" sz="1400" dirty="0"/>
                <a:t>，并</a:t>
              </a:r>
              <a:r>
                <a:rPr lang="zh-CN" altLang="en-US" sz="1400" dirty="0"/>
                <a:t>基于</a:t>
              </a:r>
              <a:r>
                <a:rPr lang="zh-CN" altLang="zh-CN" sz="1400" dirty="0"/>
                <a:t>覆盖率反馈进行改进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192896" y="3682287"/>
            <a:ext cx="2848714" cy="691224"/>
            <a:chOff x="1346195" y="3290070"/>
            <a:chExt cx="2848714" cy="691224"/>
          </a:xfrm>
        </p:grpSpPr>
        <p:sp>
          <p:nvSpPr>
            <p:cNvPr id="36" name="Shape 12"/>
            <p:cNvSpPr/>
            <p:nvPr/>
          </p:nvSpPr>
          <p:spPr>
            <a:xfrm>
              <a:off x="1346195" y="3350574"/>
              <a:ext cx="91440" cy="91440"/>
            </a:xfrm>
            <a:prstGeom prst="ellipse">
              <a:avLst/>
            </a:prstGeom>
            <a:solidFill>
              <a:srgbClr val="309B8E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</p:sp>
        <p:sp>
          <p:nvSpPr>
            <p:cNvPr id="37" name="Text 13"/>
            <p:cNvSpPr/>
            <p:nvPr/>
          </p:nvSpPr>
          <p:spPr>
            <a:xfrm>
              <a:off x="1510214" y="3290070"/>
              <a:ext cx="2684695" cy="691224"/>
            </a:xfrm>
            <a:prstGeom prst="rect">
              <a:avLst/>
            </a:prstGeom>
            <a:noFill/>
          </p:spPr>
          <p:txBody>
            <a:bodyPr wrap="square" lIns="381" tIns="381" rIns="381" bIns="381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400" dirty="0"/>
                <a:t>对于 UVM²，仅依靠</a:t>
              </a:r>
              <a:r>
                <a:rPr lang="zh-CN" altLang="zh-CN" sz="1400" dirty="0">
                  <a:solidFill>
                    <a:srgbClr val="FF0000"/>
                  </a:solidFill>
                </a:rPr>
                <a:t>提示词约束</a:t>
              </a:r>
              <a:r>
                <a:rPr lang="zh-CN" altLang="en-US" sz="1400" dirty="0"/>
                <a:t>，</a:t>
              </a:r>
              <a:r>
                <a:rPr lang="zh-CN" altLang="zh-CN" sz="1400" dirty="0"/>
                <a:t>仍不充分。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92896" y="4278470"/>
            <a:ext cx="2838811" cy="652202"/>
            <a:chOff x="1356098" y="3815819"/>
            <a:chExt cx="2838811" cy="652202"/>
          </a:xfrm>
        </p:grpSpPr>
        <p:sp>
          <p:nvSpPr>
            <p:cNvPr id="34" name="Shape 14"/>
            <p:cNvSpPr/>
            <p:nvPr/>
          </p:nvSpPr>
          <p:spPr>
            <a:xfrm>
              <a:off x="1356098" y="3884727"/>
              <a:ext cx="91440" cy="82458"/>
            </a:xfrm>
            <a:prstGeom prst="ellipse">
              <a:avLst/>
            </a:prstGeom>
            <a:solidFill>
              <a:srgbClr val="309B8E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</p:sp>
        <p:sp>
          <p:nvSpPr>
            <p:cNvPr id="35" name="Text 15"/>
            <p:cNvSpPr/>
            <p:nvPr/>
          </p:nvSpPr>
          <p:spPr>
            <a:xfrm>
              <a:off x="1510215" y="3815819"/>
              <a:ext cx="2684694" cy="652202"/>
            </a:xfrm>
            <a:prstGeom prst="rect">
              <a:avLst/>
            </a:prstGeom>
            <a:noFill/>
          </p:spPr>
          <p:txBody>
            <a:bodyPr wrap="square" lIns="381" tIns="381" rIns="381" bIns="381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400" dirty="0"/>
                <a:t>仍需</a:t>
              </a:r>
              <a:r>
                <a:rPr lang="zh-CN" altLang="zh-CN" sz="1400" dirty="0">
                  <a:solidFill>
                    <a:srgbClr val="FF0000"/>
                  </a:solidFill>
                </a:rPr>
                <a:t>人工干预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Shape 16"/>
          <p:cNvSpPr/>
          <p:nvPr/>
        </p:nvSpPr>
        <p:spPr>
          <a:xfrm>
            <a:off x="4493150" y="1669392"/>
            <a:ext cx="3204000" cy="530352"/>
          </a:xfrm>
          <a:prstGeom prst="roundRect">
            <a:avLst>
              <a:gd name="adj" fmla="val 10345"/>
            </a:avLst>
          </a:prstGeom>
          <a:solidFill>
            <a:srgbClr val="2F5DB4"/>
          </a:solidFill>
          <a:ln w="12700">
            <a:solidFill>
              <a:srgbClr val="4184D9">
                <a:alpha val="0"/>
              </a:srgbClr>
            </a:solidFill>
            <a:prstDash val="solid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altLang="zh-CN" b="1" dirty="0">
                <a:solidFill>
                  <a:schemeClr val="bg1"/>
                </a:solidFill>
              </a:rPr>
              <a:t>2. Python-based</a:t>
            </a:r>
            <a:endParaRPr lang="en-GB" altLang="zh-CN" b="1" dirty="0">
              <a:solidFill>
                <a:schemeClr val="bg1"/>
              </a:solidFill>
            </a:endParaRPr>
          </a:p>
        </p:txBody>
      </p:sp>
      <p:sp>
        <p:nvSpPr>
          <p:cNvPr id="12" name="Shape 17"/>
          <p:cNvSpPr/>
          <p:nvPr/>
        </p:nvSpPr>
        <p:spPr>
          <a:xfrm>
            <a:off x="4493150" y="2194146"/>
            <a:ext cx="3204000" cy="2994462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13" name="Text 20"/>
          <p:cNvSpPr/>
          <p:nvPr/>
        </p:nvSpPr>
        <p:spPr>
          <a:xfrm>
            <a:off x="4947578" y="2440647"/>
            <a:ext cx="2295144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06184A"/>
                </a:solidFill>
                <a:ea typeface="Aptos" pitchFamily="34" charset="-122"/>
                <a:cs typeface="Aptos" pitchFamily="34" charset="-120"/>
              </a:rPr>
              <a:t>PRO-V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4" name="Shape 21"/>
          <p:cNvSpPr/>
          <p:nvPr/>
        </p:nvSpPr>
        <p:spPr>
          <a:xfrm>
            <a:off x="4947578" y="3045553"/>
            <a:ext cx="2295144" cy="0"/>
          </a:xfrm>
          <a:prstGeom prst="lin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grpSp>
        <p:nvGrpSpPr>
          <p:cNvPr id="15" name="组合 14"/>
          <p:cNvGrpSpPr/>
          <p:nvPr/>
        </p:nvGrpSpPr>
        <p:grpSpPr>
          <a:xfrm>
            <a:off x="4685713" y="3145196"/>
            <a:ext cx="3001815" cy="702278"/>
            <a:chOff x="4839012" y="2770345"/>
            <a:chExt cx="3001815" cy="702278"/>
          </a:xfrm>
        </p:grpSpPr>
        <p:sp>
          <p:nvSpPr>
            <p:cNvPr id="32" name="Shape 23"/>
            <p:cNvSpPr/>
            <p:nvPr/>
          </p:nvSpPr>
          <p:spPr>
            <a:xfrm>
              <a:off x="4839012" y="2835017"/>
              <a:ext cx="91440" cy="91440"/>
            </a:xfrm>
            <a:prstGeom prst="ellipse">
              <a:avLst/>
            </a:prstGeom>
            <a:solidFill>
              <a:srgbClr val="2F5DB4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</p:sp>
        <p:sp>
          <p:nvSpPr>
            <p:cNvPr id="33" name="Text 24"/>
            <p:cNvSpPr/>
            <p:nvPr/>
          </p:nvSpPr>
          <p:spPr>
            <a:xfrm>
              <a:off x="5012208" y="2770345"/>
              <a:ext cx="2828619" cy="702278"/>
            </a:xfrm>
            <a:prstGeom prst="rect">
              <a:avLst/>
            </a:prstGeom>
            <a:noFill/>
          </p:spPr>
          <p:txBody>
            <a:bodyPr wrap="square" lIns="381" tIns="381" rIns="381" bIns="381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400" dirty="0"/>
                <a:t>使用 Python 生成代码，有助于构建可运行的验证环境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688034" y="3752348"/>
            <a:ext cx="2843660" cy="457200"/>
            <a:chOff x="4841333" y="3356802"/>
            <a:chExt cx="2843660" cy="457200"/>
          </a:xfrm>
        </p:grpSpPr>
        <p:sp>
          <p:nvSpPr>
            <p:cNvPr id="30" name="Shape 25"/>
            <p:cNvSpPr/>
            <p:nvPr/>
          </p:nvSpPr>
          <p:spPr>
            <a:xfrm>
              <a:off x="4841333" y="3426903"/>
              <a:ext cx="91440" cy="91440"/>
            </a:xfrm>
            <a:prstGeom prst="ellipse">
              <a:avLst/>
            </a:prstGeom>
            <a:solidFill>
              <a:srgbClr val="2F5DB4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</p:sp>
        <p:sp>
          <p:nvSpPr>
            <p:cNvPr id="31" name="Text 26"/>
            <p:cNvSpPr/>
            <p:nvPr/>
          </p:nvSpPr>
          <p:spPr>
            <a:xfrm>
              <a:off x="5012208" y="3356802"/>
              <a:ext cx="2672785" cy="457200"/>
            </a:xfrm>
            <a:prstGeom prst="rect">
              <a:avLst/>
            </a:prstGeom>
            <a:noFill/>
          </p:spPr>
          <p:txBody>
            <a:bodyPr wrap="square" lIns="381" tIns="381" rIns="381" bIns="381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400" dirty="0">
                  <a:solidFill>
                    <a:srgbClr val="FF0000"/>
                  </a:solidFill>
                </a:rPr>
                <a:t>缺少功能覆盖率</a:t>
              </a:r>
              <a:r>
                <a:rPr lang="zh-CN" altLang="zh-CN" sz="1400" dirty="0"/>
                <a:t>反馈</a:t>
              </a:r>
              <a:endParaRPr lang="en-US" sz="14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685713" y="4306395"/>
            <a:ext cx="2767415" cy="638560"/>
            <a:chOff x="4839012" y="3739570"/>
            <a:chExt cx="2767415" cy="638560"/>
          </a:xfrm>
        </p:grpSpPr>
        <p:sp>
          <p:nvSpPr>
            <p:cNvPr id="28" name="Shape 27"/>
            <p:cNvSpPr/>
            <p:nvPr/>
          </p:nvSpPr>
          <p:spPr>
            <a:xfrm>
              <a:off x="4839012" y="3808409"/>
              <a:ext cx="91440" cy="91440"/>
            </a:xfrm>
            <a:prstGeom prst="ellipse">
              <a:avLst/>
            </a:prstGeom>
            <a:solidFill>
              <a:srgbClr val="2F5DB4"/>
            </a:solidFill>
            <a:ln w="12700">
              <a:solidFill>
                <a:srgbClr val="333333">
                  <a:alpha val="0"/>
                </a:srgbClr>
              </a:solidFill>
              <a:prstDash val="solid"/>
            </a:ln>
          </p:spPr>
        </p:sp>
        <p:sp>
          <p:nvSpPr>
            <p:cNvPr id="29" name="Text 28"/>
            <p:cNvSpPr/>
            <p:nvPr/>
          </p:nvSpPr>
          <p:spPr>
            <a:xfrm>
              <a:off x="5022881" y="3739570"/>
              <a:ext cx="2583546" cy="638560"/>
            </a:xfrm>
            <a:prstGeom prst="rect">
              <a:avLst/>
            </a:prstGeom>
            <a:noFill/>
          </p:spPr>
          <p:txBody>
            <a:bodyPr wrap="square" lIns="381" tIns="381" rIns="381" bIns="381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设计</a:t>
              </a:r>
              <a:r>
                <a:rPr lang="zh-CN" altLang="zh-CN" sz="1400" dirty="0"/>
                <a:t>规格、测试用例与报告之间的</a:t>
              </a:r>
              <a:r>
                <a:rPr lang="zh-CN" altLang="zh-CN" sz="1400" dirty="0">
                  <a:solidFill>
                    <a:srgbClr val="FF0000"/>
                  </a:solidFill>
                </a:rPr>
                <a:t>一致性关系</a:t>
              </a:r>
              <a:r>
                <a:rPr lang="zh-CN" altLang="en-US" sz="1400" dirty="0">
                  <a:solidFill>
                    <a:srgbClr val="FF0000"/>
                  </a:solidFill>
                </a:rPr>
                <a:t>缺失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8" name="Shape 29"/>
          <p:cNvSpPr/>
          <p:nvPr/>
        </p:nvSpPr>
        <p:spPr>
          <a:xfrm>
            <a:off x="7994576" y="1669392"/>
            <a:ext cx="3205699" cy="530352"/>
          </a:xfrm>
          <a:prstGeom prst="roundRect">
            <a:avLst>
              <a:gd name="adj" fmla="val 10345"/>
            </a:avLst>
          </a:prstGeom>
          <a:solidFill>
            <a:schemeClr val="accent6"/>
          </a:solidFill>
          <a:ln w="12700">
            <a:solidFill>
              <a:srgbClr val="F6B24A">
                <a:alpha val="0"/>
              </a:srgbClr>
            </a:solidFill>
            <a:prstDash val="solid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altLang="zh-CN" b="1" dirty="0">
                <a:solidFill>
                  <a:schemeClr val="bg1"/>
                </a:solidFill>
              </a:rPr>
              <a:t>3. Commercial EDA Agent</a:t>
            </a:r>
            <a:endParaRPr lang="en-GB" altLang="zh-CN" b="1" dirty="0">
              <a:solidFill>
                <a:schemeClr val="bg1"/>
              </a:solidFill>
            </a:endParaRPr>
          </a:p>
        </p:txBody>
      </p:sp>
      <p:sp>
        <p:nvSpPr>
          <p:cNvPr id="19" name="Shape 30"/>
          <p:cNvSpPr/>
          <p:nvPr/>
        </p:nvSpPr>
        <p:spPr>
          <a:xfrm>
            <a:off x="7994576" y="2194146"/>
            <a:ext cx="3205699" cy="2994462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0" name="Text 33"/>
          <p:cNvSpPr/>
          <p:nvPr/>
        </p:nvSpPr>
        <p:spPr>
          <a:xfrm>
            <a:off x="8358607" y="2441032"/>
            <a:ext cx="2295144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06184A"/>
                </a:solidFill>
                <a:ea typeface="Aptos" pitchFamily="34" charset="-122"/>
                <a:cs typeface="Aptos" pitchFamily="34" charset="-120"/>
              </a:rPr>
              <a:t>ChipStack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1" name="Shape 34"/>
          <p:cNvSpPr/>
          <p:nvPr/>
        </p:nvSpPr>
        <p:spPr>
          <a:xfrm>
            <a:off x="8449852" y="3045553"/>
            <a:ext cx="2295144" cy="0"/>
          </a:xfrm>
          <a:prstGeom prst="lin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22" name="Shape 36"/>
          <p:cNvSpPr/>
          <p:nvPr/>
        </p:nvSpPr>
        <p:spPr>
          <a:xfrm>
            <a:off x="8195746" y="32098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37"/>
          <p:cNvSpPr/>
          <p:nvPr/>
        </p:nvSpPr>
        <p:spPr>
          <a:xfrm>
            <a:off x="8360338" y="3145197"/>
            <a:ext cx="2532890" cy="45377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1400" dirty="0"/>
              <a:t>通过多个面向特定场景的智能体，支持不同的验证任务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24" name="Shape 38"/>
          <p:cNvSpPr/>
          <p:nvPr/>
        </p:nvSpPr>
        <p:spPr>
          <a:xfrm>
            <a:off x="8189462" y="38259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39"/>
          <p:cNvSpPr/>
          <p:nvPr/>
        </p:nvSpPr>
        <p:spPr>
          <a:xfrm>
            <a:off x="8358607" y="3764877"/>
            <a:ext cx="2763963" cy="4248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381" tIns="381" rIns="381" bIns="381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1400" dirty="0">
                <a:solidFill>
                  <a:srgbClr val="FF0000"/>
                </a:solidFill>
              </a:rPr>
              <a:t>尚未开源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26" name="Shape 40"/>
          <p:cNvSpPr/>
          <p:nvPr/>
        </p:nvSpPr>
        <p:spPr>
          <a:xfrm>
            <a:off x="8189462" y="4235839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41"/>
          <p:cNvSpPr/>
          <p:nvPr/>
        </p:nvSpPr>
        <p:spPr>
          <a:xfrm>
            <a:off x="8360338" y="4160923"/>
            <a:ext cx="2839937" cy="468921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1400" dirty="0"/>
              <a:t>难以作为开放、可配置的工作流进行复用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0" y="6304002"/>
            <a:ext cx="112634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Junhao Ye et al. From Concept to Practice: an Automated LLM-aided UVM Machine for RTL Verification. arXiv:2504.19959.</a:t>
            </a:r>
            <a:br>
              <a:rPr lang="en-US" altLang="zh-CN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Wenbo Liu et al. A Multi-Agent Generative AI Framework for IC Module-Level Verification Automation. arXiv:2507.21694.</a:t>
            </a:r>
            <a:endParaRPr lang="en-US" altLang="zh-CN" sz="1000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Yujie Zhao et al. PRO-V: An Efficient Program Generation Multi-Agent System for Automatic RTL Verification. arXiv:2506.12200.</a:t>
            </a:r>
            <a:endParaRPr lang="zh-CN" altLang="en-US" sz="1000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14069" y="5411373"/>
            <a:ext cx="10539095" cy="66986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目标：构建一个开源的、可检查的、可靠的芯片验证 </a:t>
            </a:r>
            <a:r>
              <a:rPr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Agent</a:t>
            </a:r>
            <a:endParaRPr lang="zh-CN" altLang="en-US" sz="28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椭圆 122"/>
          <p:cNvSpPr/>
          <p:nvPr/>
        </p:nvSpPr>
        <p:spPr>
          <a:xfrm>
            <a:off x="5132279" y="1949468"/>
            <a:ext cx="1675712" cy="1644337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UCAgent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3966081" y="4328273"/>
            <a:ext cx="4006104" cy="2075103"/>
            <a:chOff x="716015" y="1465702"/>
            <a:chExt cx="4006104" cy="2075103"/>
          </a:xfrm>
        </p:grpSpPr>
        <p:grpSp>
          <p:nvGrpSpPr>
            <p:cNvPr id="23" name="图形 297"/>
            <p:cNvGrpSpPr/>
            <p:nvPr/>
          </p:nvGrpSpPr>
          <p:grpSpPr>
            <a:xfrm>
              <a:off x="726615" y="1465702"/>
              <a:ext cx="3995504" cy="2075103"/>
              <a:chOff x="1371820" y="1358646"/>
              <a:chExt cx="2693765" cy="1399032"/>
            </a:xfrm>
          </p:grpSpPr>
          <p:sp>
            <p:nvSpPr>
              <p:cNvPr id="31" name="任意形状 422"/>
              <p:cNvSpPr/>
              <p:nvPr/>
            </p:nvSpPr>
            <p:spPr>
              <a:xfrm>
                <a:off x="1618567" y="1358646"/>
                <a:ext cx="2176272" cy="1399032"/>
              </a:xfrm>
              <a:custGeom>
                <a:avLst/>
                <a:gdLst>
                  <a:gd name="csX0" fmla="*/ 2083003 w 2176272"/>
                  <a:gd name="csY0" fmla="*/ 0 h 1399032"/>
                  <a:gd name="csX1" fmla="*/ 2176272 w 2176272"/>
                  <a:gd name="csY1" fmla="*/ 0 h 1399032"/>
                  <a:gd name="csX2" fmla="*/ 2176272 w 2176272"/>
                  <a:gd name="csY2" fmla="*/ 1399032 h 1399032"/>
                  <a:gd name="csX3" fmla="*/ 2083003 w 2176272"/>
                  <a:gd name="csY3" fmla="*/ 1399032 h 1399032"/>
                  <a:gd name="csX4" fmla="*/ 93269 w 2176272"/>
                  <a:gd name="csY4" fmla="*/ 1399032 h 1399032"/>
                  <a:gd name="csX5" fmla="*/ 0 w 2176272"/>
                  <a:gd name="csY5" fmla="*/ 1399032 h 1399032"/>
                  <a:gd name="csX6" fmla="*/ 0 w 2176272"/>
                  <a:gd name="csY6" fmla="*/ 0 h 1399032"/>
                  <a:gd name="csX7" fmla="*/ 93269 w 2176272"/>
                  <a:gd name="csY7" fmla="*/ 0 h 1399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176272" h="1399032">
                    <a:moveTo>
                      <a:pt x="2083003" y="0"/>
                    </a:moveTo>
                    <a:cubicBezTo>
                      <a:pt x="2134514" y="0"/>
                      <a:pt x="2176272" y="0"/>
                      <a:pt x="2176272" y="0"/>
                    </a:cubicBezTo>
                    <a:lnTo>
                      <a:pt x="2176272" y="1399032"/>
                    </a:lnTo>
                    <a:cubicBezTo>
                      <a:pt x="2176272" y="1399032"/>
                      <a:pt x="2134514" y="1399032"/>
                      <a:pt x="2083003" y="1399032"/>
                    </a:cubicBezTo>
                    <a:lnTo>
                      <a:pt x="93269" y="1399032"/>
                    </a:lnTo>
                    <a:cubicBezTo>
                      <a:pt x="41758" y="1399032"/>
                      <a:pt x="0" y="1399032"/>
                      <a:pt x="0" y="1399032"/>
                    </a:cubicBezTo>
                    <a:lnTo>
                      <a:pt x="0" y="0"/>
                    </a:lnTo>
                    <a:cubicBezTo>
                      <a:pt x="0" y="0"/>
                      <a:pt x="41758" y="0"/>
                      <a:pt x="93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772" cap="flat">
                <a:noFill/>
                <a:prstDash val="solid"/>
                <a:miter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2" name="任意形状 423"/>
              <p:cNvSpPr/>
              <p:nvPr/>
            </p:nvSpPr>
            <p:spPr>
              <a:xfrm>
                <a:off x="1371821" y="2165191"/>
                <a:ext cx="2693764" cy="581735"/>
              </a:xfrm>
              <a:custGeom>
                <a:avLst/>
                <a:gdLst>
                  <a:gd name="csX0" fmla="*/ 0 w 2176272"/>
                  <a:gd name="csY0" fmla="*/ 0 h 544068"/>
                  <a:gd name="csX1" fmla="*/ 2176272 w 2176272"/>
                  <a:gd name="csY1" fmla="*/ 0 h 544068"/>
                  <a:gd name="csX2" fmla="*/ 2176272 w 2176272"/>
                  <a:gd name="csY2" fmla="*/ 544068 h 544068"/>
                  <a:gd name="csX3" fmla="*/ 0 w 2176272"/>
                  <a:gd name="csY3" fmla="*/ 544068 h 544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76272" h="544068">
                    <a:moveTo>
                      <a:pt x="0" y="0"/>
                    </a:moveTo>
                    <a:lnTo>
                      <a:pt x="2176272" y="0"/>
                    </a:lnTo>
                    <a:lnTo>
                      <a:pt x="2176272" y="544068"/>
                    </a:lnTo>
                    <a:lnTo>
                      <a:pt x="0" y="544068"/>
                    </a:lnTo>
                    <a:close/>
                  </a:path>
                </a:pathLst>
              </a:custGeom>
              <a:solidFill>
                <a:srgbClr val="F7F0FA"/>
              </a:solidFill>
              <a:ln w="7772" cap="flat">
                <a:noFill/>
                <a:prstDash val="solid"/>
                <a:miter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33" name="圆角矩形 424"/>
              <p:cNvSpPr/>
              <p:nvPr/>
            </p:nvSpPr>
            <p:spPr>
              <a:xfrm>
                <a:off x="1371820" y="1358646"/>
                <a:ext cx="2686619" cy="1399032"/>
              </a:xfrm>
              <a:prstGeom prst="roundRect">
                <a:avLst>
                  <a:gd name="adj" fmla="val 8749"/>
                </a:avLst>
              </a:prstGeom>
              <a:noFill/>
              <a:ln w="19431" cap="flat">
                <a:solidFill>
                  <a:srgbClr val="6A3E9F"/>
                </a:solidFill>
                <a:prstDash val="solid"/>
                <a:miter/>
              </a:ln>
            </p:spPr>
          </p:sp>
        </p:grpSp>
        <p:sp>
          <p:nvSpPr>
            <p:cNvPr id="24" name="文本框 412"/>
            <p:cNvSpPr txBox="1"/>
            <p:nvPr/>
          </p:nvSpPr>
          <p:spPr>
            <a:xfrm>
              <a:off x="1001609" y="1873608"/>
              <a:ext cx="3500403" cy="380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zh-CN" altLang="en-US" dirty="0">
                  <a:solidFill>
                    <a:srgbClr val="0F172A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/>
                  <a:rtl val="0"/>
                </a:rPr>
                <a:t>在验证产物之间构建追溯链</a:t>
              </a:r>
              <a:endParaRPr lang="zh-CN" altLang="en-US" dirty="0">
                <a:solidFill>
                  <a:srgbClr val="0F172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25" name="文本框 414"/>
            <p:cNvSpPr txBox="1"/>
            <p:nvPr/>
          </p:nvSpPr>
          <p:spPr>
            <a:xfrm>
              <a:off x="716015" y="2944345"/>
              <a:ext cx="39849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srgbClr val="6B3FA0"/>
                  </a:solidFill>
                  <a:cs typeface="Calibri" panose="020F0502020204030204"/>
                  <a:sym typeface="Calibri" panose="020F0502020204030204"/>
                  <a:rtl val="0"/>
                </a:rPr>
                <a:t>验证一致性标签</a:t>
              </a:r>
              <a:endParaRPr lang="zh-CN" altLang="en-US" sz="2000" b="1" dirty="0">
                <a:solidFill>
                  <a:srgbClr val="6B3FA0"/>
                </a:solidFill>
                <a:cs typeface="Calibri" panose="020F0502020204030204"/>
                <a:sym typeface="Calibri" panose="020F0502020204030204"/>
                <a:rtl val="0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2611113" y="2556115"/>
              <a:ext cx="243674" cy="243674"/>
              <a:chOff x="3438139" y="4902460"/>
              <a:chExt cx="243674" cy="243674"/>
            </a:xfrm>
          </p:grpSpPr>
          <p:sp>
            <p:nvSpPr>
              <p:cNvPr id="27" name="任意形状 416"/>
              <p:cNvSpPr/>
              <p:nvPr/>
            </p:nvSpPr>
            <p:spPr>
              <a:xfrm>
                <a:off x="3438139" y="4902460"/>
                <a:ext cx="243674" cy="243674"/>
              </a:xfrm>
              <a:custGeom>
                <a:avLst/>
                <a:gdLst>
                  <a:gd name="csX0" fmla="*/ 243840 w 243674"/>
                  <a:gd name="csY0" fmla="*/ 121972 h 243674"/>
                  <a:gd name="csX1" fmla="*/ 122002 w 243674"/>
                  <a:gd name="csY1" fmla="*/ 243810 h 243674"/>
                  <a:gd name="csX2" fmla="*/ 165 w 243674"/>
                  <a:gd name="csY2" fmla="*/ 121972 h 243674"/>
                  <a:gd name="csX3" fmla="*/ 122002 w 243674"/>
                  <a:gd name="csY3" fmla="*/ 135 h 243674"/>
                  <a:gd name="csX4" fmla="*/ 243840 w 243674"/>
                  <a:gd name="csY4" fmla="*/ 121972 h 2436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3674" h="243674">
                    <a:moveTo>
                      <a:pt x="243840" y="121972"/>
                    </a:moveTo>
                    <a:cubicBezTo>
                      <a:pt x="243840" y="189261"/>
                      <a:pt x="189291" y="243810"/>
                      <a:pt x="122002" y="243810"/>
                    </a:cubicBezTo>
                    <a:cubicBezTo>
                      <a:pt x="54713" y="243810"/>
                      <a:pt x="165" y="189261"/>
                      <a:pt x="165" y="121972"/>
                    </a:cubicBezTo>
                    <a:cubicBezTo>
                      <a:pt x="165" y="54683"/>
                      <a:pt x="54713" y="135"/>
                      <a:pt x="122002" y="135"/>
                    </a:cubicBezTo>
                    <a:cubicBezTo>
                      <a:pt x="189291" y="135"/>
                      <a:pt x="243840" y="54683"/>
                      <a:pt x="243840" y="121972"/>
                    </a:cubicBezTo>
                    <a:close/>
                  </a:path>
                </a:pathLst>
              </a:custGeom>
              <a:solidFill>
                <a:srgbClr val="6A3E9F"/>
              </a:solidFill>
              <a:ln w="8696" cap="flat">
                <a:noFill/>
                <a:prstDash val="solid"/>
                <a:miter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3507760" y="4978608"/>
                <a:ext cx="104432" cy="91378"/>
                <a:chOff x="3017793" y="4985135"/>
                <a:chExt cx="104432" cy="91378"/>
              </a:xfrm>
            </p:grpSpPr>
            <p:sp>
              <p:nvSpPr>
                <p:cNvPr id="29" name="任意形状 418"/>
                <p:cNvSpPr/>
                <p:nvPr/>
              </p:nvSpPr>
              <p:spPr>
                <a:xfrm>
                  <a:off x="3017793" y="5024297"/>
                  <a:ext cx="104432" cy="52216"/>
                </a:xfrm>
                <a:custGeom>
                  <a:avLst/>
                  <a:gdLst>
                    <a:gd name="csX0" fmla="*/ 165 w 104432"/>
                    <a:gd name="csY0" fmla="*/ 135 h 52216"/>
                    <a:gd name="csX1" fmla="*/ 52381 w 104432"/>
                    <a:gd name="csY1" fmla="*/ 52351 h 52216"/>
                    <a:gd name="csX2" fmla="*/ 104597 w 104432"/>
                    <a:gd name="csY2" fmla="*/ 135 h 522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4432" h="52216">
                      <a:moveTo>
                        <a:pt x="165" y="135"/>
                      </a:moveTo>
                      <a:lnTo>
                        <a:pt x="52381" y="52351"/>
                      </a:lnTo>
                      <a:lnTo>
                        <a:pt x="104597" y="135"/>
                      </a:lnTo>
                    </a:path>
                  </a:pathLst>
                </a:custGeom>
                <a:noFill/>
                <a:ln w="17393" cap="rnd">
                  <a:solidFill>
                    <a:srgbClr val="FFFFFF"/>
                  </a:solidFill>
                  <a:prstDash val="solid"/>
                  <a:round/>
                </a:ln>
              </p:spPr>
            </p:sp>
            <p:sp>
              <p:nvSpPr>
                <p:cNvPr id="30" name="任意形状 419"/>
                <p:cNvSpPr/>
                <p:nvPr/>
              </p:nvSpPr>
              <p:spPr>
                <a:xfrm>
                  <a:off x="3070009" y="4985135"/>
                  <a:ext cx="8702" cy="78324"/>
                </a:xfrm>
                <a:custGeom>
                  <a:avLst/>
                  <a:gdLst>
                    <a:gd name="csX0" fmla="*/ 165 w 8702"/>
                    <a:gd name="csY0" fmla="*/ 135 h 78324"/>
                    <a:gd name="csX1" fmla="*/ 165 w 8702"/>
                    <a:gd name="csY1" fmla="*/ 78459 h 783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702" h="78324">
                      <a:moveTo>
                        <a:pt x="165" y="135"/>
                      </a:moveTo>
                      <a:lnTo>
                        <a:pt x="165" y="78459"/>
                      </a:lnTo>
                    </a:path>
                  </a:pathLst>
                </a:custGeom>
                <a:ln w="17393" cap="rnd">
                  <a:solidFill>
                    <a:srgbClr val="FFFFFF"/>
                  </a:solidFill>
                  <a:prstDash val="solid"/>
                  <a:miter/>
                </a:ln>
              </p:spPr>
            </p:sp>
          </p:grpSp>
        </p:grpSp>
      </p:grpSp>
      <p:grpSp>
        <p:nvGrpSpPr>
          <p:cNvPr id="7" name="图形 297"/>
          <p:cNvGrpSpPr/>
          <p:nvPr/>
        </p:nvGrpSpPr>
        <p:grpSpPr>
          <a:xfrm>
            <a:off x="4700805" y="5883391"/>
            <a:ext cx="260514" cy="247160"/>
            <a:chOff x="4073271" y="4226661"/>
            <a:chExt cx="182651" cy="182651"/>
          </a:xfrm>
          <a:noFill/>
        </p:grpSpPr>
        <p:sp>
          <p:nvSpPr>
            <p:cNvPr id="21" name="任意形状 376"/>
            <p:cNvSpPr/>
            <p:nvPr/>
          </p:nvSpPr>
          <p:spPr>
            <a:xfrm>
              <a:off x="4073271" y="4226661"/>
              <a:ext cx="182651" cy="182651"/>
            </a:xfrm>
            <a:custGeom>
              <a:avLst/>
              <a:gdLst>
                <a:gd name="csX0" fmla="*/ 89733 w 182651"/>
                <a:gd name="csY0" fmla="*/ 405 h 182651"/>
                <a:gd name="csX1" fmla="*/ 183001 w 182651"/>
                <a:gd name="csY1" fmla="*/ 405 h 182651"/>
                <a:gd name="csX2" fmla="*/ 183001 w 182651"/>
                <a:gd name="csY2" fmla="*/ 93674 h 182651"/>
                <a:gd name="csX3" fmla="*/ 93619 w 182651"/>
                <a:gd name="csY3" fmla="*/ 183056 h 182651"/>
                <a:gd name="csX4" fmla="*/ 350 w 182651"/>
                <a:gd name="csY4" fmla="*/ 89788 h 1826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651" h="182651">
                  <a:moveTo>
                    <a:pt x="89733" y="405"/>
                  </a:moveTo>
                  <a:lnTo>
                    <a:pt x="183001" y="405"/>
                  </a:lnTo>
                  <a:lnTo>
                    <a:pt x="183001" y="93674"/>
                  </a:lnTo>
                  <a:lnTo>
                    <a:pt x="93619" y="183056"/>
                  </a:lnTo>
                  <a:lnTo>
                    <a:pt x="350" y="89788"/>
                  </a:lnTo>
                  <a:close/>
                </a:path>
              </a:pathLst>
            </a:custGeom>
            <a:noFill/>
            <a:ln w="19431" cap="rnd">
              <a:solidFill>
                <a:srgbClr val="6B3FA0"/>
              </a:solidFill>
              <a:prstDash val="solid"/>
              <a:round/>
            </a:ln>
          </p:spPr>
        </p:sp>
        <p:sp>
          <p:nvSpPr>
            <p:cNvPr id="22" name="任意形状 377"/>
            <p:cNvSpPr/>
            <p:nvPr/>
          </p:nvSpPr>
          <p:spPr>
            <a:xfrm>
              <a:off x="4189857" y="4253865"/>
              <a:ext cx="38862" cy="38862"/>
            </a:xfrm>
            <a:custGeom>
              <a:avLst/>
              <a:gdLst>
                <a:gd name="csX0" fmla="*/ 39212 w 38862"/>
                <a:gd name="csY0" fmla="*/ 19836 h 38862"/>
                <a:gd name="csX1" fmla="*/ 19781 w 38862"/>
                <a:gd name="csY1" fmla="*/ 39267 h 38862"/>
                <a:gd name="csX2" fmla="*/ 350 w 38862"/>
                <a:gd name="csY2" fmla="*/ 19836 h 38862"/>
                <a:gd name="csX3" fmla="*/ 19781 w 38862"/>
                <a:gd name="csY3" fmla="*/ 405 h 38862"/>
                <a:gd name="csX4" fmla="*/ 39212 w 38862"/>
                <a:gd name="csY4" fmla="*/ 19836 h 388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8862" h="38862">
                  <a:moveTo>
                    <a:pt x="39212" y="19836"/>
                  </a:moveTo>
                  <a:cubicBezTo>
                    <a:pt x="39212" y="30567"/>
                    <a:pt x="30512" y="39267"/>
                    <a:pt x="19781" y="39267"/>
                  </a:cubicBezTo>
                  <a:cubicBezTo>
                    <a:pt x="9050" y="39267"/>
                    <a:pt x="350" y="30567"/>
                    <a:pt x="350" y="19836"/>
                  </a:cubicBezTo>
                  <a:cubicBezTo>
                    <a:pt x="350" y="9105"/>
                    <a:pt x="9050" y="405"/>
                    <a:pt x="19781" y="405"/>
                  </a:cubicBezTo>
                  <a:cubicBezTo>
                    <a:pt x="30512" y="405"/>
                    <a:pt x="39212" y="9105"/>
                    <a:pt x="39212" y="19836"/>
                  </a:cubicBezTo>
                  <a:close/>
                </a:path>
              </a:pathLst>
            </a:custGeom>
            <a:noFill/>
            <a:ln w="19431" cap="rnd">
              <a:solidFill>
                <a:srgbClr val="6B3FA0"/>
              </a:solidFill>
              <a:prstDash val="solid"/>
              <a:round/>
            </a:ln>
          </p:spPr>
        </p:sp>
      </p:grpSp>
      <p:sp>
        <p:nvSpPr>
          <p:cNvPr id="3" name="椭圆 2"/>
          <p:cNvSpPr/>
          <p:nvPr/>
        </p:nvSpPr>
        <p:spPr>
          <a:xfrm>
            <a:off x="5199264" y="1998565"/>
            <a:ext cx="1539842" cy="153369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199213" y="2529201"/>
            <a:ext cx="1539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UCAgent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31522" y="1215618"/>
            <a:ext cx="3984910" cy="2075103"/>
            <a:chOff x="726612" y="1465702"/>
            <a:chExt cx="3984910" cy="2075103"/>
          </a:xfrm>
        </p:grpSpPr>
        <p:grpSp>
          <p:nvGrpSpPr>
            <p:cNvPr id="67" name="图形 297"/>
            <p:cNvGrpSpPr/>
            <p:nvPr/>
          </p:nvGrpSpPr>
          <p:grpSpPr>
            <a:xfrm>
              <a:off x="726615" y="1465702"/>
              <a:ext cx="3984907" cy="2075103"/>
              <a:chOff x="1371820" y="1358646"/>
              <a:chExt cx="2686620" cy="1399032"/>
            </a:xfrm>
          </p:grpSpPr>
          <p:sp>
            <p:nvSpPr>
              <p:cNvPr id="75" name="任意形状 422"/>
              <p:cNvSpPr/>
              <p:nvPr/>
            </p:nvSpPr>
            <p:spPr>
              <a:xfrm>
                <a:off x="1618567" y="1358646"/>
                <a:ext cx="2176272" cy="1399032"/>
              </a:xfrm>
              <a:custGeom>
                <a:avLst/>
                <a:gdLst>
                  <a:gd name="csX0" fmla="*/ 2083003 w 2176272"/>
                  <a:gd name="csY0" fmla="*/ 0 h 1399032"/>
                  <a:gd name="csX1" fmla="*/ 2176272 w 2176272"/>
                  <a:gd name="csY1" fmla="*/ 0 h 1399032"/>
                  <a:gd name="csX2" fmla="*/ 2176272 w 2176272"/>
                  <a:gd name="csY2" fmla="*/ 1399032 h 1399032"/>
                  <a:gd name="csX3" fmla="*/ 2083003 w 2176272"/>
                  <a:gd name="csY3" fmla="*/ 1399032 h 1399032"/>
                  <a:gd name="csX4" fmla="*/ 93269 w 2176272"/>
                  <a:gd name="csY4" fmla="*/ 1399032 h 1399032"/>
                  <a:gd name="csX5" fmla="*/ 0 w 2176272"/>
                  <a:gd name="csY5" fmla="*/ 1399032 h 1399032"/>
                  <a:gd name="csX6" fmla="*/ 0 w 2176272"/>
                  <a:gd name="csY6" fmla="*/ 0 h 1399032"/>
                  <a:gd name="csX7" fmla="*/ 93269 w 2176272"/>
                  <a:gd name="csY7" fmla="*/ 0 h 1399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176272" h="1399032">
                    <a:moveTo>
                      <a:pt x="2083003" y="0"/>
                    </a:moveTo>
                    <a:cubicBezTo>
                      <a:pt x="2134514" y="0"/>
                      <a:pt x="2176272" y="0"/>
                      <a:pt x="2176272" y="0"/>
                    </a:cubicBezTo>
                    <a:lnTo>
                      <a:pt x="2176272" y="1399032"/>
                    </a:lnTo>
                    <a:cubicBezTo>
                      <a:pt x="2176272" y="1399032"/>
                      <a:pt x="2134514" y="1399032"/>
                      <a:pt x="2083003" y="1399032"/>
                    </a:cubicBezTo>
                    <a:lnTo>
                      <a:pt x="93269" y="1399032"/>
                    </a:lnTo>
                    <a:cubicBezTo>
                      <a:pt x="41758" y="1399032"/>
                      <a:pt x="0" y="1399032"/>
                      <a:pt x="0" y="1399032"/>
                    </a:cubicBezTo>
                    <a:lnTo>
                      <a:pt x="0" y="0"/>
                    </a:lnTo>
                    <a:cubicBezTo>
                      <a:pt x="0" y="0"/>
                      <a:pt x="41758" y="0"/>
                      <a:pt x="93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772" cap="flat">
                <a:noFill/>
                <a:prstDash val="solid"/>
                <a:miter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6" name="任意形状 423"/>
              <p:cNvSpPr/>
              <p:nvPr/>
            </p:nvSpPr>
            <p:spPr>
              <a:xfrm>
                <a:off x="1371820" y="2165191"/>
                <a:ext cx="2686620" cy="581735"/>
              </a:xfrm>
              <a:custGeom>
                <a:avLst/>
                <a:gdLst>
                  <a:gd name="csX0" fmla="*/ 0 w 2176272"/>
                  <a:gd name="csY0" fmla="*/ 0 h 544068"/>
                  <a:gd name="csX1" fmla="*/ 2176272 w 2176272"/>
                  <a:gd name="csY1" fmla="*/ 0 h 544068"/>
                  <a:gd name="csX2" fmla="*/ 2176272 w 2176272"/>
                  <a:gd name="csY2" fmla="*/ 544068 h 544068"/>
                  <a:gd name="csX3" fmla="*/ 0 w 2176272"/>
                  <a:gd name="csY3" fmla="*/ 544068 h 544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76272" h="544068">
                    <a:moveTo>
                      <a:pt x="0" y="0"/>
                    </a:moveTo>
                    <a:lnTo>
                      <a:pt x="2176272" y="0"/>
                    </a:lnTo>
                    <a:lnTo>
                      <a:pt x="2176272" y="544068"/>
                    </a:lnTo>
                    <a:lnTo>
                      <a:pt x="0" y="544068"/>
                    </a:ln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  <a:ln w="7772" cap="flat">
                <a:solidFill>
                  <a:schemeClr val="accent4">
                    <a:lumMod val="20000"/>
                    <a:lumOff val="80000"/>
                  </a:schemeClr>
                </a:solidFill>
                <a:prstDash val="solid"/>
                <a:miter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7" name="圆角矩形 424"/>
              <p:cNvSpPr/>
              <p:nvPr/>
            </p:nvSpPr>
            <p:spPr>
              <a:xfrm>
                <a:off x="1371820" y="1358646"/>
                <a:ext cx="2686619" cy="1399032"/>
              </a:xfrm>
              <a:prstGeom prst="roundRect">
                <a:avLst>
                  <a:gd name="adj" fmla="val 8749"/>
                </a:avLst>
              </a:prstGeom>
              <a:noFill/>
              <a:ln w="19431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sp>
          <p:nvSpPr>
            <p:cNvPr id="68" name="文本框 412"/>
            <p:cNvSpPr txBox="1"/>
            <p:nvPr/>
          </p:nvSpPr>
          <p:spPr>
            <a:xfrm>
              <a:off x="726614" y="1873608"/>
              <a:ext cx="3984907" cy="396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Calibri" panose="020F0502020204030204"/>
                  <a:rtl val="0"/>
                </a:rPr>
                <a:t>用 </a:t>
              </a:r>
              <a:r>
                <a:rPr lang="en-US" altLang="zh-CN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Calibri" panose="020F0502020204030204"/>
                  <a:rtl val="0"/>
                </a:rPr>
                <a:t>LLM </a:t>
              </a:r>
              <a:r>
                <a:rPr lang="zh-CN" altLang="en-US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Calibri" panose="020F0502020204030204"/>
                  <a:rtl val="0"/>
                </a:rPr>
                <a:t>擅长的语言进行芯片验证</a:t>
              </a:r>
              <a:endParaRPr lang="zh-CN" altLang="en-US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  <a:rtl val="0"/>
              </a:endParaRPr>
            </a:p>
          </p:txBody>
        </p:sp>
        <p:sp>
          <p:nvSpPr>
            <p:cNvPr id="69" name="文本框 414"/>
            <p:cNvSpPr txBox="1"/>
            <p:nvPr/>
          </p:nvSpPr>
          <p:spPr>
            <a:xfrm>
              <a:off x="726612" y="2944345"/>
              <a:ext cx="39849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 dirty="0">
                  <a:solidFill>
                    <a:schemeClr val="accent5">
                      <a:lumMod val="75000"/>
                    </a:schemeClr>
                  </a:solidFill>
                  <a:cs typeface="Calibri" panose="020F0502020204030204"/>
                  <a:sym typeface="Calibri" panose="020F0502020204030204"/>
                  <a:rtl val="0"/>
                </a:rPr>
                <a:t>Python </a:t>
              </a:r>
              <a:r>
                <a:rPr lang="zh-CN" altLang="en-US" sz="2000" b="1" dirty="0">
                  <a:solidFill>
                    <a:schemeClr val="accent5">
                      <a:lumMod val="75000"/>
                    </a:schemeClr>
                  </a:solidFill>
                  <a:cs typeface="Calibri" panose="020F0502020204030204"/>
                  <a:sym typeface="Calibri" panose="020F0502020204030204"/>
                  <a:rtl val="0"/>
                </a:rPr>
                <a:t>验证环境</a:t>
              </a:r>
              <a:endParaRPr lang="zh-CN" altLang="en-US" sz="2000" b="1" dirty="0">
                <a:solidFill>
                  <a:schemeClr val="accent5">
                    <a:lumMod val="75000"/>
                  </a:schemeClr>
                </a:solidFill>
                <a:cs typeface="Calibri" panose="020F0502020204030204"/>
                <a:sym typeface="Calibri" panose="020F0502020204030204"/>
                <a:rtl val="0"/>
              </a:endParaRPr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2611113" y="2556115"/>
              <a:ext cx="243674" cy="243674"/>
              <a:chOff x="3438139" y="4902460"/>
              <a:chExt cx="243674" cy="243674"/>
            </a:xfrm>
          </p:grpSpPr>
          <p:sp>
            <p:nvSpPr>
              <p:cNvPr id="71" name="任意形状 416"/>
              <p:cNvSpPr/>
              <p:nvPr/>
            </p:nvSpPr>
            <p:spPr>
              <a:xfrm>
                <a:off x="3438139" y="4902460"/>
                <a:ext cx="243674" cy="243674"/>
              </a:xfrm>
              <a:custGeom>
                <a:avLst/>
                <a:gdLst>
                  <a:gd name="csX0" fmla="*/ 243840 w 243674"/>
                  <a:gd name="csY0" fmla="*/ 121972 h 243674"/>
                  <a:gd name="csX1" fmla="*/ 122002 w 243674"/>
                  <a:gd name="csY1" fmla="*/ 243810 h 243674"/>
                  <a:gd name="csX2" fmla="*/ 165 w 243674"/>
                  <a:gd name="csY2" fmla="*/ 121972 h 243674"/>
                  <a:gd name="csX3" fmla="*/ 122002 w 243674"/>
                  <a:gd name="csY3" fmla="*/ 135 h 243674"/>
                  <a:gd name="csX4" fmla="*/ 243840 w 243674"/>
                  <a:gd name="csY4" fmla="*/ 121972 h 2436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3674" h="243674">
                    <a:moveTo>
                      <a:pt x="243840" y="121972"/>
                    </a:moveTo>
                    <a:cubicBezTo>
                      <a:pt x="243840" y="189261"/>
                      <a:pt x="189291" y="243810"/>
                      <a:pt x="122002" y="243810"/>
                    </a:cubicBezTo>
                    <a:cubicBezTo>
                      <a:pt x="54713" y="243810"/>
                      <a:pt x="165" y="189261"/>
                      <a:pt x="165" y="121972"/>
                    </a:cubicBezTo>
                    <a:cubicBezTo>
                      <a:pt x="165" y="54683"/>
                      <a:pt x="54713" y="135"/>
                      <a:pt x="122002" y="135"/>
                    </a:cubicBezTo>
                    <a:cubicBezTo>
                      <a:pt x="189291" y="135"/>
                      <a:pt x="243840" y="54683"/>
                      <a:pt x="243840" y="12197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8696" cap="flat">
                <a:noFill/>
                <a:prstDash val="solid"/>
                <a:miter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3507760" y="4978608"/>
                <a:ext cx="104432" cy="91378"/>
                <a:chOff x="3017793" y="4985135"/>
                <a:chExt cx="104432" cy="91378"/>
              </a:xfrm>
            </p:grpSpPr>
            <p:sp>
              <p:nvSpPr>
                <p:cNvPr id="73" name="任意形状 418"/>
                <p:cNvSpPr/>
                <p:nvPr/>
              </p:nvSpPr>
              <p:spPr>
                <a:xfrm>
                  <a:off x="3017793" y="5024297"/>
                  <a:ext cx="104432" cy="52216"/>
                </a:xfrm>
                <a:custGeom>
                  <a:avLst/>
                  <a:gdLst>
                    <a:gd name="csX0" fmla="*/ 165 w 104432"/>
                    <a:gd name="csY0" fmla="*/ 135 h 52216"/>
                    <a:gd name="csX1" fmla="*/ 52381 w 104432"/>
                    <a:gd name="csY1" fmla="*/ 52351 h 52216"/>
                    <a:gd name="csX2" fmla="*/ 104597 w 104432"/>
                    <a:gd name="csY2" fmla="*/ 135 h 522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4432" h="52216">
                      <a:moveTo>
                        <a:pt x="165" y="135"/>
                      </a:moveTo>
                      <a:lnTo>
                        <a:pt x="52381" y="52351"/>
                      </a:lnTo>
                      <a:lnTo>
                        <a:pt x="104597" y="135"/>
                      </a:lnTo>
                    </a:path>
                  </a:pathLst>
                </a:custGeom>
                <a:noFill/>
                <a:ln w="17393" cap="rnd">
                  <a:solidFill>
                    <a:srgbClr val="FFFFFF"/>
                  </a:solidFill>
                  <a:prstDash val="solid"/>
                  <a:round/>
                </a:ln>
              </p:spPr>
            </p:sp>
            <p:sp>
              <p:nvSpPr>
                <p:cNvPr id="74" name="任意形状 419"/>
                <p:cNvSpPr/>
                <p:nvPr/>
              </p:nvSpPr>
              <p:spPr>
                <a:xfrm>
                  <a:off x="3070009" y="4985135"/>
                  <a:ext cx="8702" cy="78324"/>
                </a:xfrm>
                <a:custGeom>
                  <a:avLst/>
                  <a:gdLst>
                    <a:gd name="csX0" fmla="*/ 165 w 8702"/>
                    <a:gd name="csY0" fmla="*/ 135 h 78324"/>
                    <a:gd name="csX1" fmla="*/ 165 w 8702"/>
                    <a:gd name="csY1" fmla="*/ 78459 h 783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702" h="78324">
                      <a:moveTo>
                        <a:pt x="165" y="135"/>
                      </a:moveTo>
                      <a:lnTo>
                        <a:pt x="165" y="78459"/>
                      </a:lnTo>
                    </a:path>
                  </a:pathLst>
                </a:custGeom>
                <a:ln w="17393" cap="rnd">
                  <a:solidFill>
                    <a:srgbClr val="FFFFFF"/>
                  </a:solidFill>
                  <a:prstDash val="solid"/>
                  <a:miter/>
                </a:ln>
              </p:spPr>
            </p:sp>
          </p:grpSp>
        </p:grpSp>
      </p:grpSp>
      <p:grpSp>
        <p:nvGrpSpPr>
          <p:cNvPr id="90" name="组合 89"/>
          <p:cNvGrpSpPr/>
          <p:nvPr/>
        </p:nvGrpSpPr>
        <p:grpSpPr>
          <a:xfrm>
            <a:off x="7779803" y="1215618"/>
            <a:ext cx="3998787" cy="2075103"/>
            <a:chOff x="726615" y="1465702"/>
            <a:chExt cx="3998787" cy="2075103"/>
          </a:xfrm>
        </p:grpSpPr>
        <p:grpSp>
          <p:nvGrpSpPr>
            <p:cNvPr id="91" name="图形 297"/>
            <p:cNvGrpSpPr/>
            <p:nvPr/>
          </p:nvGrpSpPr>
          <p:grpSpPr>
            <a:xfrm>
              <a:off x="726615" y="1465702"/>
              <a:ext cx="3984908" cy="2075103"/>
              <a:chOff x="1371820" y="1358646"/>
              <a:chExt cx="2686621" cy="1399032"/>
            </a:xfrm>
          </p:grpSpPr>
          <p:sp>
            <p:nvSpPr>
              <p:cNvPr id="99" name="任意形状 422"/>
              <p:cNvSpPr/>
              <p:nvPr/>
            </p:nvSpPr>
            <p:spPr>
              <a:xfrm>
                <a:off x="1618567" y="1358646"/>
                <a:ext cx="2176272" cy="1399032"/>
              </a:xfrm>
              <a:custGeom>
                <a:avLst/>
                <a:gdLst>
                  <a:gd name="csX0" fmla="*/ 2083003 w 2176272"/>
                  <a:gd name="csY0" fmla="*/ 0 h 1399032"/>
                  <a:gd name="csX1" fmla="*/ 2176272 w 2176272"/>
                  <a:gd name="csY1" fmla="*/ 0 h 1399032"/>
                  <a:gd name="csX2" fmla="*/ 2176272 w 2176272"/>
                  <a:gd name="csY2" fmla="*/ 1399032 h 1399032"/>
                  <a:gd name="csX3" fmla="*/ 2083003 w 2176272"/>
                  <a:gd name="csY3" fmla="*/ 1399032 h 1399032"/>
                  <a:gd name="csX4" fmla="*/ 93269 w 2176272"/>
                  <a:gd name="csY4" fmla="*/ 1399032 h 1399032"/>
                  <a:gd name="csX5" fmla="*/ 0 w 2176272"/>
                  <a:gd name="csY5" fmla="*/ 1399032 h 1399032"/>
                  <a:gd name="csX6" fmla="*/ 0 w 2176272"/>
                  <a:gd name="csY6" fmla="*/ 0 h 1399032"/>
                  <a:gd name="csX7" fmla="*/ 93269 w 2176272"/>
                  <a:gd name="csY7" fmla="*/ 0 h 1399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176272" h="1399032">
                    <a:moveTo>
                      <a:pt x="2083003" y="0"/>
                    </a:moveTo>
                    <a:cubicBezTo>
                      <a:pt x="2134514" y="0"/>
                      <a:pt x="2176272" y="0"/>
                      <a:pt x="2176272" y="0"/>
                    </a:cubicBezTo>
                    <a:lnTo>
                      <a:pt x="2176272" y="1399032"/>
                    </a:lnTo>
                    <a:cubicBezTo>
                      <a:pt x="2176272" y="1399032"/>
                      <a:pt x="2134514" y="1399032"/>
                      <a:pt x="2083003" y="1399032"/>
                    </a:cubicBezTo>
                    <a:lnTo>
                      <a:pt x="93269" y="1399032"/>
                    </a:lnTo>
                    <a:cubicBezTo>
                      <a:pt x="41758" y="1399032"/>
                      <a:pt x="0" y="1399032"/>
                      <a:pt x="0" y="1399032"/>
                    </a:cubicBezTo>
                    <a:lnTo>
                      <a:pt x="0" y="0"/>
                    </a:lnTo>
                    <a:cubicBezTo>
                      <a:pt x="0" y="0"/>
                      <a:pt x="41758" y="0"/>
                      <a:pt x="93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772" cap="flat">
                <a:noFill/>
                <a:prstDash val="solid"/>
                <a:miter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100" name="任意形状 423"/>
              <p:cNvSpPr/>
              <p:nvPr/>
            </p:nvSpPr>
            <p:spPr>
              <a:xfrm>
                <a:off x="1378967" y="2165191"/>
                <a:ext cx="2679474" cy="581735"/>
              </a:xfrm>
              <a:custGeom>
                <a:avLst/>
                <a:gdLst>
                  <a:gd name="csX0" fmla="*/ 0 w 2176272"/>
                  <a:gd name="csY0" fmla="*/ 0 h 544068"/>
                  <a:gd name="csX1" fmla="*/ 2176272 w 2176272"/>
                  <a:gd name="csY1" fmla="*/ 0 h 544068"/>
                  <a:gd name="csX2" fmla="*/ 2176272 w 2176272"/>
                  <a:gd name="csY2" fmla="*/ 544068 h 544068"/>
                  <a:gd name="csX3" fmla="*/ 0 w 2176272"/>
                  <a:gd name="csY3" fmla="*/ 544068 h 544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76272" h="544068">
                    <a:moveTo>
                      <a:pt x="0" y="0"/>
                    </a:moveTo>
                    <a:lnTo>
                      <a:pt x="2176272" y="0"/>
                    </a:lnTo>
                    <a:lnTo>
                      <a:pt x="2176272" y="544068"/>
                    </a:lnTo>
                    <a:lnTo>
                      <a:pt x="0" y="54406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7772" cap="flat">
                <a:noFill/>
                <a:prstDash val="solid"/>
                <a:miter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101" name="圆角矩形 424"/>
              <p:cNvSpPr/>
              <p:nvPr/>
            </p:nvSpPr>
            <p:spPr>
              <a:xfrm>
                <a:off x="1371820" y="1358646"/>
                <a:ext cx="2686619" cy="1399032"/>
              </a:xfrm>
              <a:prstGeom prst="roundRect">
                <a:avLst>
                  <a:gd name="adj" fmla="val 8749"/>
                </a:avLst>
              </a:prstGeom>
              <a:noFill/>
              <a:ln w="19431" cap="flat">
                <a:solidFill>
                  <a:schemeClr val="accent1"/>
                </a:solidFill>
                <a:prstDash val="solid"/>
                <a:miter/>
              </a:ln>
            </p:spPr>
          </p:sp>
        </p:grpSp>
        <p:sp>
          <p:nvSpPr>
            <p:cNvPr id="92" name="文本框 412"/>
            <p:cNvSpPr txBox="1"/>
            <p:nvPr/>
          </p:nvSpPr>
          <p:spPr>
            <a:xfrm>
              <a:off x="740497" y="1863221"/>
              <a:ext cx="3984905" cy="401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dirty="0">
                  <a:solidFill>
                    <a:srgbClr val="0F172A"/>
                  </a:solidFill>
                  <a:cs typeface="Calibri" panose="020F0502020204030204"/>
                  <a:sym typeface="Calibri" panose="020F0502020204030204"/>
                  <a:rtl val="0"/>
                </a:rPr>
                <a:t>将验证拆解为多个、可检查的子任务</a:t>
              </a:r>
              <a:endParaRPr lang="zh-CN" altLang="en-US" dirty="0">
                <a:solidFill>
                  <a:srgbClr val="0F172A"/>
                </a:solidFill>
                <a:cs typeface="Calibri" panose="020F0502020204030204"/>
                <a:sym typeface="Calibri" panose="020F0502020204030204"/>
                <a:rtl val="0"/>
              </a:endParaRPr>
            </a:p>
          </p:txBody>
        </p:sp>
        <p:sp>
          <p:nvSpPr>
            <p:cNvPr id="93" name="文本框 414"/>
            <p:cNvSpPr txBox="1"/>
            <p:nvPr/>
          </p:nvSpPr>
          <p:spPr>
            <a:xfrm>
              <a:off x="737214" y="2944345"/>
              <a:ext cx="39743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cs typeface="Calibri" panose="020F0502020204030204"/>
                  <a:sym typeface="Calibri" panose="020F0502020204030204"/>
                  <a:rtl val="0"/>
                </a:rPr>
                <a:t>多阶段工作流</a:t>
              </a:r>
              <a:r>
                <a:rPr lang="en-GB" altLang="zh-CN" sz="2000" b="1" dirty="0">
                  <a:solidFill>
                    <a:schemeClr val="accent1"/>
                  </a:solidFill>
                  <a:cs typeface="Calibri" panose="020F0502020204030204"/>
                  <a:sym typeface="Calibri" panose="020F0502020204030204"/>
                  <a:rtl val="0"/>
                </a:rPr>
                <a:t> + </a:t>
              </a:r>
              <a:r>
                <a:rPr lang="zh-CN" altLang="en-US" sz="2000" b="1" dirty="0">
                  <a:solidFill>
                    <a:schemeClr val="accent1"/>
                  </a:solidFill>
                  <a:cs typeface="Calibri" panose="020F0502020204030204"/>
                  <a:sym typeface="Calibri" panose="020F0502020204030204"/>
                  <a:rtl val="0"/>
                </a:rPr>
                <a:t>检查器</a:t>
              </a:r>
              <a:endParaRPr lang="zh-CN" altLang="en-US" sz="2000" b="1" dirty="0">
                <a:solidFill>
                  <a:schemeClr val="accent1"/>
                </a:solidFill>
                <a:cs typeface="Calibri" panose="020F0502020204030204"/>
                <a:sym typeface="Calibri" panose="020F0502020204030204"/>
                <a:rtl val="0"/>
              </a:endParaRPr>
            </a:p>
          </p:txBody>
        </p:sp>
        <p:grpSp>
          <p:nvGrpSpPr>
            <p:cNvPr id="94" name="组合 93"/>
            <p:cNvGrpSpPr/>
            <p:nvPr/>
          </p:nvGrpSpPr>
          <p:grpSpPr>
            <a:xfrm>
              <a:off x="2611113" y="2556115"/>
              <a:ext cx="243674" cy="243674"/>
              <a:chOff x="3438139" y="4902460"/>
              <a:chExt cx="243674" cy="243674"/>
            </a:xfrm>
          </p:grpSpPr>
          <p:sp>
            <p:nvSpPr>
              <p:cNvPr id="95" name="任意形状 416"/>
              <p:cNvSpPr/>
              <p:nvPr/>
            </p:nvSpPr>
            <p:spPr>
              <a:xfrm>
                <a:off x="3438139" y="4902460"/>
                <a:ext cx="243674" cy="243674"/>
              </a:xfrm>
              <a:custGeom>
                <a:avLst/>
                <a:gdLst>
                  <a:gd name="csX0" fmla="*/ 243840 w 243674"/>
                  <a:gd name="csY0" fmla="*/ 121972 h 243674"/>
                  <a:gd name="csX1" fmla="*/ 122002 w 243674"/>
                  <a:gd name="csY1" fmla="*/ 243810 h 243674"/>
                  <a:gd name="csX2" fmla="*/ 165 w 243674"/>
                  <a:gd name="csY2" fmla="*/ 121972 h 243674"/>
                  <a:gd name="csX3" fmla="*/ 122002 w 243674"/>
                  <a:gd name="csY3" fmla="*/ 135 h 243674"/>
                  <a:gd name="csX4" fmla="*/ 243840 w 243674"/>
                  <a:gd name="csY4" fmla="*/ 121972 h 2436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43674" h="243674">
                    <a:moveTo>
                      <a:pt x="243840" y="121972"/>
                    </a:moveTo>
                    <a:cubicBezTo>
                      <a:pt x="243840" y="189261"/>
                      <a:pt x="189291" y="243810"/>
                      <a:pt x="122002" y="243810"/>
                    </a:cubicBezTo>
                    <a:cubicBezTo>
                      <a:pt x="54713" y="243810"/>
                      <a:pt x="165" y="189261"/>
                      <a:pt x="165" y="121972"/>
                    </a:cubicBezTo>
                    <a:cubicBezTo>
                      <a:pt x="165" y="54683"/>
                      <a:pt x="54713" y="135"/>
                      <a:pt x="122002" y="135"/>
                    </a:cubicBezTo>
                    <a:cubicBezTo>
                      <a:pt x="189291" y="135"/>
                      <a:pt x="243840" y="54683"/>
                      <a:pt x="243840" y="12197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696" cap="flat">
                <a:noFill/>
                <a:prstDash val="solid"/>
                <a:miter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96" name="组合 95"/>
              <p:cNvGrpSpPr/>
              <p:nvPr/>
            </p:nvGrpSpPr>
            <p:grpSpPr>
              <a:xfrm>
                <a:off x="3507760" y="4978608"/>
                <a:ext cx="104432" cy="91378"/>
                <a:chOff x="3017793" y="4985135"/>
                <a:chExt cx="104432" cy="91378"/>
              </a:xfrm>
            </p:grpSpPr>
            <p:sp>
              <p:nvSpPr>
                <p:cNvPr id="97" name="任意形状 418"/>
                <p:cNvSpPr/>
                <p:nvPr/>
              </p:nvSpPr>
              <p:spPr>
                <a:xfrm>
                  <a:off x="3017793" y="5024297"/>
                  <a:ext cx="104432" cy="52216"/>
                </a:xfrm>
                <a:custGeom>
                  <a:avLst/>
                  <a:gdLst>
                    <a:gd name="csX0" fmla="*/ 165 w 104432"/>
                    <a:gd name="csY0" fmla="*/ 135 h 52216"/>
                    <a:gd name="csX1" fmla="*/ 52381 w 104432"/>
                    <a:gd name="csY1" fmla="*/ 52351 h 52216"/>
                    <a:gd name="csX2" fmla="*/ 104597 w 104432"/>
                    <a:gd name="csY2" fmla="*/ 135 h 522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4432" h="52216">
                      <a:moveTo>
                        <a:pt x="165" y="135"/>
                      </a:moveTo>
                      <a:lnTo>
                        <a:pt x="52381" y="52351"/>
                      </a:lnTo>
                      <a:lnTo>
                        <a:pt x="104597" y="135"/>
                      </a:lnTo>
                    </a:path>
                  </a:pathLst>
                </a:custGeom>
                <a:noFill/>
                <a:ln w="17393" cap="rnd">
                  <a:solidFill>
                    <a:srgbClr val="FFFFFF"/>
                  </a:solidFill>
                  <a:prstDash val="solid"/>
                  <a:round/>
                </a:ln>
              </p:spPr>
            </p:sp>
            <p:sp>
              <p:nvSpPr>
                <p:cNvPr id="98" name="任意形状 419"/>
                <p:cNvSpPr/>
                <p:nvPr/>
              </p:nvSpPr>
              <p:spPr>
                <a:xfrm>
                  <a:off x="3070009" y="4985135"/>
                  <a:ext cx="8702" cy="78324"/>
                </a:xfrm>
                <a:custGeom>
                  <a:avLst/>
                  <a:gdLst>
                    <a:gd name="csX0" fmla="*/ 165 w 8702"/>
                    <a:gd name="csY0" fmla="*/ 135 h 78324"/>
                    <a:gd name="csX1" fmla="*/ 165 w 8702"/>
                    <a:gd name="csY1" fmla="*/ 78459 h 783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702" h="78324">
                      <a:moveTo>
                        <a:pt x="165" y="135"/>
                      </a:moveTo>
                      <a:lnTo>
                        <a:pt x="165" y="78459"/>
                      </a:lnTo>
                    </a:path>
                  </a:pathLst>
                </a:custGeom>
                <a:ln w="17393" cap="rnd">
                  <a:solidFill>
                    <a:srgbClr val="FFFFFF"/>
                  </a:solidFill>
                  <a:prstDash val="solid"/>
                  <a:miter/>
                </a:ln>
              </p:spPr>
            </p:sp>
          </p:grpSp>
        </p:grpSp>
      </p:grpSp>
      <p:sp>
        <p:nvSpPr>
          <p:cNvPr id="102" name="矩形 101"/>
          <p:cNvSpPr/>
          <p:nvPr/>
        </p:nvSpPr>
        <p:spPr>
          <a:xfrm>
            <a:off x="904575" y="2735139"/>
            <a:ext cx="534070" cy="31835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Times New Roman" panose="02020603050405020304" pitchFamily="18" charset="0"/>
              </a:rPr>
              <a:t>&lt; / &gt;</a:t>
            </a:r>
            <a:endParaRPr lang="zh-CN" altLang="en-US" sz="1050" b="1" dirty="0">
              <a:solidFill>
                <a:schemeClr val="accent5">
                  <a:lumMod val="75000"/>
                </a:schemeClr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9" name="图形 44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7645" y="2642433"/>
            <a:ext cx="503766" cy="503766"/>
          </a:xfrm>
          <a:prstGeom prst="rect">
            <a:avLst/>
          </a:prstGeom>
        </p:spPr>
      </p:pic>
      <p:cxnSp>
        <p:nvCxnSpPr>
          <p:cNvPr id="104" name="直接连接符 103"/>
          <p:cNvCxnSpPr>
            <a:stCxn id="77" idx="3"/>
            <a:endCxn id="123" idx="2"/>
          </p:cNvCxnSpPr>
          <p:nvPr/>
        </p:nvCxnSpPr>
        <p:spPr>
          <a:xfrm>
            <a:off x="4416431" y="2253170"/>
            <a:ext cx="715848" cy="518467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5" name="直接连接符 104"/>
          <p:cNvCxnSpPr>
            <a:stCxn id="101" idx="1"/>
            <a:endCxn id="123" idx="6"/>
          </p:cNvCxnSpPr>
          <p:nvPr/>
        </p:nvCxnSpPr>
        <p:spPr>
          <a:xfrm flipH="1">
            <a:off x="6807991" y="2253170"/>
            <a:ext cx="971812" cy="518467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33" idx="0"/>
            <a:endCxn id="123" idx="4"/>
          </p:cNvCxnSpPr>
          <p:nvPr/>
        </p:nvCxnSpPr>
        <p:spPr>
          <a:xfrm flipV="1">
            <a:off x="5969134" y="3593805"/>
            <a:ext cx="1001" cy="734468"/>
          </a:xfrm>
          <a:prstGeom prst="line">
            <a:avLst/>
          </a:prstGeom>
          <a:ln w="25400" cap="sq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机制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Python </a:t>
            </a:r>
            <a:r>
              <a:rPr lang="zh-CN" altLang="en-US" dirty="0"/>
              <a:t>验证环境</a:t>
            </a:r>
            <a:endParaRPr lang="zh-CN" altLang="en-US" dirty="0"/>
          </a:p>
        </p:txBody>
      </p:sp>
      <p:sp>
        <p:nvSpPr>
          <p:cNvPr id="5" name="内容占位符 1"/>
          <p:cNvSpPr>
            <a:spLocks noGrp="1"/>
          </p:cNvSpPr>
          <p:nvPr>
            <p:ph type="body" idx="1"/>
          </p:nvPr>
        </p:nvSpPr>
        <p:spPr>
          <a:xfrm>
            <a:off x="814069" y="1136650"/>
            <a:ext cx="10539731" cy="2386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kumimoji="1" lang="zh-CN" altLang="en-US" dirty="0"/>
              <a:t>为什么选 </a:t>
            </a:r>
            <a:r>
              <a:rPr kumimoji="1" lang="en-US" altLang="zh-CN" dirty="0"/>
              <a:t>Python</a:t>
            </a:r>
            <a:r>
              <a:rPr kumimoji="1" lang="zh-CN" altLang="en-US" dirty="0"/>
              <a:t> ？</a:t>
            </a:r>
            <a:endParaRPr kumimoji="1" lang="en-US" altLang="zh-CN" dirty="0"/>
          </a:p>
          <a:p>
            <a:pPr lvl="1">
              <a:lnSpc>
                <a:spcPct val="130000"/>
              </a:lnSpc>
            </a:pPr>
            <a:r>
              <a:rPr kumimoji="1" lang="en-US" altLang="zh-CN" dirty="0"/>
              <a:t>Python</a:t>
            </a:r>
            <a:r>
              <a:rPr kumimoji="1" lang="zh-CN" altLang="en-US" dirty="0"/>
              <a:t> 表达能力强、生态丰富、上手容易</a:t>
            </a:r>
            <a:endParaRPr kumimoji="1" lang="en-US" altLang="zh-CN" dirty="0"/>
          </a:p>
          <a:p>
            <a:pPr lvl="1">
              <a:lnSpc>
                <a:spcPct val="130000"/>
              </a:lnSpc>
            </a:pPr>
            <a:r>
              <a:rPr lang="en-GB" altLang="zh-CN" b="1" dirty="0">
                <a:solidFill>
                  <a:schemeClr val="accent6"/>
                </a:solidFill>
              </a:rPr>
              <a:t>LLM </a:t>
            </a:r>
            <a:r>
              <a:rPr lang="zh-CN" altLang="en-US" b="1" dirty="0">
                <a:solidFill>
                  <a:schemeClr val="accent6"/>
                </a:solidFill>
              </a:rPr>
              <a:t>擅长写 </a:t>
            </a:r>
            <a:r>
              <a:rPr lang="en-GB" altLang="zh-CN" b="1" dirty="0">
                <a:solidFill>
                  <a:schemeClr val="accent6"/>
                </a:solidFill>
              </a:rPr>
              <a:t>Python</a:t>
            </a:r>
            <a:r>
              <a:rPr lang="zh-CN" altLang="en-GB" b="1" dirty="0">
                <a:solidFill>
                  <a:schemeClr val="accent6"/>
                </a:solidFill>
              </a:rPr>
              <a:t>，</a:t>
            </a:r>
            <a:r>
              <a:rPr lang="zh-CN" altLang="en-US" b="1" dirty="0">
                <a:solidFill>
                  <a:schemeClr val="accent6"/>
                </a:solidFill>
              </a:rPr>
              <a:t>也更擅长用 </a:t>
            </a:r>
            <a:r>
              <a:rPr lang="en-GB" altLang="zh-CN" b="1" dirty="0">
                <a:solidFill>
                  <a:schemeClr val="accent6"/>
                </a:solidFill>
              </a:rPr>
              <a:t>Python </a:t>
            </a:r>
            <a:r>
              <a:rPr lang="zh-CN" altLang="en-US" b="1" dirty="0">
                <a:solidFill>
                  <a:schemeClr val="accent6"/>
                </a:solidFill>
              </a:rPr>
              <a:t>解决问题</a:t>
            </a:r>
            <a:endParaRPr kumimoji="1" lang="en-US" altLang="zh-CN" dirty="0"/>
          </a:p>
          <a:p>
            <a:pPr lvl="1">
              <a:lnSpc>
                <a:spcPct val="130000"/>
              </a:lnSpc>
            </a:pPr>
            <a:r>
              <a:rPr kumimoji="1" lang="zh-CN" altLang="en-US" dirty="0"/>
              <a:t>万众一芯现有验证工具基于 </a:t>
            </a:r>
            <a:r>
              <a:rPr kumimoji="1" lang="en-US" altLang="zh-CN" dirty="0"/>
              <a:t>Python </a:t>
            </a:r>
            <a:r>
              <a:rPr kumimoji="1" lang="zh-CN" altLang="en-US" dirty="0"/>
              <a:t>开发</a:t>
            </a:r>
            <a:endParaRPr kumimoji="1"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033" y="3429000"/>
            <a:ext cx="3779196" cy="290570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322365" y="3522921"/>
            <a:ext cx="4976037" cy="2811780"/>
            <a:chOff x="5200652" y="3130632"/>
            <a:chExt cx="5936968" cy="286357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0018" y="5734316"/>
              <a:ext cx="4098235" cy="259887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0652" y="3130632"/>
              <a:ext cx="5936968" cy="2621178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0" y="6442502"/>
            <a:ext cx="1219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[1] Zan D, Huang Z, Liu W, et al. Multi-</a:t>
            </a:r>
            <a:r>
              <a:rPr lang="en-US" altLang="zh-CN" sz="105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swe</a:t>
            </a:r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-bench: A multilingual benchmark for issue resolving[J]. </a:t>
            </a:r>
            <a:r>
              <a:rPr lang="en-US" altLang="zh-CN" sz="105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arXiv</a:t>
            </a:r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preprint arXiv:2504.02605, 2025.</a:t>
            </a:r>
            <a:endParaRPr lang="en-US" altLang="zh-CN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[2] Twist L, Zhang J M, Harman M, et al. LLMs Love Python: A Study of LLMs' Bias for Programming Languages and Libraries[J]. </a:t>
            </a:r>
            <a:r>
              <a:rPr lang="en-US" altLang="zh-CN" sz="105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arXiv</a:t>
            </a:r>
            <a:r>
              <a:rPr lang="en-US" altLang="zh-CN" sz="105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preprint arXiv:2503.17181, 2025.</a:t>
            </a:r>
            <a:endParaRPr lang="en-US" altLang="zh-CN" sz="105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8402" y="1402995"/>
            <a:ext cx="2680717" cy="1370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0606" y="2195851"/>
            <a:ext cx="2463230" cy="24112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217" y="4112143"/>
            <a:ext cx="2438902" cy="1949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机制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Python </a:t>
            </a:r>
            <a:r>
              <a:rPr lang="zh-CN" altLang="en-US" dirty="0"/>
              <a:t>验证环境</a:t>
            </a:r>
            <a:endParaRPr lang="zh-CN" altLang="en-US" dirty="0"/>
          </a:p>
        </p:txBody>
      </p:sp>
      <p:pic>
        <p:nvPicPr>
          <p:cNvPr id="4" name="图片 3" descr="图示&#10;&#10;AI 生成的内容可能不正确。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69" y="1222353"/>
            <a:ext cx="10539096" cy="239201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494013" y="5293955"/>
            <a:ext cx="2976685" cy="482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Picker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494013" y="4703405"/>
            <a:ext cx="1358900" cy="482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Toffee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074552" y="4706047"/>
            <a:ext cx="1396146" cy="482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err="1"/>
              <a:t>XSPdb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494013" y="4105807"/>
            <a:ext cx="1358900" cy="482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err="1"/>
              <a:t>UCAgent</a:t>
            </a:r>
            <a:endParaRPr lang="zh-CN" altLang="en-US" dirty="0"/>
          </a:p>
        </p:txBody>
      </p:sp>
      <p:sp>
        <p:nvSpPr>
          <p:cNvPr id="8" name="文本框 8"/>
          <p:cNvSpPr txBox="1"/>
          <p:nvPr/>
        </p:nvSpPr>
        <p:spPr>
          <a:xfrm>
            <a:off x="7494014" y="5847901"/>
            <a:ext cx="297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解决编程语言问题</a:t>
            </a:r>
            <a:endParaRPr lang="zh-CN" altLang="en-US" dirty="0"/>
          </a:p>
        </p:txBody>
      </p:sp>
      <p:sp>
        <p:nvSpPr>
          <p:cNvPr id="9" name="文本框 9"/>
          <p:cNvSpPr txBox="1"/>
          <p:nvPr/>
        </p:nvSpPr>
        <p:spPr>
          <a:xfrm>
            <a:off x="9772626" y="4334073"/>
            <a:ext cx="135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AI </a:t>
            </a:r>
            <a:r>
              <a:rPr lang="zh-CN" altLang="en-US" dirty="0"/>
              <a:t>调试 </a:t>
            </a:r>
            <a:r>
              <a:rPr lang="en-US" altLang="zh-CN" dirty="0"/>
              <a:t>SoC</a:t>
            </a:r>
            <a:endParaRPr lang="zh-CN" altLang="en-US" dirty="0"/>
          </a:p>
        </p:txBody>
      </p:sp>
      <p:cxnSp>
        <p:nvCxnSpPr>
          <p:cNvPr id="10" name="连接符: 肘形 9"/>
          <p:cNvCxnSpPr>
            <a:stCxn id="7" idx="3"/>
            <a:endCxn id="6" idx="0"/>
          </p:cNvCxnSpPr>
          <p:nvPr/>
        </p:nvCxnSpPr>
        <p:spPr>
          <a:xfrm>
            <a:off x="8852913" y="4347107"/>
            <a:ext cx="919712" cy="358940"/>
          </a:xfrm>
          <a:prstGeom prst="bentConnector2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0"/>
          <p:cNvSpPr txBox="1"/>
          <p:nvPr/>
        </p:nvSpPr>
        <p:spPr>
          <a:xfrm>
            <a:off x="6551012" y="4162441"/>
            <a:ext cx="9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AI </a:t>
            </a:r>
            <a:r>
              <a:rPr lang="zh-CN" altLang="en-US" dirty="0"/>
              <a:t>代理</a:t>
            </a:r>
            <a:endParaRPr lang="zh-CN" altLang="en-US" dirty="0"/>
          </a:p>
        </p:txBody>
      </p:sp>
      <p:sp>
        <p:nvSpPr>
          <p:cNvPr id="15" name="文本框 11"/>
          <p:cNvSpPr txBox="1"/>
          <p:nvPr/>
        </p:nvSpPr>
        <p:spPr>
          <a:xfrm>
            <a:off x="6352537" y="4760039"/>
            <a:ext cx="114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验证框架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060474" y="3699941"/>
            <a:ext cx="5513702" cy="2858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5930" indent="-455930" fontAlgn="base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多语言验证工具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9330" lvl="1" indent="-379730" fontAlgn="base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–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打包成软件代码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5930" indent="-455930" fontAlgn="base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软件生态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9330" lvl="1" indent="-379730" fontAlgn="base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–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Toffee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：基于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Pytest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的芯片验证框架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9330" lvl="1" indent="-379730" fontAlgn="base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–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XSPdb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：交互式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RISC-V IP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核调试器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9330" lvl="1" indent="-379730" fontAlgn="base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–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UCAgent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：基于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的验证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Picker: </a:t>
            </a:r>
            <a:r>
              <a:rPr lang="zh-CN" altLang="en-US" dirty="0"/>
              <a:t>基于 </a:t>
            </a:r>
            <a:r>
              <a:rPr lang="en-US" altLang="zh-CN" dirty="0"/>
              <a:t>Python </a:t>
            </a:r>
            <a:r>
              <a:rPr lang="zh-CN" altLang="en-US" dirty="0"/>
              <a:t>的 </a:t>
            </a:r>
            <a:r>
              <a:rPr lang="en-US" altLang="zh-CN" dirty="0"/>
              <a:t>UT </a:t>
            </a:r>
            <a:r>
              <a:rPr lang="zh-CN" altLang="en-US" dirty="0"/>
              <a:t>验证</a:t>
            </a:r>
            <a:r>
              <a:rPr lang="zh-CN" altLang="en-US" sz="2000" dirty="0"/>
              <a:t>（</a:t>
            </a:r>
            <a:r>
              <a:rPr lang="en-US" altLang="zh-CN" sz="2000" dirty="0"/>
              <a:t>ISCA2026 </a:t>
            </a:r>
            <a:r>
              <a:rPr lang="zh-CN" altLang="en-US" sz="2000" dirty="0"/>
              <a:t>录用）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048455" y="1136651"/>
            <a:ext cx="8580120" cy="1980241"/>
            <a:chOff x="308398" y="903688"/>
            <a:chExt cx="9861245" cy="2330103"/>
          </a:xfrm>
        </p:grpSpPr>
        <p:sp>
          <p:nvSpPr>
            <p:cNvPr id="25" name="流程图: 过程 24"/>
            <p:cNvSpPr/>
            <p:nvPr/>
          </p:nvSpPr>
          <p:spPr>
            <a:xfrm>
              <a:off x="1265767" y="929749"/>
              <a:ext cx="7707977" cy="2304042"/>
            </a:xfrm>
            <a:prstGeom prst="flowChartProcess">
              <a:avLst/>
            </a:prstGeom>
            <a:solidFill>
              <a:srgbClr val="F7F7F7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流程图: 过程 25"/>
            <p:cNvSpPr/>
            <p:nvPr/>
          </p:nvSpPr>
          <p:spPr>
            <a:xfrm>
              <a:off x="3579384" y="1322765"/>
              <a:ext cx="2960501" cy="1593849"/>
            </a:xfrm>
            <a:prstGeom prst="flowChartProcess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流程图: 过程 26"/>
            <p:cNvSpPr/>
            <p:nvPr/>
          </p:nvSpPr>
          <p:spPr>
            <a:xfrm>
              <a:off x="6799360" y="1322765"/>
              <a:ext cx="2057996" cy="1593850"/>
            </a:xfrm>
            <a:prstGeom prst="flowChartProcess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流程图: 过程 27"/>
            <p:cNvSpPr/>
            <p:nvPr/>
          </p:nvSpPr>
          <p:spPr>
            <a:xfrm>
              <a:off x="1413349" y="1314998"/>
              <a:ext cx="1901254" cy="1593848"/>
            </a:xfrm>
            <a:prstGeom prst="flowChartProcess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流程图: 过程 28"/>
            <p:cNvSpPr/>
            <p:nvPr/>
          </p:nvSpPr>
          <p:spPr>
            <a:xfrm>
              <a:off x="3658676" y="1413588"/>
              <a:ext cx="654758" cy="1419053"/>
            </a:xfrm>
            <a:prstGeom prst="flowChartProcess">
              <a:avLst/>
            </a:prstGeom>
            <a:solidFill>
              <a:srgbClr val="75BD42">
                <a:lumMod val="40000"/>
                <a:lumOff val="60000"/>
              </a:srgb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Calibri" panose="020F0502020204030204" pitchFamily="34" charset="0"/>
                </a:rPr>
                <a:t>Control API</a:t>
              </a:r>
              <a:endParaRPr kumimoji="0" lang="en-US" altLang="zh-CN" sz="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1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Calibri" panose="020F0502020204030204" pitchFamily="34" charset="0"/>
                </a:rPr>
                <a:t>Codegen</a:t>
              </a:r>
              <a:endParaRPr kumimoji="0" lang="zh-CN" altLang="en-US" sz="8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30" name="流程图: 文档 29"/>
            <p:cNvSpPr/>
            <p:nvPr/>
          </p:nvSpPr>
          <p:spPr>
            <a:xfrm>
              <a:off x="4573939" y="1413588"/>
              <a:ext cx="902626" cy="351292"/>
            </a:xfrm>
            <a:prstGeom prst="flowChartDocument">
              <a:avLst/>
            </a:prstGeom>
            <a:solidFill>
              <a:srgbClr val="EBF1FE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72000" rIns="0" b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Socket Transport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31" name="流程图: 文档 30"/>
            <p:cNvSpPr/>
            <p:nvPr/>
          </p:nvSpPr>
          <p:spPr>
            <a:xfrm>
              <a:off x="5579414" y="1418018"/>
              <a:ext cx="902626" cy="345758"/>
            </a:xfrm>
            <a:prstGeom prst="flowChartDocument">
              <a:avLst/>
            </a:prstGeom>
            <a:solidFill>
              <a:srgbClr val="EBF1FE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72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Bi-Direction</a:t>
              </a:r>
              <a:endPara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Func</a:t>
              </a:r>
              <a:r>
                <a:rPr kumimoji="0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 Invocation</a:t>
              </a:r>
              <a:endPara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32" name="流程图: 文档 31"/>
            <p:cNvSpPr/>
            <p:nvPr/>
          </p:nvSpPr>
          <p:spPr>
            <a:xfrm>
              <a:off x="5579414" y="1875180"/>
              <a:ext cx="902626" cy="345324"/>
            </a:xfrm>
            <a:prstGeom prst="flowChartDocument">
              <a:avLst/>
            </a:prstGeom>
            <a:solidFill>
              <a:srgbClr val="EBF1FE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72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Simulation Control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33" name="流程图: 文档 32"/>
            <p:cNvSpPr/>
            <p:nvPr/>
          </p:nvSpPr>
          <p:spPr>
            <a:xfrm>
              <a:off x="4573939" y="1875415"/>
              <a:ext cx="902626" cy="345758"/>
            </a:xfrm>
            <a:prstGeom prst="flowChartDocument">
              <a:avLst/>
            </a:prstGeom>
            <a:solidFill>
              <a:srgbClr val="D9D9D9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72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DPI Signal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Control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34" name="流程图: 文档 33"/>
            <p:cNvSpPr/>
            <p:nvPr/>
          </p:nvSpPr>
          <p:spPr>
            <a:xfrm>
              <a:off x="5579414" y="2487317"/>
              <a:ext cx="902626" cy="345324"/>
            </a:xfrm>
            <a:prstGeom prst="flowChartDocument">
              <a:avLst/>
            </a:prstGeom>
            <a:solidFill>
              <a:srgbClr val="75BD42">
                <a:lumMod val="40000"/>
                <a:lumOff val="60000"/>
              </a:srgbClr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54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Package Meta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(__init__.py)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35" name="流程图: 文档 34"/>
            <p:cNvSpPr/>
            <p:nvPr/>
          </p:nvSpPr>
          <p:spPr>
            <a:xfrm>
              <a:off x="4573939" y="2487892"/>
              <a:ext cx="902626" cy="344749"/>
            </a:xfrm>
            <a:prstGeom prst="flowChartDocument">
              <a:avLst/>
            </a:prstGeom>
            <a:solidFill>
              <a:srgbClr val="75BD42">
                <a:lumMod val="40000"/>
                <a:lumOff val="60000"/>
              </a:srgbClr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54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Design Wrapper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(libUTCache.py)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36" name="流程图: 过程 35"/>
            <p:cNvSpPr/>
            <p:nvPr/>
          </p:nvSpPr>
          <p:spPr>
            <a:xfrm>
              <a:off x="6904682" y="1655754"/>
              <a:ext cx="712688" cy="246931"/>
            </a:xfrm>
            <a:prstGeom prst="flowChartProcess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Calibri" panose="020F0502020204030204" pitchFamily="34" charset="0"/>
                </a:rPr>
                <a:t>Simulator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37" name="流程图: 过程 36"/>
            <p:cNvSpPr/>
            <p:nvPr/>
          </p:nvSpPr>
          <p:spPr>
            <a:xfrm>
              <a:off x="6904682" y="2281523"/>
              <a:ext cx="712688" cy="246931"/>
            </a:xfrm>
            <a:prstGeom prst="flowChartProcess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Calibri" panose="020F0502020204030204" pitchFamily="34" charset="0"/>
                </a:rPr>
                <a:t>SWIG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38" name="流程图: 文档 37"/>
            <p:cNvSpPr/>
            <p:nvPr/>
          </p:nvSpPr>
          <p:spPr>
            <a:xfrm>
              <a:off x="7854655" y="1413588"/>
              <a:ext cx="902626" cy="421172"/>
            </a:xfrm>
            <a:prstGeom prst="flowChartDocument">
              <a:avLst/>
            </a:prstGeom>
            <a:solidFill>
              <a:srgbClr val="EBF1FE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90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Simulator Lib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(libCache.so)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39" name="流程图: 文档 38"/>
            <p:cNvSpPr/>
            <p:nvPr/>
          </p:nvSpPr>
          <p:spPr>
            <a:xfrm>
              <a:off x="7854655" y="1931230"/>
              <a:ext cx="902626" cy="421172"/>
            </a:xfrm>
            <a:prstGeom prst="flowChartDocument">
              <a:avLst/>
            </a:prstGeom>
            <a:solidFill>
              <a:srgbClr val="C8E5B3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90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Design Lib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(_UT_Cache.so)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40" name="流程图: 多文档 39"/>
            <p:cNvSpPr/>
            <p:nvPr/>
          </p:nvSpPr>
          <p:spPr>
            <a:xfrm>
              <a:off x="7854655" y="2450505"/>
              <a:ext cx="902626" cy="421172"/>
            </a:xfrm>
            <a:prstGeom prst="flowChartMultidocument">
              <a:avLst/>
            </a:prstGeom>
            <a:solidFill>
              <a:srgbClr val="C8E5B3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36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Design Wrapper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(libCache.py)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41" name="流程图: 多文档 40"/>
            <p:cNvSpPr/>
            <p:nvPr/>
          </p:nvSpPr>
          <p:spPr>
            <a:xfrm>
              <a:off x="9143114" y="1862975"/>
              <a:ext cx="1026529" cy="527302"/>
            </a:xfrm>
            <a:prstGeom prst="flowChartMultidocument">
              <a:avLst/>
            </a:prstGeom>
            <a:solidFill>
              <a:srgbClr val="75BD42">
                <a:lumMod val="40000"/>
                <a:lumOff val="6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Software Package</a:t>
              </a:r>
              <a:endParaRPr kumimoji="0" lang="en-US" altLang="zh-CN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(import </a:t>
              </a:r>
              <a:r>
                <a:rPr kumimoji="0" lang="en-US" altLang="zh-CN" sz="600" b="1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simv</a:t>
              </a:r>
              <a:r>
                <a:rPr kumimoji="0" lang="en-US" altLang="zh-CN" sz="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</a:t>
              </a:r>
              <a:endParaRPr kumimoji="0" lang="en-US" altLang="zh-CN" sz="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2" name="箭头: 右 41"/>
            <p:cNvSpPr/>
            <p:nvPr/>
          </p:nvSpPr>
          <p:spPr>
            <a:xfrm>
              <a:off x="4314464" y="1752895"/>
              <a:ext cx="165802" cy="158285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箭头: 右 42"/>
            <p:cNvSpPr/>
            <p:nvPr/>
          </p:nvSpPr>
          <p:spPr>
            <a:xfrm>
              <a:off x="4314464" y="2495360"/>
              <a:ext cx="165802" cy="158285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箭头: 右 43"/>
            <p:cNvSpPr/>
            <p:nvPr/>
          </p:nvSpPr>
          <p:spPr>
            <a:xfrm>
              <a:off x="3350773" y="2033791"/>
              <a:ext cx="195011" cy="18617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流程图: 过程 44"/>
            <p:cNvSpPr/>
            <p:nvPr/>
          </p:nvSpPr>
          <p:spPr>
            <a:xfrm>
              <a:off x="4511599" y="1322766"/>
              <a:ext cx="2028286" cy="1021846"/>
            </a:xfrm>
            <a:prstGeom prst="flowChartProcess">
              <a:avLst/>
            </a:prstGeom>
            <a:noFill/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流程图: 过程 45"/>
            <p:cNvSpPr/>
            <p:nvPr/>
          </p:nvSpPr>
          <p:spPr>
            <a:xfrm>
              <a:off x="4511599" y="2338648"/>
              <a:ext cx="2028286" cy="577965"/>
            </a:xfrm>
            <a:prstGeom prst="flowChartProcess">
              <a:avLst/>
            </a:prstGeom>
            <a:noFill/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流程图: 多文档 46"/>
            <p:cNvSpPr/>
            <p:nvPr/>
          </p:nvSpPr>
          <p:spPr>
            <a:xfrm>
              <a:off x="308398" y="1674172"/>
              <a:ext cx="836071" cy="437750"/>
            </a:xfrm>
            <a:prstGeom prst="flowChartMultidocument">
              <a:avLst/>
            </a:prstGeom>
            <a:noFill/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RTL Design</a:t>
              </a:r>
              <a:endPara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(DUT.sv)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48" name="流程图: 多文档 47"/>
            <p:cNvSpPr/>
            <p:nvPr/>
          </p:nvSpPr>
          <p:spPr>
            <a:xfrm>
              <a:off x="308398" y="2251150"/>
              <a:ext cx="836071" cy="437750"/>
            </a:xfrm>
            <a:prstGeom prst="flowChartMultidocumen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User Config</a:t>
              </a:r>
              <a:endPara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</a:t>
              </a:r>
              <a:r>
                <a:rPr kumimoji="0" lang="en-US" altLang="zh-CN" sz="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DUT.yaml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)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49" name="流程图: 过程 48"/>
            <p:cNvSpPr/>
            <p:nvPr/>
          </p:nvSpPr>
          <p:spPr>
            <a:xfrm>
              <a:off x="1463232" y="1732339"/>
              <a:ext cx="689245" cy="246930"/>
            </a:xfrm>
            <a:prstGeom prst="flowChartProcess">
              <a:avLst/>
            </a:prstGeom>
            <a:solidFill>
              <a:srgbClr val="C8E5B3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Calibri" panose="020F0502020204030204" pitchFamily="34" charset="0"/>
                </a:rPr>
                <a:t>RTL Parser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50" name="流程图: 过程 49"/>
            <p:cNvSpPr/>
            <p:nvPr/>
          </p:nvSpPr>
          <p:spPr>
            <a:xfrm>
              <a:off x="1466313" y="2305077"/>
              <a:ext cx="689245" cy="246930"/>
            </a:xfrm>
            <a:prstGeom prst="flowChartProcess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Calibri" panose="020F0502020204030204" pitchFamily="34" charset="0"/>
                </a:rPr>
                <a:t>Config Parser</a:t>
              </a:r>
              <a:endParaRPr kumimoji="0" lang="zh-CN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51" name="文本框 32"/>
            <p:cNvSpPr txBox="1"/>
            <p:nvPr/>
          </p:nvSpPr>
          <p:spPr>
            <a:xfrm>
              <a:off x="1904566" y="911339"/>
              <a:ext cx="921479" cy="470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解析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52" name="文本框 33"/>
            <p:cNvSpPr txBox="1"/>
            <p:nvPr/>
          </p:nvSpPr>
          <p:spPr>
            <a:xfrm>
              <a:off x="3726135" y="903688"/>
              <a:ext cx="2802622" cy="470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000" b="1" i="0" u="none" strike="noStrike" kern="0" cap="none" spc="0" normalizeH="0" baseline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defRPr>
              </a:lvl1pPr>
            </a:lstStyle>
            <a:p>
              <a:r>
                <a:rPr lang="zh-CN" altLang="en-US" dirty="0"/>
                <a:t>生成封装</a:t>
              </a:r>
              <a:endParaRPr lang="zh-CN" altLang="en-US" dirty="0"/>
            </a:p>
          </p:txBody>
        </p:sp>
        <p:sp>
          <p:nvSpPr>
            <p:cNvPr id="53" name="文本框 34"/>
            <p:cNvSpPr txBox="1"/>
            <p:nvPr/>
          </p:nvSpPr>
          <p:spPr>
            <a:xfrm>
              <a:off x="7296604" y="917062"/>
              <a:ext cx="1116101" cy="432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000" b="1" i="0" u="none" strike="noStrike" kern="0" cap="none" spc="0" normalizeH="0" baseline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defRPr>
              </a:lvl1pPr>
            </a:lstStyle>
            <a:p>
              <a:r>
                <a:rPr lang="zh-CN" altLang="en-US" dirty="0"/>
                <a:t>编译</a:t>
              </a:r>
              <a:endParaRPr lang="zh-CN" altLang="en-US" dirty="0"/>
            </a:p>
          </p:txBody>
        </p:sp>
        <p:sp>
          <p:nvSpPr>
            <p:cNvPr id="54" name="文本框 35"/>
            <p:cNvSpPr txBox="1"/>
            <p:nvPr/>
          </p:nvSpPr>
          <p:spPr>
            <a:xfrm>
              <a:off x="4735392" y="2171725"/>
              <a:ext cx="1850361" cy="19513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  <a:sym typeface="+mn-ea"/>
                </a:rPr>
                <a:t>Hardware Library</a:t>
              </a:r>
              <a:endParaRPr kumimoji="0" lang="en-US" altLang="zh-CN" sz="6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55" name="文本框 36"/>
            <p:cNvSpPr txBox="1"/>
            <p:nvPr/>
          </p:nvSpPr>
          <p:spPr>
            <a:xfrm>
              <a:off x="4735392" y="2325720"/>
              <a:ext cx="1850361" cy="19513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  <a:sym typeface="+mn-ea"/>
                </a:rPr>
                <a:t>Software Package</a:t>
              </a:r>
              <a:endParaRPr kumimoji="0" lang="en-US" altLang="zh-CN" sz="6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56" name="箭头: 右 55"/>
            <p:cNvSpPr/>
            <p:nvPr/>
          </p:nvSpPr>
          <p:spPr>
            <a:xfrm>
              <a:off x="1189359" y="1790053"/>
              <a:ext cx="195011" cy="189215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箭头: 右 56"/>
            <p:cNvSpPr/>
            <p:nvPr/>
          </p:nvSpPr>
          <p:spPr>
            <a:xfrm>
              <a:off x="1194687" y="2356270"/>
              <a:ext cx="195011" cy="189215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箭头: 右 57"/>
            <p:cNvSpPr/>
            <p:nvPr/>
          </p:nvSpPr>
          <p:spPr>
            <a:xfrm>
              <a:off x="6572374" y="1712332"/>
              <a:ext cx="195011" cy="18617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箭头: 右 58"/>
            <p:cNvSpPr/>
            <p:nvPr/>
          </p:nvSpPr>
          <p:spPr>
            <a:xfrm rot="19537667">
              <a:off x="7672842" y="1618777"/>
              <a:ext cx="162545" cy="155176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箭头: 右 59"/>
            <p:cNvSpPr/>
            <p:nvPr/>
          </p:nvSpPr>
          <p:spPr>
            <a:xfrm rot="19537667">
              <a:off x="7672841" y="2165824"/>
              <a:ext cx="162545" cy="155176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箭头: 右 60"/>
            <p:cNvSpPr/>
            <p:nvPr/>
          </p:nvSpPr>
          <p:spPr>
            <a:xfrm rot="1401213">
              <a:off x="7672841" y="2509578"/>
              <a:ext cx="162545" cy="155176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流程图: 过程 61"/>
            <p:cNvSpPr>
              <a:spLocks noChangeAspect="1"/>
            </p:cNvSpPr>
            <p:nvPr/>
          </p:nvSpPr>
          <p:spPr>
            <a:xfrm>
              <a:off x="1402365" y="2997577"/>
              <a:ext cx="180626" cy="180626"/>
            </a:xfrm>
            <a:prstGeom prst="flowChartProcess">
              <a:avLst/>
            </a:prstGeom>
            <a:solidFill>
              <a:srgbClr val="75BD42">
                <a:lumMod val="40000"/>
                <a:lumOff val="60000"/>
              </a:srgb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文本框 44"/>
            <p:cNvSpPr txBox="1"/>
            <p:nvPr/>
          </p:nvSpPr>
          <p:spPr>
            <a:xfrm>
              <a:off x="1624108" y="2998932"/>
              <a:ext cx="740543" cy="180626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Calibri" panose="020F0502020204030204" pitchFamily="34" charset="0"/>
                  <a:cs typeface="Calibri" panose="020F0502020204030204" pitchFamily="34" charset="0"/>
                </a:rPr>
                <a:t>New Software</a:t>
              </a:r>
              <a:endParaRPr kumimoji="0" lang="zh-CN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64" name="流程图: 过程 63"/>
            <p:cNvSpPr>
              <a:spLocks noChangeAspect="1"/>
            </p:cNvSpPr>
            <p:nvPr/>
          </p:nvSpPr>
          <p:spPr>
            <a:xfrm>
              <a:off x="2364651" y="2997577"/>
              <a:ext cx="180626" cy="180626"/>
            </a:xfrm>
            <a:prstGeom prst="flowChartProcess">
              <a:avLst/>
            </a:prstGeom>
            <a:solidFill>
              <a:srgbClr val="EBF1FE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流程图: 过程 64"/>
            <p:cNvSpPr>
              <a:spLocks noChangeAspect="1"/>
            </p:cNvSpPr>
            <p:nvPr/>
          </p:nvSpPr>
          <p:spPr>
            <a:xfrm>
              <a:off x="3615797" y="2997577"/>
              <a:ext cx="180626" cy="180626"/>
            </a:xfrm>
            <a:prstGeom prst="flowChartProcess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流程图: 过程 65"/>
            <p:cNvSpPr>
              <a:spLocks noChangeAspect="1"/>
            </p:cNvSpPr>
            <p:nvPr/>
          </p:nvSpPr>
          <p:spPr>
            <a:xfrm>
              <a:off x="4805735" y="2997577"/>
              <a:ext cx="180626" cy="180626"/>
            </a:xfrm>
            <a:prstGeom prst="flowChartProcess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文本框 48"/>
            <p:cNvSpPr txBox="1"/>
            <p:nvPr/>
          </p:nvSpPr>
          <p:spPr>
            <a:xfrm>
              <a:off x="2585837" y="2992598"/>
              <a:ext cx="982620" cy="180626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Calibri" panose="020F0502020204030204" pitchFamily="34" charset="0"/>
                  <a:cs typeface="Calibri" panose="020F0502020204030204" pitchFamily="34" charset="0"/>
                </a:rPr>
                <a:t>Enhanced Hardware</a:t>
              </a:r>
              <a:endParaRPr kumimoji="0" lang="zh-CN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68" name="文本框 49"/>
            <p:cNvSpPr txBox="1"/>
            <p:nvPr/>
          </p:nvSpPr>
          <p:spPr>
            <a:xfrm>
              <a:off x="3843763" y="2992598"/>
              <a:ext cx="820198" cy="180626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Calibri" panose="020F0502020204030204" pitchFamily="34" charset="0"/>
                  <a:cs typeface="Calibri" panose="020F0502020204030204" pitchFamily="34" charset="0"/>
                </a:rPr>
                <a:t>Existing Work</a:t>
              </a:r>
              <a:endParaRPr kumimoji="0" lang="zh-CN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69" name="文本框 50"/>
            <p:cNvSpPr txBox="1"/>
            <p:nvPr/>
          </p:nvSpPr>
          <p:spPr>
            <a:xfrm>
              <a:off x="5027642" y="2992598"/>
              <a:ext cx="979527" cy="180626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Calibri" panose="020F0502020204030204" pitchFamily="34" charset="0"/>
                  <a:cs typeface="Calibri" panose="020F0502020204030204" pitchFamily="34" charset="0"/>
                </a:rPr>
                <a:t>User Codebase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  <a:cs typeface="Calibri" panose="020F0502020204030204" pitchFamily="34" charset="0"/>
              </a:endParaRPr>
            </a:p>
          </p:txBody>
        </p:sp>
        <p:pic>
          <p:nvPicPr>
            <p:cNvPr id="70" name="图形 51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9713" y="1196721"/>
              <a:ext cx="404556" cy="404556"/>
            </a:xfrm>
            <a:prstGeom prst="rect">
              <a:avLst/>
            </a:prstGeom>
          </p:spPr>
        </p:pic>
        <p:sp>
          <p:nvSpPr>
            <p:cNvPr id="71" name="箭头: 右 70"/>
            <p:cNvSpPr/>
            <p:nvPr/>
          </p:nvSpPr>
          <p:spPr>
            <a:xfrm>
              <a:off x="8896334" y="2033791"/>
              <a:ext cx="195011" cy="186170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流程图: 文档 71"/>
            <p:cNvSpPr/>
            <p:nvPr/>
          </p:nvSpPr>
          <p:spPr>
            <a:xfrm>
              <a:off x="2355513" y="1413588"/>
              <a:ext cx="902626" cy="421172"/>
            </a:xfrm>
            <a:prstGeom prst="flowChartDocument">
              <a:avLst/>
            </a:prstGeom>
            <a:solidFill>
              <a:srgbClr val="EBF1FE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90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IO Ports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(input[63:0] a)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73" name="流程图: 文档 72"/>
            <p:cNvSpPr/>
            <p:nvPr/>
          </p:nvSpPr>
          <p:spPr>
            <a:xfrm>
              <a:off x="2355513" y="1931230"/>
              <a:ext cx="902626" cy="421172"/>
            </a:xfrm>
            <a:prstGeom prst="flowChartDocument">
              <a:avLst/>
            </a:prstGeom>
            <a:solidFill>
              <a:srgbClr val="C8E5B3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90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Signal Bundle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</a:t>
              </a:r>
              <a:r>
                <a:rPr kumimoji="0" lang="en-US" altLang="zh-CN" sz="6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Cache.AXI.ready</a:t>
              </a: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)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74" name="流程图: 多文档 73"/>
            <p:cNvSpPr/>
            <p:nvPr/>
          </p:nvSpPr>
          <p:spPr>
            <a:xfrm>
              <a:off x="2355513" y="2450505"/>
              <a:ext cx="902626" cy="421172"/>
            </a:xfrm>
            <a:prstGeom prst="flowChartMultidocument">
              <a:avLst/>
            </a:prstGeom>
            <a:solidFill>
              <a:srgbClr val="C8E5B3"/>
            </a:solidFill>
            <a:ln w="12700" cap="flat" cmpd="sng" algn="ctr">
              <a:solidFill>
                <a:srgbClr val="192D54"/>
              </a:solidFill>
              <a:prstDash val="solid"/>
              <a:miter lim="800000"/>
            </a:ln>
            <a:effectLst/>
          </p:spPr>
          <p:txBody>
            <a:bodyPr lIns="0" tIns="3600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Features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(</a:t>
              </a:r>
              <a:r>
                <a:rPr kumimoji="0" lang="en-US" altLang="zh-CN" sz="6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dump_wave</a:t>
              </a:r>
              <a:r>
                <a:rPr kumimoji="0" lang="en-US" altLang="zh-CN" sz="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scadia Code" panose="020B0609020000020004" pitchFamily="49" charset="0"/>
                  <a:ea typeface="宋体" panose="02010600030101010101" pitchFamily="2" charset="-122"/>
                  <a:cs typeface="Cascadia Code" panose="020B0609020000020004" pitchFamily="49" charset="0"/>
                </a:rPr>
                <a:t>=on)</a:t>
              </a:r>
              <a:endPara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宋体" panose="02010600030101010101" pitchFamily="2" charset="-122"/>
                <a:cs typeface="Cascadia Code" panose="020B0609020000020004" pitchFamily="49" charset="0"/>
              </a:endParaRPr>
            </a:p>
          </p:txBody>
        </p:sp>
        <p:sp>
          <p:nvSpPr>
            <p:cNvPr id="75" name="箭头: 右 74"/>
            <p:cNvSpPr/>
            <p:nvPr/>
          </p:nvSpPr>
          <p:spPr>
            <a:xfrm rot="19537667">
              <a:off x="2178009" y="1618778"/>
              <a:ext cx="162545" cy="155176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箭头: 右 75"/>
            <p:cNvSpPr/>
            <p:nvPr/>
          </p:nvSpPr>
          <p:spPr>
            <a:xfrm rot="1401213">
              <a:off x="2178008" y="2509579"/>
              <a:ext cx="162545" cy="155176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箭头: 右 76"/>
            <p:cNvSpPr/>
            <p:nvPr/>
          </p:nvSpPr>
          <p:spPr>
            <a:xfrm rot="1401213">
              <a:off x="2178007" y="1936745"/>
              <a:ext cx="162545" cy="155176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78" name="图形 59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67619" y="1321358"/>
              <a:ext cx="386715" cy="386715"/>
            </a:xfrm>
            <a:prstGeom prst="rect">
              <a:avLst/>
            </a:prstGeom>
          </p:spPr>
        </p:pic>
        <p:sp>
          <p:nvSpPr>
            <p:cNvPr id="79" name="箭头: 右 78"/>
            <p:cNvSpPr/>
            <p:nvPr/>
          </p:nvSpPr>
          <p:spPr>
            <a:xfrm rot="1401213">
              <a:off x="6586173" y="2130508"/>
              <a:ext cx="162545" cy="155176"/>
            </a:xfrm>
            <a:prstGeom prst="rightArrow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48" y="1412430"/>
            <a:ext cx="1271983" cy="1276608"/>
          </a:xfrm>
          <a:prstGeom prst="rect">
            <a:avLst/>
          </a:prstGeom>
        </p:spPr>
      </p:pic>
      <p:sp>
        <p:nvSpPr>
          <p:cNvPr id="8" name="箭头: 右 7"/>
          <p:cNvSpPr/>
          <p:nvPr/>
        </p:nvSpPr>
        <p:spPr>
          <a:xfrm>
            <a:off x="1632050" y="2009908"/>
            <a:ext cx="225489" cy="2453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8237" y="4008402"/>
            <a:ext cx="2640194" cy="2323266"/>
          </a:xfrm>
          <a:prstGeom prst="rect">
            <a:avLst/>
          </a:prstGeom>
        </p:spPr>
      </p:pic>
      <p:sp>
        <p:nvSpPr>
          <p:cNvPr id="11" name="文本框 66"/>
          <p:cNvSpPr txBox="1"/>
          <p:nvPr/>
        </p:nvSpPr>
        <p:spPr>
          <a:xfrm>
            <a:off x="172255" y="4014585"/>
            <a:ext cx="4185982" cy="2208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/>
              <a:t>通用验证流程：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）把香山</a:t>
            </a:r>
            <a:r>
              <a:rPr lang="en-US" altLang="zh-CN" dirty="0"/>
              <a:t>RTL</a:t>
            </a:r>
            <a:r>
              <a:rPr lang="zh-CN" altLang="en-US" dirty="0"/>
              <a:t>转为</a:t>
            </a:r>
            <a:r>
              <a:rPr lang="en-US" altLang="zh-CN" dirty="0"/>
              <a:t>Python</a:t>
            </a:r>
            <a:r>
              <a:rPr lang="zh-CN" altLang="en-US" dirty="0"/>
              <a:t>包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）基于验证文档编写 </a:t>
            </a:r>
            <a:r>
              <a:rPr lang="en-US" altLang="zh-CN" b="1" dirty="0"/>
              <a:t>Test Case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）生成测试报告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）检查覆盖率是否达标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b="1" dirty="0"/>
              <a:t>（</a:t>
            </a:r>
            <a:r>
              <a:rPr lang="en-US" altLang="zh-CN" b="1" dirty="0"/>
              <a:t>5</a:t>
            </a:r>
            <a:r>
              <a:rPr lang="zh-CN" altLang="en-US" b="1" dirty="0"/>
              <a:t>）编写验证报告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）通过</a:t>
            </a:r>
            <a:r>
              <a:rPr lang="en-US" altLang="zh-CN" dirty="0"/>
              <a:t>PR</a:t>
            </a:r>
            <a:r>
              <a:rPr lang="zh-CN" altLang="en-US" dirty="0"/>
              <a:t>提交成果</a:t>
            </a:r>
            <a:endParaRPr lang="en-US" altLang="zh-CN" dirty="0"/>
          </a:p>
        </p:txBody>
      </p:sp>
      <p:sp>
        <p:nvSpPr>
          <p:cNvPr id="12" name="文本框 67"/>
          <p:cNvSpPr txBox="1"/>
          <p:nvPr/>
        </p:nvSpPr>
        <p:spPr>
          <a:xfrm>
            <a:off x="8431266" y="2809149"/>
            <a:ext cx="109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111187"/>
                </a:solidFill>
              </a:rPr>
              <a:t>Picker</a:t>
            </a:r>
            <a:endParaRPr lang="zh-CN" altLang="en-US" b="1" dirty="0">
              <a:solidFill>
                <a:srgbClr val="111187"/>
              </a:solidFill>
            </a:endParaRPr>
          </a:p>
        </p:txBody>
      </p:sp>
      <p:sp>
        <p:nvSpPr>
          <p:cNvPr id="13" name="箭头: 右 12"/>
          <p:cNvSpPr/>
          <p:nvPr/>
        </p:nvSpPr>
        <p:spPr>
          <a:xfrm rot="10800000">
            <a:off x="7280269" y="5054014"/>
            <a:ext cx="225489" cy="2453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9448468" y="4475414"/>
            <a:ext cx="1180107" cy="1341120"/>
          </a:xfrm>
          <a:prstGeom prst="diamond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编写测试用例</a:t>
            </a:r>
            <a:endParaRPr lang="zh-CN" altLang="en-US" sz="1400" b="1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7786" y="4650521"/>
            <a:ext cx="639886" cy="790238"/>
          </a:xfrm>
          <a:prstGeom prst="rect">
            <a:avLst/>
          </a:prstGeom>
        </p:spPr>
      </p:pic>
      <p:sp>
        <p:nvSpPr>
          <p:cNvPr id="16" name="文本框 71"/>
          <p:cNvSpPr txBox="1"/>
          <p:nvPr/>
        </p:nvSpPr>
        <p:spPr>
          <a:xfrm>
            <a:off x="10878721" y="4366420"/>
            <a:ext cx="762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b="1" dirty="0"/>
              <a:t>验证文档</a:t>
            </a:r>
            <a:endParaRPr lang="zh-CN" altLang="en-US" sz="1100" b="1" dirty="0"/>
          </a:p>
        </p:txBody>
      </p:sp>
      <p:sp>
        <p:nvSpPr>
          <p:cNvPr id="17" name="箭头: 右 16"/>
          <p:cNvSpPr/>
          <p:nvPr/>
        </p:nvSpPr>
        <p:spPr>
          <a:xfrm rot="10800000">
            <a:off x="9081392" y="5023284"/>
            <a:ext cx="225489" cy="24537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3207" y="4421318"/>
            <a:ext cx="1129136" cy="1395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文本框 74"/>
          <p:cNvSpPr txBox="1"/>
          <p:nvPr/>
        </p:nvSpPr>
        <p:spPr>
          <a:xfrm>
            <a:off x="4358237" y="6331668"/>
            <a:ext cx="2648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111187"/>
                </a:solidFill>
              </a:defRPr>
            </a:lvl1pPr>
          </a:lstStyle>
          <a:p>
            <a:pPr algn="ctr"/>
            <a:r>
              <a:rPr lang="zh-CN" altLang="en-US" dirty="0"/>
              <a:t>测试报告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10242494" y="3065419"/>
            <a:ext cx="1129136" cy="1539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5" idx="1"/>
          </p:cNvCxnSpPr>
          <p:nvPr/>
        </p:nvCxnSpPr>
        <p:spPr>
          <a:xfrm flipH="1" flipV="1">
            <a:off x="10421661" y="4873509"/>
            <a:ext cx="556125" cy="172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文本框 77"/>
          <p:cNvSpPr txBox="1"/>
          <p:nvPr/>
        </p:nvSpPr>
        <p:spPr>
          <a:xfrm>
            <a:off x="2881447" y="3189587"/>
            <a:ext cx="5732892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$picker export </a:t>
            </a:r>
            <a:r>
              <a:rPr lang="en-US" altLang="zh-CN" sz="1400" dirty="0" err="1"/>
              <a:t>RAS.v</a:t>
            </a:r>
            <a:r>
              <a:rPr lang="en-US" altLang="zh-CN" sz="1400" dirty="0"/>
              <a:t> --fs </a:t>
            </a:r>
            <a:r>
              <a:rPr lang="en-US" altLang="zh-CN" sz="1400" dirty="0" err="1"/>
              <a:t>dep.f</a:t>
            </a:r>
            <a:r>
              <a:rPr lang="en-US" altLang="zh-CN" sz="1400" dirty="0"/>
              <a:t> --lang python –</a:t>
            </a:r>
            <a:r>
              <a:rPr lang="en-US" altLang="zh-CN" sz="1400" dirty="0" err="1"/>
              <a:t>tdir</a:t>
            </a:r>
            <a:r>
              <a:rPr lang="en-US" altLang="zh-CN" sz="1400" dirty="0"/>
              <a:t> RAS</a:t>
            </a:r>
            <a:endParaRPr lang="zh-CN" altLang="en-US" sz="1400" dirty="0"/>
          </a:p>
        </p:txBody>
      </p:sp>
      <p:sp>
        <p:nvSpPr>
          <p:cNvPr id="23" name="文本框 78"/>
          <p:cNvSpPr txBox="1"/>
          <p:nvPr/>
        </p:nvSpPr>
        <p:spPr>
          <a:xfrm>
            <a:off x="7722691" y="6239335"/>
            <a:ext cx="385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rgbClr val="0070C0"/>
                </a:solidFill>
              </a:rPr>
              <a:t>像软件测试一样测试香山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0896521" y="2666023"/>
            <a:ext cx="1155611" cy="29069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1" name="左大括号 80"/>
          <p:cNvSpPr/>
          <p:nvPr/>
        </p:nvSpPr>
        <p:spPr>
          <a:xfrm>
            <a:off x="10638781" y="1132685"/>
            <a:ext cx="336475" cy="1928769"/>
          </a:xfrm>
          <a:prstGeom prst="lef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82" name="文本框 64"/>
          <p:cNvSpPr txBox="1"/>
          <p:nvPr/>
        </p:nvSpPr>
        <p:spPr>
          <a:xfrm>
            <a:off x="10955660" y="1077273"/>
            <a:ext cx="11869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/>
              <a:t>C++</a:t>
            </a:r>
            <a:endParaRPr lang="en-US" altLang="zh-CN" sz="2000" b="1" dirty="0"/>
          </a:p>
          <a:p>
            <a:r>
              <a:rPr lang="en-US" altLang="zh-CN" sz="2000" b="1" dirty="0"/>
              <a:t>Java</a:t>
            </a:r>
            <a:endParaRPr lang="en-US" altLang="zh-CN" sz="2000" b="1" dirty="0"/>
          </a:p>
          <a:p>
            <a:r>
              <a:rPr lang="en-US" altLang="zh-CN" sz="2000" b="1" dirty="0"/>
              <a:t>Scala</a:t>
            </a:r>
            <a:endParaRPr lang="en-US" altLang="zh-CN" sz="2000" b="1" dirty="0"/>
          </a:p>
          <a:p>
            <a:r>
              <a:rPr lang="en-US" altLang="zh-CN" sz="2000" b="1" dirty="0"/>
              <a:t>Golang</a:t>
            </a:r>
            <a:endParaRPr lang="en-US" altLang="zh-CN" sz="2000" b="1" dirty="0"/>
          </a:p>
          <a:p>
            <a:r>
              <a:rPr lang="en-US" altLang="zh-CN" sz="2000" b="1" dirty="0"/>
              <a:t>Lua</a:t>
            </a:r>
            <a:endParaRPr lang="en-US" altLang="zh-CN" sz="2000" b="1" dirty="0"/>
          </a:p>
          <a:p>
            <a:r>
              <a:rPr lang="en-US" altLang="zh-CN" sz="2000" b="1" dirty="0"/>
              <a:t>Python</a:t>
            </a:r>
            <a:endParaRPr lang="zh-CN" altLang="en-US" sz="2000" b="1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196" y="5952767"/>
            <a:ext cx="1047804" cy="8826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197" y="3860518"/>
            <a:ext cx="8482803" cy="276460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Toffee</a:t>
            </a:r>
            <a:r>
              <a:rPr lang="zh-CN" altLang="en-US" sz="2000" dirty="0"/>
              <a:t>（</a:t>
            </a:r>
            <a:r>
              <a:rPr lang="en-US" altLang="zh-CN" sz="2000" dirty="0"/>
              <a:t>ASP-DAC 2027 </a:t>
            </a:r>
            <a:r>
              <a:rPr lang="zh-CN" altLang="en-US" sz="2000" dirty="0"/>
              <a:t>接收）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77119" y="1136650"/>
            <a:ext cx="5418881" cy="5125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的硬件验证框架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toffee-test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Pytest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插件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主要功能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标准化验证环境结构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</a:pP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集成测试用例管理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内建异步支持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</a:pP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async/await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功能覆盖率支持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094071" y="1136649"/>
            <a:ext cx="5418881" cy="2944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相较于 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Picker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的优势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更高的抽象层次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更强的结构化和规范性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简化的测试流程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方法学支持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易于拓展和协作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机制</a:t>
            </a:r>
            <a:r>
              <a:rPr lang="en-US" altLang="zh-CN" dirty="0"/>
              <a:t>2</a:t>
            </a:r>
            <a:r>
              <a:rPr lang="zh-CN" altLang="en-US" dirty="0"/>
              <a:t>：多阶段工作流</a:t>
            </a:r>
            <a:r>
              <a:rPr lang="en-US" altLang="zh-CN" dirty="0"/>
              <a:t> + </a:t>
            </a:r>
            <a:r>
              <a:rPr lang="zh-CN" altLang="en-US" dirty="0"/>
              <a:t>检查器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" y="1333551"/>
            <a:ext cx="12191999" cy="793898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将复杂的验证任务分解为</a:t>
            </a:r>
            <a:r>
              <a:rPr lang="zh-CN" altLang="en-US" b="1" dirty="0">
                <a:solidFill>
                  <a:schemeClr val="accent6"/>
                </a:solidFill>
              </a:rPr>
              <a:t>相对独立、目标明确、输出可校验</a:t>
            </a:r>
            <a:r>
              <a:rPr lang="zh-CN" altLang="en-US" dirty="0"/>
              <a:t>的多个子任务</a:t>
            </a:r>
            <a:endParaRPr lang="zh-CN" altLang="en-US" dirty="0"/>
          </a:p>
        </p:txBody>
      </p:sp>
      <p:pic>
        <p:nvPicPr>
          <p:cNvPr id="4" name="图片 3" descr="图形用户界面, 应用程序&#10;&#10;AI 生成的内容可能不正确。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70" y="2439285"/>
            <a:ext cx="10520219" cy="29920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UT </a:t>
            </a:r>
            <a:r>
              <a:rPr lang="zh-CN" altLang="en-US" dirty="0"/>
              <a:t>工作流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dirty="0"/>
              <a:t>31 </a:t>
            </a:r>
            <a:r>
              <a:rPr lang="zh-CN" altLang="en-US" dirty="0"/>
              <a:t>个阶段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可选阶段：</a:t>
            </a:r>
            <a:endParaRPr lang="en-US" altLang="zh-CN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参考模型生成</a:t>
            </a:r>
            <a:endParaRPr lang="en-US" altLang="zh-CN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dirty="0"/>
              <a:t>Mock </a:t>
            </a:r>
            <a:r>
              <a:rPr lang="zh-CN" altLang="en-US" dirty="0"/>
              <a:t>组件生成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374" y="3908270"/>
            <a:ext cx="4018258" cy="27306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082" y="3130550"/>
            <a:ext cx="4762745" cy="27306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482" y="1264496"/>
            <a:ext cx="5486682" cy="40959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机制</a:t>
            </a:r>
            <a:r>
              <a:rPr lang="en-US" altLang="zh-CN" dirty="0"/>
              <a:t>3</a:t>
            </a:r>
            <a:r>
              <a:rPr lang="zh-CN" altLang="en-US" dirty="0"/>
              <a:t>：验证一致性标签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3598" r="3545" b="21309"/>
          <a:stretch>
            <a:fillRect/>
          </a:stretch>
        </p:blipFill>
        <p:spPr>
          <a:xfrm>
            <a:off x="987506" y="1203206"/>
            <a:ext cx="10216987" cy="2021941"/>
          </a:xfrm>
          <a:prstGeom prst="rect">
            <a:avLst/>
          </a:prstGeom>
        </p:spPr>
      </p:pic>
      <p:sp>
        <p:nvSpPr>
          <p:cNvPr id="5" name="内容占位符 3"/>
          <p:cNvSpPr>
            <a:spLocks noGrp="1"/>
          </p:cNvSpPr>
          <p:nvPr>
            <p:ph type="body" idx="1"/>
          </p:nvPr>
        </p:nvSpPr>
        <p:spPr>
          <a:xfrm>
            <a:off x="814069" y="3273526"/>
            <a:ext cx="10539731" cy="2214779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标签层次：</a:t>
            </a:r>
            <a:endParaRPr lang="en-GB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GB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FG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Function Group</a:t>
            </a:r>
            <a:endParaRPr lang="en-GB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GB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FC: Function Checkpoint</a:t>
            </a:r>
            <a:endParaRPr lang="en-GB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GB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CK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Checkpoint</a:t>
            </a:r>
            <a:endParaRPr lang="en-US" altLang="zh-CN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检查器验证：</a:t>
            </a:r>
            <a:endParaRPr lang="en-GB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标签完整性</a:t>
            </a:r>
            <a:endParaRPr lang="en-GB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跨阶段对齐</a:t>
            </a:r>
            <a:endParaRPr lang="en-GB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目标</a:t>
            </a:r>
            <a:r>
              <a:rPr lang="en-US" altLang="zh-CN" sz="2000" dirty="0"/>
              <a:t>-</a:t>
            </a:r>
            <a:r>
              <a:rPr lang="zh-CN" altLang="en-US" sz="2000" dirty="0"/>
              <a:t>结果的一致性</a:t>
            </a:r>
            <a:endParaRPr lang="en-GB" altLang="zh-CN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0" y="553668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通过</a:t>
            </a:r>
            <a:r>
              <a:rPr lang="zh-CN" altLang="en-US" sz="2800" b="1" dirty="0">
                <a:solidFill>
                  <a:schemeClr val="accent6"/>
                </a:solidFill>
              </a:rPr>
              <a:t>标签机制</a:t>
            </a:r>
            <a:r>
              <a:rPr lang="zh-CN" altLang="en-US" sz="2800" b="1" dirty="0"/>
              <a:t>，使</a:t>
            </a:r>
            <a:r>
              <a:rPr lang="zh-CN" altLang="en-US" sz="2800" b="1" dirty="0">
                <a:solidFill>
                  <a:schemeClr val="accent6"/>
                </a:solidFill>
              </a:rPr>
              <a:t>验证意图明确化、结构化且机器可检查</a:t>
            </a:r>
            <a:endParaRPr lang="en-GB" altLang="zh-CN" sz="28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验证一致性标签示例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808816" y="3672981"/>
            <a:ext cx="5120858" cy="2515023"/>
            <a:chOff x="5745872" y="1281840"/>
            <a:chExt cx="4604828" cy="2261584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1"/>
            <a:srcRect b="66644"/>
            <a:stretch>
              <a:fillRect/>
            </a:stretch>
          </p:blipFill>
          <p:spPr>
            <a:xfrm>
              <a:off x="5745872" y="1281840"/>
              <a:ext cx="4604828" cy="1984822"/>
            </a:xfrm>
            <a:prstGeom prst="rect">
              <a:avLst/>
            </a:prstGeom>
          </p:spPr>
        </p:pic>
        <p:sp>
          <p:nvSpPr>
            <p:cNvPr id="25" name="文本框 13"/>
            <p:cNvSpPr txBox="1"/>
            <p:nvPr/>
          </p:nvSpPr>
          <p:spPr>
            <a:xfrm>
              <a:off x="5745872" y="3266662"/>
              <a:ext cx="4604827" cy="276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dirty="0"/>
                <a:t>(3) </a:t>
              </a:r>
              <a:r>
                <a:rPr kumimoji="1" lang="zh-CN" altLang="en-US" sz="1400" dirty="0"/>
                <a:t>测试用例</a:t>
              </a:r>
              <a:endParaRPr kumimoji="1" lang="zh-CN" altLang="en-US" sz="1400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289772" y="4228616"/>
            <a:ext cx="4708928" cy="2028012"/>
            <a:chOff x="5777364" y="3878933"/>
            <a:chExt cx="4330584" cy="1865069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77364" y="3878933"/>
              <a:ext cx="4330584" cy="1582021"/>
            </a:xfrm>
            <a:prstGeom prst="rect">
              <a:avLst/>
            </a:prstGeo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3" name="文本框 14"/>
            <p:cNvSpPr txBox="1"/>
            <p:nvPr/>
          </p:nvSpPr>
          <p:spPr>
            <a:xfrm>
              <a:off x="5777364" y="5460954"/>
              <a:ext cx="4330583" cy="283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dirty="0"/>
                <a:t>(4) </a:t>
              </a:r>
              <a:r>
                <a:rPr kumimoji="1" lang="zh-CN" altLang="en-US" sz="1400" dirty="0"/>
                <a:t>验证报告：功能覆盖率</a:t>
              </a:r>
              <a:endParaRPr kumimoji="1" lang="zh-CN" altLang="en-US" sz="1400" dirty="0"/>
            </a:p>
          </p:txBody>
        </p:sp>
      </p:grpSp>
      <p:sp>
        <p:nvSpPr>
          <p:cNvPr id="6" name="椭圆 5"/>
          <p:cNvSpPr/>
          <p:nvPr/>
        </p:nvSpPr>
        <p:spPr>
          <a:xfrm>
            <a:off x="1330513" y="2152214"/>
            <a:ext cx="898614" cy="214472"/>
          </a:xfrm>
          <a:prstGeom prst="ellips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>
            <a:defPPr>
              <a:defRPr lang="zh-CN">
                <a:solidFill>
                  <a:schemeClr val="accent3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220318" y="1150662"/>
            <a:ext cx="4133885" cy="2175529"/>
            <a:chOff x="1119838" y="1207931"/>
            <a:chExt cx="4133885" cy="2175529"/>
          </a:xfrm>
        </p:grpSpPr>
        <p:grpSp>
          <p:nvGrpSpPr>
            <p:cNvPr id="17" name="组合 16"/>
            <p:cNvGrpSpPr/>
            <p:nvPr/>
          </p:nvGrpSpPr>
          <p:grpSpPr>
            <a:xfrm>
              <a:off x="1119838" y="1207931"/>
              <a:ext cx="4133885" cy="2175529"/>
              <a:chOff x="1119838" y="1207931"/>
              <a:chExt cx="4133885" cy="2175529"/>
            </a:xfrm>
          </p:grpSpPr>
          <p:sp>
            <p:nvSpPr>
              <p:cNvPr id="20" name="文本框 7"/>
              <p:cNvSpPr txBox="1"/>
              <p:nvPr/>
            </p:nvSpPr>
            <p:spPr>
              <a:xfrm>
                <a:off x="1119838" y="3075683"/>
                <a:ext cx="41298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en-US" altLang="zh-CN" sz="1400" dirty="0"/>
                  <a:t>(1) </a:t>
                </a:r>
                <a:r>
                  <a:rPr kumimoji="1" lang="zh-CN" altLang="en-US" sz="1400" dirty="0"/>
                  <a:t>功能点与测试点</a:t>
                </a:r>
                <a:endParaRPr kumimoji="1" lang="zh-CN" altLang="en-US" sz="1400" dirty="0"/>
              </a:p>
            </p:txBody>
          </p:sp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3"/>
              <a:srcRect b="10427"/>
              <a:stretch>
                <a:fillRect/>
              </a:stretch>
            </p:blipFill>
            <p:spPr>
              <a:xfrm>
                <a:off x="1123900" y="1207931"/>
                <a:ext cx="4129823" cy="1885610"/>
              </a:xfrm>
              <a:prstGeom prst="rect">
                <a:avLst/>
              </a:prstGeom>
            </p:spPr>
          </p:pic>
        </p:grpSp>
        <p:sp>
          <p:nvSpPr>
            <p:cNvPr id="18" name="椭圆 17"/>
            <p:cNvSpPr/>
            <p:nvPr/>
          </p:nvSpPr>
          <p:spPr>
            <a:xfrm>
              <a:off x="1409828" y="2190798"/>
              <a:ext cx="898614" cy="214472"/>
            </a:xfrm>
            <a:prstGeom prst="ellips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>
              <a:defPPr>
                <a:defRPr lang="zh-CN">
                  <a:solidFill>
                    <a:schemeClr val="accent3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9" name="椭圆 18"/>
            <p:cNvSpPr/>
            <p:nvPr/>
          </p:nvSpPr>
          <p:spPr>
            <a:xfrm>
              <a:off x="1119838" y="1529797"/>
              <a:ext cx="898614" cy="214472"/>
            </a:xfrm>
            <a:prstGeom prst="ellips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>
              <a:defPPr>
                <a:defRPr lang="zh-CN">
                  <a:solidFill>
                    <a:schemeClr val="accent3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915455" y="1150662"/>
            <a:ext cx="3457562" cy="3011071"/>
            <a:chOff x="1133615" y="3546696"/>
            <a:chExt cx="3457562" cy="3011071"/>
          </a:xfrm>
        </p:grpSpPr>
        <p:grpSp>
          <p:nvGrpSpPr>
            <p:cNvPr id="12" name="组合 11"/>
            <p:cNvGrpSpPr/>
            <p:nvPr/>
          </p:nvGrpSpPr>
          <p:grpSpPr>
            <a:xfrm>
              <a:off x="1133615" y="3546696"/>
              <a:ext cx="3457562" cy="3011071"/>
              <a:chOff x="1095059" y="3593505"/>
              <a:chExt cx="3457562" cy="3011071"/>
            </a:xfrm>
          </p:grpSpPr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5059" y="3593505"/>
                <a:ext cx="3457562" cy="2694017"/>
              </a:xfrm>
              <a:prstGeom prst="rect">
                <a:avLst/>
              </a:prstGeom>
            </p:spPr>
          </p:pic>
          <p:sp>
            <p:nvSpPr>
              <p:cNvPr id="16" name="文本框 10"/>
              <p:cNvSpPr txBox="1"/>
              <p:nvPr/>
            </p:nvSpPr>
            <p:spPr>
              <a:xfrm>
                <a:off x="1095059" y="6296799"/>
                <a:ext cx="34575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en-US" altLang="zh-CN" sz="1400" dirty="0"/>
                  <a:t>(2) </a:t>
                </a:r>
                <a:r>
                  <a:rPr kumimoji="1" lang="zh-CN" altLang="en-US" sz="1400" dirty="0"/>
                  <a:t>功能覆盖率</a:t>
                </a:r>
                <a:endParaRPr kumimoji="1" lang="zh-CN" altLang="en-US" sz="1400" dirty="0"/>
              </a:p>
            </p:txBody>
          </p:sp>
        </p:grpSp>
        <p:sp>
          <p:nvSpPr>
            <p:cNvPr id="13" name="椭圆 12"/>
            <p:cNvSpPr/>
            <p:nvPr/>
          </p:nvSpPr>
          <p:spPr>
            <a:xfrm>
              <a:off x="1572609" y="4011412"/>
              <a:ext cx="898614" cy="214472"/>
            </a:xfrm>
            <a:prstGeom prst="ellips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>
              <a:defPPr>
                <a:defRPr lang="zh-CN">
                  <a:solidFill>
                    <a:schemeClr val="accent3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  <p:sp>
          <p:nvSpPr>
            <p:cNvPr id="14" name="椭圆 13"/>
            <p:cNvSpPr/>
            <p:nvPr/>
          </p:nvSpPr>
          <p:spPr>
            <a:xfrm>
              <a:off x="1533812" y="5903570"/>
              <a:ext cx="898614" cy="214472"/>
            </a:xfrm>
            <a:prstGeom prst="ellipse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>
              <a:defPPr>
                <a:defRPr lang="zh-CN">
                  <a:solidFill>
                    <a:schemeClr val="accent3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 dirty="0"/>
            </a:p>
          </p:txBody>
        </p:sp>
      </p:grpSp>
      <p:sp>
        <p:nvSpPr>
          <p:cNvPr id="9" name="椭圆 8"/>
          <p:cNvSpPr/>
          <p:nvPr/>
        </p:nvSpPr>
        <p:spPr>
          <a:xfrm>
            <a:off x="3287261" y="3809011"/>
            <a:ext cx="2642412" cy="307777"/>
          </a:xfrm>
          <a:prstGeom prst="ellips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>
            <a:defPPr>
              <a:defRPr lang="zh-CN">
                <a:solidFill>
                  <a:schemeClr val="accent3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6993381" y="5036751"/>
            <a:ext cx="1072029" cy="397083"/>
          </a:xfrm>
          <a:prstGeom prst="ellipse">
            <a:avLst/>
          </a:prstGeom>
          <a:noFill/>
          <a:ln w="254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>
            <a:defPPr>
              <a:defRPr lang="zh-CN">
                <a:solidFill>
                  <a:schemeClr val="accent3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/>
          </a:p>
        </p:txBody>
      </p:sp>
      <p:sp>
        <p:nvSpPr>
          <p:cNvPr id="11" name="文本框 1"/>
          <p:cNvSpPr txBox="1"/>
          <p:nvPr/>
        </p:nvSpPr>
        <p:spPr>
          <a:xfrm>
            <a:off x="0" y="6332788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/>
              <a:t>通过</a:t>
            </a:r>
            <a:r>
              <a:rPr lang="zh-CN" altLang="en-US" sz="2400" b="1" dirty="0">
                <a:solidFill>
                  <a:schemeClr val="accent6"/>
                </a:solidFill>
              </a:rPr>
              <a:t>标签机制</a:t>
            </a:r>
            <a:r>
              <a:rPr lang="zh-CN" altLang="en-US" sz="2400" b="1" dirty="0"/>
              <a:t>建立</a:t>
            </a:r>
            <a:r>
              <a:rPr lang="zh-CN" altLang="en-US" sz="2400" b="1" dirty="0">
                <a:solidFill>
                  <a:schemeClr val="accent6"/>
                </a:solidFill>
              </a:rPr>
              <a:t>文档、功能点、测试用例、验证报告之间的可追溯性</a:t>
            </a:r>
            <a:endParaRPr lang="zh-CN" altLang="en-US" sz="24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检查器（</a:t>
            </a:r>
            <a:r>
              <a:rPr lang="en-US" altLang="zh-CN" dirty="0"/>
              <a:t>Checker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4069" y="1136650"/>
            <a:ext cx="10539731" cy="5721350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b="1" dirty="0"/>
              <a:t>语法、格式检查</a:t>
            </a:r>
            <a:endParaRPr lang="en-US" altLang="zh-CN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检查标签层级、命名、文件格式是否符合规范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b="1" dirty="0"/>
              <a:t>代码静态检查</a:t>
            </a:r>
            <a:endParaRPr lang="en-US" altLang="zh-CN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用 </a:t>
            </a:r>
            <a:r>
              <a:rPr lang="en-US" altLang="zh-CN" dirty="0"/>
              <a:t>Python AST </a:t>
            </a:r>
            <a:r>
              <a:rPr lang="zh-CN" altLang="en-US" dirty="0"/>
              <a:t>对测试代码进行静态检查，保证语法正确性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b="1" dirty="0"/>
              <a:t>功能</a:t>
            </a:r>
            <a:r>
              <a:rPr lang="en-US" altLang="zh-CN" b="1" dirty="0"/>
              <a:t>/</a:t>
            </a:r>
            <a:r>
              <a:rPr lang="zh-CN" altLang="en-US" b="1" dirty="0"/>
              <a:t>语义一致性检查</a:t>
            </a:r>
            <a:endParaRPr lang="en-US" altLang="zh-CN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文档与代码之间的 </a:t>
            </a:r>
            <a:r>
              <a:rPr lang="en-US" altLang="zh-CN" dirty="0"/>
              <a:t>FG\FC\CK </a:t>
            </a:r>
            <a:r>
              <a:rPr lang="zh-CN" altLang="en-US" dirty="0"/>
              <a:t>标签双向对齐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Bug </a:t>
            </a:r>
            <a:r>
              <a:rPr lang="zh-CN" altLang="en-US" dirty="0"/>
              <a:t>标签与 </a:t>
            </a:r>
            <a:r>
              <a:rPr lang="en-US" altLang="zh-CN" dirty="0"/>
              <a:t>FG\FC\CK </a:t>
            </a:r>
            <a:r>
              <a:rPr lang="zh-CN" altLang="en-US" dirty="0"/>
              <a:t>标签对齐</a:t>
            </a:r>
            <a:endParaRPr lang="en-US" altLang="zh-CN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b="1" dirty="0"/>
              <a:t>运行结果检查</a:t>
            </a:r>
            <a:endParaRPr lang="en-US" altLang="zh-CN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每个测试用例必须 </a:t>
            </a:r>
            <a:r>
              <a:rPr lang="en-US" altLang="zh-CN" dirty="0"/>
              <a:t>Pass</a:t>
            </a:r>
            <a:r>
              <a:rPr lang="zh-CN" altLang="en-US" dirty="0"/>
              <a:t>，或者被记录为 </a:t>
            </a:r>
            <a:r>
              <a:rPr lang="en-US" altLang="zh-CN" dirty="0"/>
              <a:t>Bug</a:t>
            </a: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zh-CN" dirty="0"/>
              <a:t>UCAgent</a:t>
            </a:r>
            <a:r>
              <a:rPr lang="zh-CN" altLang="en-US" sz="2000" dirty="0"/>
              <a:t>（</a:t>
            </a:r>
            <a:r>
              <a:rPr lang="en-US" altLang="zh-CN" sz="2000" dirty="0"/>
              <a:t>20251024</a:t>
            </a:r>
            <a:r>
              <a:rPr lang="zh-CN" altLang="en-US" sz="2000" dirty="0"/>
              <a:t>正式开源）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4419" y="1136650"/>
            <a:ext cx="6655343" cy="5721350"/>
          </a:xfrm>
          <a:effectLst/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b="1" dirty="0">
                <a:latin typeface="+mj-ea"/>
              </a:rPr>
              <a:t>专注芯片单元测试 </a:t>
            </a:r>
            <a:r>
              <a:rPr lang="en-US" altLang="zh-CN" b="1" dirty="0">
                <a:latin typeface="+mj-ea"/>
              </a:rPr>
              <a:t>(Unit Test)</a:t>
            </a:r>
            <a:endParaRPr lang="en-US" altLang="zh-CN" b="1" dirty="0">
              <a:latin typeface="+mj-ea"/>
            </a:endParaRPr>
          </a:p>
          <a:p>
            <a:pPr lvl="1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j-ea"/>
              </a:rPr>
              <a:t>加速验证流程，让</a:t>
            </a:r>
            <a:r>
              <a:rPr lang="en-US" altLang="zh-CN" sz="2000" dirty="0">
                <a:latin typeface="+mj-ea"/>
              </a:rPr>
              <a:t>AI</a:t>
            </a:r>
            <a:r>
              <a:rPr lang="zh-CN" altLang="en-US" sz="2000" b="1" dirty="0">
                <a:solidFill>
                  <a:srgbClr val="C00000"/>
                </a:solidFill>
                <a:latin typeface="+mj-ea"/>
              </a:rPr>
              <a:t>完成重复劳动</a:t>
            </a:r>
            <a:r>
              <a:rPr lang="zh-CN" altLang="en-US" sz="2000" dirty="0">
                <a:latin typeface="+mj-ea"/>
              </a:rPr>
              <a:t>，工程师完成更有挑战性工作</a:t>
            </a:r>
            <a:endParaRPr lang="zh-CN" altLang="en-US" sz="2000" dirty="0">
              <a:latin typeface="+mj-ea"/>
            </a:endParaRPr>
          </a:p>
          <a:p>
            <a:pPr lvl="1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j-ea"/>
              </a:rPr>
              <a:t>可实现约 </a:t>
            </a:r>
            <a:r>
              <a:rPr lang="en-US" altLang="zh-CN" sz="2000" dirty="0">
                <a:latin typeface="+mj-ea"/>
              </a:rPr>
              <a:t>5000 </a:t>
            </a:r>
            <a:r>
              <a:rPr lang="zh-CN" altLang="en-US" sz="2000" dirty="0">
                <a:latin typeface="+mj-ea"/>
              </a:rPr>
              <a:t>行 </a:t>
            </a:r>
            <a:r>
              <a:rPr lang="en-US" altLang="zh-CN" sz="2000" dirty="0">
                <a:latin typeface="+mj-ea"/>
              </a:rPr>
              <a:t>RTL </a:t>
            </a:r>
            <a:r>
              <a:rPr lang="zh-CN" altLang="en-US" sz="2000" dirty="0">
                <a:latin typeface="+mj-ea"/>
              </a:rPr>
              <a:t>代码的</a:t>
            </a:r>
            <a:r>
              <a:rPr lang="zh-CN" altLang="en-US" sz="2000" b="1" dirty="0">
                <a:solidFill>
                  <a:srgbClr val="C00000"/>
                </a:solidFill>
                <a:latin typeface="+mj-ea"/>
              </a:rPr>
              <a:t>完全自动化验证</a:t>
            </a:r>
            <a:r>
              <a:rPr lang="zh-CN" altLang="en-US" sz="2000" dirty="0">
                <a:latin typeface="+mj-ea"/>
              </a:rPr>
              <a:t>，生成用例、文档、报告等</a:t>
            </a:r>
            <a:endParaRPr lang="en-US" altLang="zh-CN" sz="2000" dirty="0">
              <a:latin typeface="+mj-ea"/>
            </a:endParaRPr>
          </a:p>
          <a:p>
            <a:pPr lvl="1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j-ea"/>
              </a:rPr>
              <a:t>支持国内外前沿大模型，</a:t>
            </a:r>
            <a:r>
              <a:rPr lang="zh-CN" altLang="en-US" sz="2000" b="1" dirty="0">
                <a:solidFill>
                  <a:srgbClr val="C00000"/>
                </a:solidFill>
                <a:latin typeface="+mj-ea"/>
              </a:rPr>
              <a:t>验证准确性高</a:t>
            </a:r>
            <a:endParaRPr lang="en-US" altLang="zh-CN" sz="2000" b="1" dirty="0">
              <a:solidFill>
                <a:srgbClr val="C00000"/>
              </a:solidFill>
              <a:latin typeface="+mj-ea"/>
            </a:endParaRPr>
          </a:p>
          <a:p>
            <a:pPr lvl="1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+mj-ea"/>
              </a:rPr>
              <a:t>完善的验证流程，工具高度可配置，</a:t>
            </a:r>
            <a:r>
              <a:rPr lang="zh-CN" altLang="en-US" sz="2000" b="1" dirty="0">
                <a:solidFill>
                  <a:srgbClr val="C00000"/>
                </a:solidFill>
                <a:latin typeface="+mj-ea"/>
              </a:rPr>
              <a:t>兼容现有 </a:t>
            </a:r>
            <a:r>
              <a:rPr lang="en-US" altLang="zh-CN" sz="2000" b="1" dirty="0">
                <a:solidFill>
                  <a:srgbClr val="C00000"/>
                </a:solidFill>
                <a:latin typeface="+mj-ea"/>
              </a:rPr>
              <a:t>Code Agent</a:t>
            </a:r>
            <a:endParaRPr lang="en-US" altLang="zh-CN" sz="2000" b="1" dirty="0">
              <a:solidFill>
                <a:srgbClr val="C00000"/>
              </a:solidFill>
              <a:latin typeface="+mj-ea"/>
            </a:endParaRPr>
          </a:p>
          <a:p>
            <a:pPr lvl="1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B050"/>
                </a:solidFill>
                <a:latin typeface="+mj-ea"/>
              </a:rPr>
              <a:t>扩展支持 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</a:rPr>
              <a:t>Formal/IT/ST </a:t>
            </a:r>
            <a:r>
              <a:rPr lang="zh-CN" altLang="en-US" sz="2000" b="1" dirty="0">
                <a:solidFill>
                  <a:srgbClr val="00B050"/>
                </a:solidFill>
                <a:latin typeface="+mj-ea"/>
              </a:rPr>
              <a:t>验证</a:t>
            </a:r>
            <a:endParaRPr lang="en-US" altLang="zh-CN" sz="2000" b="1" dirty="0">
              <a:solidFill>
                <a:srgbClr val="00B050"/>
              </a:solidFill>
              <a:latin typeface="+mj-ea"/>
            </a:endParaRPr>
          </a:p>
          <a:p>
            <a:pPr lvl="1">
              <a:lnSpc>
                <a:spcPct val="12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B050"/>
                </a:solidFill>
                <a:latin typeface="+mj-ea"/>
              </a:rPr>
              <a:t>开源：</a:t>
            </a:r>
            <a:r>
              <a:rPr lang="en-US" altLang="zh-CN" sz="2000" dirty="0">
                <a:latin typeface="+mj-ea"/>
              </a:rPr>
              <a:t>https://github.com/XS-MLVP/UCAgent</a:t>
            </a:r>
            <a:endParaRPr lang="en-US" altLang="zh-CN" sz="2000" dirty="0">
              <a:latin typeface="+mj-ea"/>
            </a:endParaRPr>
          </a:p>
          <a:p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242090" y="3284709"/>
            <a:ext cx="1165753" cy="58937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 err="1"/>
              <a:t>UCAgent</a:t>
            </a:r>
            <a:endParaRPr lang="zh-CN" altLang="en-US" sz="16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367" y="1519508"/>
            <a:ext cx="544994" cy="477572"/>
          </a:xfrm>
          <a:prstGeom prst="rect">
            <a:avLst/>
          </a:prstGeom>
          <a:effectLst/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849" y="1520080"/>
            <a:ext cx="519122" cy="490282"/>
          </a:xfrm>
          <a:prstGeom prst="rect">
            <a:avLst/>
          </a:prstGeom>
          <a:effectLst/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230" y="1459746"/>
            <a:ext cx="668863" cy="544424"/>
          </a:xfrm>
          <a:prstGeom prst="rect">
            <a:avLst/>
          </a:prstGeom>
          <a:effectLst/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1718" y="1466837"/>
            <a:ext cx="573235" cy="530243"/>
          </a:xfrm>
          <a:prstGeom prst="rect">
            <a:avLst/>
          </a:prstGeom>
          <a:effectLst/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6363" y="1486916"/>
            <a:ext cx="509829" cy="496756"/>
          </a:xfrm>
          <a:prstGeom prst="rect">
            <a:avLst/>
          </a:prstGeom>
          <a:effectLst/>
        </p:spPr>
      </p:pic>
      <p:cxnSp>
        <p:nvCxnSpPr>
          <p:cNvPr id="15" name="直接箭头连接符 14"/>
          <p:cNvCxnSpPr>
            <a:stCxn id="9" idx="2"/>
          </p:cNvCxnSpPr>
          <p:nvPr/>
        </p:nvCxnSpPr>
        <p:spPr>
          <a:xfrm flipH="1">
            <a:off x="7824966" y="3874085"/>
            <a:ext cx="1" cy="1156287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0"/>
          </p:cNvCxnSpPr>
          <p:nvPr/>
        </p:nvCxnSpPr>
        <p:spPr>
          <a:xfrm flipH="1" flipV="1">
            <a:off x="7824966" y="2126812"/>
            <a:ext cx="1" cy="1157897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文本框 34"/>
          <p:cNvSpPr txBox="1"/>
          <p:nvPr/>
        </p:nvSpPr>
        <p:spPr>
          <a:xfrm>
            <a:off x="7936117" y="2261984"/>
            <a:ext cx="3606598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</a:rPr>
              <a:t>可通过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</a:rPr>
              <a:t>API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</a:rPr>
              <a:t>直接接入国内外前沿大模型（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</a:rPr>
              <a:t>GLM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</a:rPr>
              <a:t>、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</a:rPr>
              <a:t>DeepSeek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</a:rPr>
              <a:t>、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</a:rPr>
              <a:t>Qwen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</a:rPr>
              <a:t>、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</a:rPr>
              <a:t>GPT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</a:rPr>
              <a:t>等）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文本框 36"/>
          <p:cNvSpPr txBox="1"/>
          <p:nvPr/>
        </p:nvSpPr>
        <p:spPr>
          <a:xfrm>
            <a:off x="7936115" y="4011736"/>
            <a:ext cx="370234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基于 </a:t>
            </a:r>
            <a:r>
              <a:rPr lang="en-US" altLang="zh-CN" dirty="0"/>
              <a:t>MCP </a:t>
            </a:r>
            <a:r>
              <a:rPr lang="zh-CN" altLang="en-US" dirty="0"/>
              <a:t>协议可与先进 </a:t>
            </a:r>
            <a:r>
              <a:rPr lang="en-US" altLang="zh-CN" dirty="0"/>
              <a:t>Code Agent  </a:t>
            </a:r>
            <a:r>
              <a:rPr lang="zh-CN" altLang="en-US" dirty="0"/>
              <a:t>进行集成，利用已有 </a:t>
            </a:r>
            <a:r>
              <a:rPr lang="en-US" altLang="zh-CN" dirty="0"/>
              <a:t>Agent </a:t>
            </a:r>
            <a:r>
              <a:rPr lang="zh-CN" altLang="en-US" dirty="0"/>
              <a:t>工具</a:t>
            </a:r>
            <a:r>
              <a:rPr lang="en-US" altLang="zh-CN" dirty="0"/>
              <a:t>/</a:t>
            </a:r>
            <a:r>
              <a:rPr lang="zh-CN" altLang="en-US" dirty="0"/>
              <a:t>环境</a:t>
            </a:r>
            <a:endParaRPr lang="zh-CN" altLang="en-US" dirty="0"/>
          </a:p>
        </p:txBody>
      </p:sp>
      <p:sp>
        <p:nvSpPr>
          <p:cNvPr id="19" name="文本框 3"/>
          <p:cNvSpPr txBox="1"/>
          <p:nvPr/>
        </p:nvSpPr>
        <p:spPr>
          <a:xfrm>
            <a:off x="8548147" y="3233478"/>
            <a:ext cx="2043044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支持完全自动化</a:t>
            </a:r>
            <a:r>
              <a:rPr lang="en-US" altLang="zh-CN" sz="1600" dirty="0"/>
              <a:t>/</a:t>
            </a:r>
            <a:r>
              <a:rPr lang="zh-CN" altLang="en-US" sz="1600" dirty="0"/>
              <a:t>人机协同芯片</a:t>
            </a:r>
            <a:r>
              <a:rPr lang="en-US" altLang="zh-CN" sz="1600" dirty="0"/>
              <a:t>UT</a:t>
            </a:r>
            <a:r>
              <a:rPr lang="zh-CN" altLang="en-US" sz="1600" dirty="0"/>
              <a:t>验证</a:t>
            </a:r>
            <a:endParaRPr lang="zh-CN" altLang="en-US" sz="1600" dirty="0"/>
          </a:p>
        </p:txBody>
      </p:sp>
      <p:sp>
        <p:nvSpPr>
          <p:cNvPr id="20" name="文本框 2"/>
          <p:cNvSpPr txBox="1"/>
          <p:nvPr/>
        </p:nvSpPr>
        <p:spPr>
          <a:xfrm>
            <a:off x="1959017" y="2620775"/>
            <a:ext cx="1549400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rgbClr val="FFFF00"/>
                </a:solidFill>
                <a:highlight>
                  <a:srgbClr val="0000FF"/>
                </a:highlight>
              </a:rPr>
              <a:t>5w Loc </a:t>
            </a:r>
            <a:r>
              <a:rPr lang="zh-CN" altLang="en-US" sz="1200" dirty="0">
                <a:solidFill>
                  <a:srgbClr val="FFFF00"/>
                </a:solidFill>
                <a:highlight>
                  <a:srgbClr val="0000FF"/>
                </a:highlight>
              </a:rPr>
              <a:t>也 </a:t>
            </a:r>
            <a:r>
              <a:rPr lang="en-US" altLang="zh-CN" sz="1200" dirty="0">
                <a:solidFill>
                  <a:srgbClr val="FFFF00"/>
                </a:solidFill>
                <a:highlight>
                  <a:srgbClr val="0000FF"/>
                </a:highlight>
              </a:rPr>
              <a:t>OK</a:t>
            </a:r>
            <a:endParaRPr lang="zh-CN" altLang="en-US" sz="1200" dirty="0">
              <a:solidFill>
                <a:srgbClr val="FFFF00"/>
              </a:solidFill>
              <a:highlight>
                <a:srgbClr val="0000FF"/>
              </a:highlight>
            </a:endParaRPr>
          </a:p>
        </p:txBody>
      </p:sp>
      <p:pic>
        <p:nvPicPr>
          <p:cNvPr id="21" name="图片 20" descr="Codex - OpenAI 推出的 AI 编程智能体 | AI工具集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021" y="5061823"/>
            <a:ext cx="741889" cy="741889"/>
          </a:xfrm>
          <a:prstGeom prst="rect">
            <a:avLst/>
          </a:prstGeom>
          <a:effectLst/>
        </p:spPr>
      </p:pic>
      <p:pic>
        <p:nvPicPr>
          <p:cNvPr id="23" name="图片 22" descr="终端里的 AI 编程助手：OpenCode 使用指南-阿里云开发者社区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4021" y="6022144"/>
            <a:ext cx="2195066" cy="393630"/>
          </a:xfrm>
          <a:prstGeom prst="rect">
            <a:avLst/>
          </a:prstGeom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5184" y="5105106"/>
            <a:ext cx="1542357" cy="655321"/>
          </a:xfrm>
          <a:prstGeom prst="rect">
            <a:avLst/>
          </a:prstGeom>
          <a:effectLst/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048" y="5071828"/>
            <a:ext cx="791225" cy="731884"/>
          </a:xfrm>
          <a:prstGeom prst="rect">
            <a:avLst/>
          </a:prstGeom>
          <a:effectLst/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957" y="5071828"/>
            <a:ext cx="736227" cy="71734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新人快速上手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49" y="1300533"/>
            <a:ext cx="4460864" cy="334433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112" y="1300534"/>
            <a:ext cx="5938284" cy="3344338"/>
          </a:xfrm>
          <a:prstGeom prst="rect">
            <a:avLst/>
          </a:prstGeom>
        </p:spPr>
      </p:pic>
      <p:sp>
        <p:nvSpPr>
          <p:cNvPr id="6" name="文本框 6"/>
          <p:cNvSpPr txBox="1"/>
          <p:nvPr/>
        </p:nvSpPr>
        <p:spPr>
          <a:xfrm>
            <a:off x="826604" y="4911136"/>
            <a:ext cx="10538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黑客松比赛中，软件所队伍（软件背景）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天完成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UCAgent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的安装并熟练使用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	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天提交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个注入的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，发现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个疑似非注入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582373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更低的上手难度，新手都能开始验证任务</a:t>
            </a:r>
            <a:endParaRPr lang="zh-CN" altLang="en-US" sz="28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提升验证效率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14375" y="1021715"/>
            <a:ext cx="10538790" cy="48207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SRT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除法器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900" dirty="0"/>
              <a:t>支持有符号和无符号除法运算，能够计算商和余数，并正确处理除零、溢出等特殊情况。</a:t>
            </a:r>
            <a:endParaRPr lang="en-US" altLang="zh-CN" sz="19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9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设计规模：</a:t>
            </a:r>
            <a:r>
              <a:rPr lang="en-US" altLang="zh-C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 340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行、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Verilog 1024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行、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引脚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en-US" altLang="zh-CN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9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UCAgent</a:t>
            </a:r>
            <a:r>
              <a:rPr lang="zh-CN" altLang="en-US" sz="19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用时：</a:t>
            </a:r>
            <a:endParaRPr lang="en-US" altLang="zh-CN" sz="19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45 min (Claude-sonnet-4.5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47 min (GPT 5.2)</a:t>
            </a:r>
            <a:endParaRPr lang="en-US" altLang="zh-CN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51 min (</a:t>
            </a:r>
            <a:r>
              <a:rPr lang="en-US" altLang="zh-CN" sz="16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MiniMax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M2.1)</a:t>
            </a:r>
            <a:endParaRPr lang="en-US" altLang="zh-CN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覆盖率：</a:t>
            </a:r>
            <a:endParaRPr lang="en-US" altLang="zh-C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功能覆盖率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52/52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99.69%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行覆盖率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322/323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加速比：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小时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vs 3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天（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72+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倍）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6942" y="2033330"/>
            <a:ext cx="5616223" cy="397828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b="35350"/>
          <a:stretch>
            <a:fillRect/>
          </a:stretch>
        </p:blipFill>
        <p:spPr>
          <a:xfrm>
            <a:off x="7892545" y="3883989"/>
            <a:ext cx="3108959" cy="21276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619634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辅助验证工程师获得更高的验证效率</a:t>
            </a:r>
            <a:endParaRPr lang="zh-CN" altLang="en-US" sz="28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挖掘潜在 </a:t>
            </a:r>
            <a:r>
              <a:rPr lang="en-US" altLang="zh-CN" dirty="0"/>
              <a:t>Bug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20563" y="1587472"/>
            <a:ext cx="4969103" cy="42029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3" panose="020B030303040302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向量浮点混合加法器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模块介绍：</a:t>
            </a:r>
            <a:endParaRPr lang="en-US" altLang="zh-CN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向量处理器中的浮点混合加法模块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“V”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拓展中的浮点加减法及比较等指令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额外支持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所需的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浮点格式</a:t>
            </a:r>
            <a:endParaRPr lang="en-US" altLang="zh-CN" sz="1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规模：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Chisel 751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行，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Verilog 2980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行，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引脚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125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UCAgent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用时：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 h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(Claude-sonnet-4.5)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覆盖率：</a:t>
            </a:r>
            <a:endParaRPr lang="en-US" altLang="zh-CN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100%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功能覆盖率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34/34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/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100%</a:t>
            </a: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行覆盖率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1283/1283</a:t>
            </a:r>
            <a:r>
              <a:rPr lang="zh-CN" altLang="en-US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9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BUG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：发现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BUG</a:t>
            </a:r>
            <a:r>
              <a:rPr lang="en-US" altLang="zh-CN" sz="1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并确认</a:t>
            </a:r>
            <a:endParaRPr lang="en-US" altLang="zh-CN" sz="16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加速比：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小时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vs 15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天（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72+ 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倍）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3"/>
          <p:cNvSpPr txBox="1"/>
          <p:nvPr/>
        </p:nvSpPr>
        <p:spPr>
          <a:xfrm>
            <a:off x="0" y="6038954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帮助验证工程师发现潜在 </a:t>
            </a:r>
            <a:r>
              <a:rPr kumimoji="1" lang="en-US" altLang="zh-CN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r>
              <a:rPr kumimoji="1" lang="zh-CN" alt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，复现已有 </a:t>
            </a:r>
            <a:r>
              <a:rPr kumimoji="1" lang="en-US" altLang="zh-CN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endParaRPr lang="zh-CN" altLang="en-US" sz="2800" dirty="0">
              <a:solidFill>
                <a:schemeClr val="accent6"/>
              </a:solidFill>
            </a:endParaRPr>
          </a:p>
        </p:txBody>
      </p:sp>
      <p:sp>
        <p:nvSpPr>
          <p:cNvPr id="6" name="文本框 19"/>
          <p:cNvSpPr txBox="1"/>
          <p:nvPr/>
        </p:nvSpPr>
        <p:spPr>
          <a:xfrm>
            <a:off x="5597416" y="1021715"/>
            <a:ext cx="5910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70C0"/>
                </a:solidFill>
                <a:latin typeface="+mj-ea"/>
                <a:ea typeface="+mj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/>
            <a:lvl5pPr/>
            <a:lvl6pPr/>
            <a:lvl7pPr/>
            <a:lvl8pPr/>
            <a:lvl9pPr/>
          </a:lstStyle>
          <a:p>
            <a:pPr algn="ctr"/>
            <a:r>
              <a:rPr lang="zh-CN" altLang="en-US" dirty="0"/>
              <a:t>复现香山 </a:t>
            </a:r>
            <a:r>
              <a:rPr lang="en-US" altLang="zh-CN" dirty="0"/>
              <a:t>UT Bug</a:t>
            </a:r>
            <a:r>
              <a:rPr lang="zh-CN" altLang="en-US" dirty="0"/>
              <a:t> </a:t>
            </a:r>
            <a:r>
              <a:rPr lang="zh-CN" altLang="en-US" sz="1600" dirty="0"/>
              <a:t>（平均</a:t>
            </a:r>
            <a:r>
              <a:rPr lang="en-US" altLang="zh-CN" sz="1600" dirty="0"/>
              <a:t>&lt;4</a:t>
            </a:r>
            <a:r>
              <a:rPr lang="zh-CN" altLang="en-US" sz="1600" dirty="0"/>
              <a:t>小时）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9666" y="1587472"/>
            <a:ext cx="2543996" cy="2001396"/>
          </a:xfrm>
          <a:prstGeom prst="rect">
            <a:avLst/>
          </a:prstGeom>
        </p:spPr>
      </p:pic>
      <p:sp>
        <p:nvSpPr>
          <p:cNvPr id="8" name="文本框 49"/>
          <p:cNvSpPr txBox="1"/>
          <p:nvPr/>
        </p:nvSpPr>
        <p:spPr>
          <a:xfrm>
            <a:off x="5589666" y="4295738"/>
            <a:ext cx="575733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8</a:t>
            </a:r>
            <a:r>
              <a:rPr lang="zh-CN" altLang="en-US" sz="1400" dirty="0"/>
              <a:t>小时：</a:t>
            </a:r>
            <a:r>
              <a:rPr lang="en-US" altLang="zh-CN" sz="1400" dirty="0"/>
              <a:t>PMP Checker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1301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行、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251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引脚、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1bug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小时：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</a:rPr>
              <a:t>Exu-Vsstatus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 107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行、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33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引脚、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2bug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小时：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</a:rPr>
              <a:t>VecExceptionGen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 54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行，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11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引脚，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1bug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小时：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IFU-Frontend-trigger 2286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行，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47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引脚，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1bug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小时：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</a:rPr>
              <a:t>ITTage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 2318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行，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436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引脚，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2bug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小时：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</a:rPr>
              <a:t>TageSC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 3647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行，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80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引脚，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1bug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409" y="2102509"/>
            <a:ext cx="2169498" cy="20256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572" y="1552849"/>
            <a:ext cx="2252220" cy="2563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434" y="2102509"/>
            <a:ext cx="2377503" cy="2065330"/>
          </a:xfrm>
          <a:prstGeom prst="rect">
            <a:avLst/>
          </a:prstGeom>
        </p:spPr>
      </p:pic>
      <p:sp>
        <p:nvSpPr>
          <p:cNvPr id="12" name="文本框 19"/>
          <p:cNvSpPr txBox="1"/>
          <p:nvPr/>
        </p:nvSpPr>
        <p:spPr>
          <a:xfrm>
            <a:off x="620563" y="1061857"/>
            <a:ext cx="4976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70C0"/>
                </a:solidFill>
                <a:latin typeface="+mj-ea"/>
                <a:ea typeface="+mj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/>
            <a:lvl5pPr/>
            <a:lvl6pPr/>
            <a:lvl7pPr/>
            <a:lvl8pPr/>
            <a:lvl9pPr/>
          </a:lstStyle>
          <a:p>
            <a:pPr algn="ctr"/>
            <a:r>
              <a:rPr lang="zh-CN" altLang="en-US" dirty="0"/>
              <a:t>发现香山模块 </a:t>
            </a:r>
            <a:r>
              <a:rPr lang="en-US" altLang="zh-CN" dirty="0"/>
              <a:t>Bug</a:t>
            </a:r>
            <a:endParaRPr lang="en-US" altLang="zh-CN" dirty="0"/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801" y="885519"/>
            <a:ext cx="906865" cy="90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UCAgent </a:t>
            </a:r>
            <a:r>
              <a:rPr lang="zh-CN" altLang="en-US" dirty="0"/>
              <a:t>的设计定位：完成 </a:t>
            </a:r>
            <a:r>
              <a:rPr lang="en-US" altLang="zh-CN" dirty="0"/>
              <a:t>Dirty Work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10776" y="5641241"/>
            <a:ext cx="5918201" cy="7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b="1" dirty="0" err="1">
                <a:solidFill>
                  <a:schemeClr val="accent1">
                    <a:lumMod val="75000"/>
                  </a:schemeClr>
                </a:solidFill>
              </a:rPr>
              <a:t>UCAgent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完成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80-90%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的重复性工作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75000"/>
                  </a:schemeClr>
                </a:solidFill>
              </a:rPr>
              <a:t>分析测试点，搭建测试环境，实现基本功能覆盖，发现</a:t>
            </a:r>
            <a:r>
              <a:rPr lang="en-US" altLang="zh-CN" sz="1400" dirty="0">
                <a:solidFill>
                  <a:schemeClr val="accent1">
                    <a:lumMod val="75000"/>
                  </a:schemeClr>
                </a:solidFill>
              </a:rPr>
              <a:t>normal</a:t>
            </a:r>
            <a:r>
              <a:rPr lang="zh-CN" altLang="en-US" sz="1400" dirty="0">
                <a:solidFill>
                  <a:schemeClr val="accent1">
                    <a:lumMod val="75000"/>
                  </a:schemeClr>
                </a:solidFill>
              </a:rPr>
              <a:t>缺陷，</a:t>
            </a:r>
            <a:r>
              <a:rPr lang="en-US" altLang="zh-CN" sz="1400" dirty="0">
                <a:solidFill>
                  <a:schemeClr val="accent1">
                    <a:lumMod val="75000"/>
                  </a:schemeClr>
                </a:solidFill>
              </a:rPr>
              <a:t>…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14807" y="5646507"/>
            <a:ext cx="2802435" cy="83894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 </a:t>
            </a:r>
            <a:r>
              <a:rPr lang="en-US" altLang="zh-CN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AI </a:t>
            </a:r>
            <a:r>
              <a:rPr lang="zh-CN" altLang="en-US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进行打磨</a:t>
            </a:r>
            <a:endParaRPr lang="en-US" altLang="zh-CN" sz="20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专家    </a:t>
            </a:r>
            <a:r>
              <a:rPr lang="en-US" altLang="zh-CN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r>
              <a:rPr lang="zh-CN" alt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倍小白</a:t>
            </a:r>
            <a:endParaRPr lang="en-US" altLang="zh-CN" sz="1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718443" y="1297840"/>
            <a:ext cx="0" cy="4207934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1410776" y="5505774"/>
            <a:ext cx="947420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505" y="1830715"/>
            <a:ext cx="2757486" cy="2757486"/>
          </a:xfrm>
          <a:prstGeom prst="rect">
            <a:avLst/>
          </a:prstGeom>
        </p:spPr>
      </p:pic>
      <p:pic>
        <p:nvPicPr>
          <p:cNvPr id="9" name="图片 8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911" y="1830715"/>
            <a:ext cx="2777066" cy="2777066"/>
          </a:xfrm>
          <a:prstGeom prst="rect">
            <a:avLst/>
          </a:prstGeom>
        </p:spPr>
      </p:pic>
      <p:pic>
        <p:nvPicPr>
          <p:cNvPr id="10" name="图片 9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511" y="1798699"/>
            <a:ext cx="2821517" cy="2821517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8813264" y="1297840"/>
            <a:ext cx="0" cy="4207934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右箭头 10"/>
          <p:cNvSpPr/>
          <p:nvPr/>
        </p:nvSpPr>
        <p:spPr>
          <a:xfrm>
            <a:off x="7790941" y="4759649"/>
            <a:ext cx="951435" cy="6429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5270518" y="1297840"/>
            <a:ext cx="0" cy="4207934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右箭头 13"/>
          <p:cNvSpPr/>
          <p:nvPr/>
        </p:nvSpPr>
        <p:spPr>
          <a:xfrm>
            <a:off x="5443045" y="4759649"/>
            <a:ext cx="2075381" cy="642938"/>
          </a:xfrm>
          <a:prstGeom prst="rightArrow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/>
          </a:p>
        </p:txBody>
      </p:sp>
      <p:sp>
        <p:nvSpPr>
          <p:cNvPr id="15" name="三角形 17"/>
          <p:cNvSpPr/>
          <p:nvPr/>
        </p:nvSpPr>
        <p:spPr>
          <a:xfrm>
            <a:off x="7530605" y="5505774"/>
            <a:ext cx="389466" cy="369332"/>
          </a:xfrm>
          <a:prstGeom prst="triangl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6" name="文本框 18"/>
          <p:cNvSpPr txBox="1"/>
          <p:nvPr/>
        </p:nvSpPr>
        <p:spPr>
          <a:xfrm>
            <a:off x="1753415" y="1369695"/>
            <a:ext cx="152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dirty="0"/>
              <a:t>RTL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文档</a:t>
            </a:r>
            <a:endParaRPr kumimoji="1" lang="zh-CN" altLang="en-US" dirty="0"/>
          </a:p>
        </p:txBody>
      </p:sp>
      <p:sp>
        <p:nvSpPr>
          <p:cNvPr id="17" name="文本框 19"/>
          <p:cNvSpPr txBox="1"/>
          <p:nvPr/>
        </p:nvSpPr>
        <p:spPr>
          <a:xfrm>
            <a:off x="5323432" y="1369695"/>
            <a:ext cx="1802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dirty="0"/>
              <a:t>基础验证</a:t>
            </a:r>
            <a:endParaRPr kumimoji="1" lang="zh-CN" altLang="en-US" dirty="0"/>
          </a:p>
        </p:txBody>
      </p:sp>
      <p:sp>
        <p:nvSpPr>
          <p:cNvPr id="18" name="文本框 20"/>
          <p:cNvSpPr txBox="1"/>
          <p:nvPr/>
        </p:nvSpPr>
        <p:spPr>
          <a:xfrm>
            <a:off x="8917004" y="1369695"/>
            <a:ext cx="152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dirty="0"/>
              <a:t>验证交付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679" y="1"/>
            <a:ext cx="12196680" cy="6858000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-4678" y="2515239"/>
            <a:ext cx="12196678" cy="77844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UCAgent – </a:t>
            </a:r>
            <a:r>
              <a:rPr lang="zh-CN" altLang="en-US" dirty="0">
                <a:solidFill>
                  <a:schemeClr val="tx1"/>
                </a:solidFill>
              </a:rPr>
              <a:t>演示与实操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系统要求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操作系统：</a:t>
            </a:r>
            <a:r>
              <a:rPr lang="en-US" altLang="zh-CN" dirty="0"/>
              <a:t>Linux / macOS</a:t>
            </a:r>
            <a:endParaRPr lang="en-US" altLang="zh-CN" dirty="0"/>
          </a:p>
          <a:p>
            <a:pPr marL="228600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Python </a:t>
            </a:r>
            <a:r>
              <a:rPr lang="zh-CN" altLang="en-US" dirty="0"/>
              <a:t>版本： </a:t>
            </a:r>
            <a:r>
              <a:rPr lang="en-US" altLang="zh-CN" dirty="0"/>
              <a:t>3.11+</a:t>
            </a:r>
            <a:endParaRPr lang="en-US" altLang="zh-CN" dirty="0"/>
          </a:p>
          <a:p>
            <a:pPr marL="228600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API </a:t>
            </a:r>
            <a:r>
              <a:rPr lang="zh-CN" altLang="en-US" dirty="0"/>
              <a:t>需求：可访问 </a:t>
            </a:r>
            <a:r>
              <a:rPr lang="en-US" altLang="zh-CN" dirty="0"/>
              <a:t>OpenAI </a:t>
            </a:r>
            <a:r>
              <a:rPr lang="zh-CN" altLang="en-US" dirty="0"/>
              <a:t>兼容 </a:t>
            </a:r>
            <a:r>
              <a:rPr lang="en-US" altLang="zh-CN" dirty="0"/>
              <a:t>API</a:t>
            </a:r>
            <a:r>
              <a:rPr lang="zh-CN" altLang="en-US" dirty="0"/>
              <a:t>（</a:t>
            </a:r>
            <a:r>
              <a:rPr lang="en-US" altLang="zh-CN" dirty="0"/>
              <a:t>DeepSeek / GLM /……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28600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内存：建议 </a:t>
            </a:r>
            <a:r>
              <a:rPr lang="en-US" altLang="zh-CN" dirty="0"/>
              <a:t>4 GB+</a:t>
            </a:r>
            <a:endParaRPr lang="en-US" altLang="zh-CN" dirty="0"/>
          </a:p>
          <a:p>
            <a:pPr marL="228600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依赖：</a:t>
            </a:r>
            <a:r>
              <a:rPr lang="en-US" altLang="zh-CN" dirty="0"/>
              <a:t>Picker</a:t>
            </a:r>
            <a:r>
              <a:rPr lang="zh-CN" altLang="en-US" dirty="0"/>
              <a:t>（将 </a:t>
            </a:r>
            <a:r>
              <a:rPr lang="en-US" altLang="zh-CN" dirty="0"/>
              <a:t>Verilog DUT </a:t>
            </a:r>
            <a:r>
              <a:rPr lang="zh-CN" altLang="en-US" dirty="0"/>
              <a:t>导出为 </a:t>
            </a:r>
            <a:r>
              <a:rPr lang="en-US" altLang="zh-CN" dirty="0"/>
              <a:t>Python </a:t>
            </a:r>
            <a:r>
              <a:rPr lang="zh-CN" altLang="en-US" dirty="0"/>
              <a:t>包）</a:t>
            </a:r>
            <a:endParaRPr lang="en-US" altLang="zh-CN" dirty="0"/>
          </a:p>
        </p:txBody>
      </p:sp>
      <p:grpSp>
        <p:nvGrpSpPr>
          <p:cNvPr id="14" name="组合 13"/>
          <p:cNvGrpSpPr/>
          <p:nvPr/>
        </p:nvGrpSpPr>
        <p:grpSpPr>
          <a:xfrm>
            <a:off x="9316001" y="3429000"/>
            <a:ext cx="2037164" cy="2171742"/>
            <a:chOff x="5074312" y="4260820"/>
            <a:chExt cx="2037164" cy="2171742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/>
            <a:srcRect l="20136" t="29895" r="20005" b="31031"/>
            <a:stretch>
              <a:fillRect/>
            </a:stretch>
          </p:blipFill>
          <p:spPr>
            <a:xfrm>
              <a:off x="5262597" y="4260820"/>
              <a:ext cx="1721716" cy="1597437"/>
            </a:xfrm>
            <a:prstGeom prst="rect">
              <a:avLst/>
            </a:prstGeom>
          </p:spPr>
        </p:pic>
        <p:sp>
          <p:nvSpPr>
            <p:cNvPr id="16" name="文本框 13"/>
            <p:cNvSpPr txBox="1"/>
            <p:nvPr/>
          </p:nvSpPr>
          <p:spPr>
            <a:xfrm>
              <a:off x="5074312" y="5848997"/>
              <a:ext cx="2037164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/>
                <a:t>Bilibili </a:t>
              </a:r>
              <a:r>
                <a:rPr lang="zh-CN" altLang="en-US" sz="1600" dirty="0" err="1"/>
                <a:t>视频号</a:t>
              </a:r>
              <a:br>
                <a:rPr lang="en-US" altLang="zh-CN" sz="1600" dirty="0"/>
              </a:br>
              <a:r>
                <a:rPr lang="zh-CN" altLang="en-US" sz="1600" dirty="0"/>
                <a:t>视频教程</a:t>
              </a:r>
              <a:endParaRPr lang="en-US" altLang="zh-CN" sz="1600" dirty="0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UCAgent Docker </a:t>
            </a:r>
            <a:r>
              <a:rPr lang="zh-CN" altLang="en-US" dirty="0"/>
              <a:t>镜像启动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4070" y="1136650"/>
            <a:ext cx="10539730" cy="572135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altLang="zh-CN" sz="2000" dirty="0"/>
              <a:t># </a:t>
            </a:r>
            <a:r>
              <a:rPr lang="zh-CN" altLang="en-US" sz="2400" dirty="0"/>
              <a:t>导入</a:t>
            </a:r>
            <a:r>
              <a:rPr lang="zh-CN" altLang="en-US" sz="2400" dirty="0"/>
              <a:t>镜像（</a:t>
            </a:r>
            <a:r>
              <a:rPr lang="en-US" altLang="zh-CN" sz="2400" dirty="0"/>
              <a:t>2-3</a:t>
            </a:r>
            <a:r>
              <a:rPr lang="zh-CN" altLang="en-US" sz="2400" dirty="0"/>
              <a:t>分钟）</a:t>
            </a:r>
            <a:endParaRPr lang="en-US" altLang="zh-CN" sz="2000" dirty="0"/>
          </a:p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      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docker load -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 ucagent_ghcr_nju_20261016.tar.gz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CN" sz="2000" dirty="0"/>
              <a:t>#</a:t>
            </a:r>
            <a:r>
              <a:rPr lang="en-US" altLang="zh-CN" sz="2400" dirty="0"/>
              <a:t> </a:t>
            </a:r>
            <a:r>
              <a:rPr lang="zh-CN" altLang="en-US" sz="2400" dirty="0"/>
              <a:t>查看</a:t>
            </a:r>
            <a:r>
              <a:rPr lang="zh-CN" altLang="en-US" sz="2400" dirty="0">
                <a:sym typeface="+mn-ea"/>
              </a:rPr>
              <a:t>镜像</a:t>
            </a:r>
            <a:endParaRPr lang="en-US" altLang="zh-CN" sz="2000" dirty="0"/>
          </a:p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      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docker images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CN" sz="2000" dirty="0"/>
              <a:t># </a:t>
            </a:r>
            <a:r>
              <a:rPr lang="zh-CN" altLang="en-US" sz="2400" dirty="0"/>
              <a:t>启动容器</a:t>
            </a:r>
            <a:endParaRPr lang="en-US" altLang="zh-CN" sz="2000" dirty="0"/>
          </a:p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      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docker run -it --name 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</a:rPr>
              <a:t>ucagent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 -p 8800:8800 ghcr.nju.edu.cn/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</a:rPr>
              <a:t>xs-mlvp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</a:rPr>
              <a:t>ucagent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 /bin/bash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CN" sz="2000" dirty="0"/>
              <a:t># </a:t>
            </a:r>
            <a:r>
              <a:rPr lang="zh-CN" altLang="en-US" sz="2400" dirty="0"/>
              <a:t>检查</a:t>
            </a:r>
            <a:endParaRPr lang="en-US" altLang="zh-CN" sz="2000" dirty="0"/>
          </a:p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        ls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CN" sz="2000">
                <a:sym typeface="+mn-ea"/>
              </a:rPr>
              <a:t># </a:t>
            </a:r>
            <a:r>
              <a:rPr lang="zh-CN" altLang="en-US" sz="2000">
                <a:sym typeface="+mn-ea"/>
              </a:rPr>
              <a:t>配置模型</a:t>
            </a:r>
            <a:endParaRPr lang="zh-CN" altLang="en-US" sz="2000"/>
          </a:p>
          <a:p>
            <a:pPr indent="457200"/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export UC_ENV_CMD_BACKEND_EX_ARGS="-m opencode/deepseek-v4.1-flash-free"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# </a:t>
            </a:r>
            <a:r>
              <a:rPr lang="zh-CN" altLang="en-US" sz="2000">
                <a:sym typeface="+mn-ea"/>
              </a:rPr>
              <a:t>启动</a:t>
            </a:r>
            <a:r>
              <a:rPr lang="en-US" altLang="zh-CN" sz="2000">
                <a:sym typeface="+mn-ea"/>
              </a:rPr>
              <a:t> UCAgent</a:t>
            </a:r>
            <a:endParaRPr lang="en-US" altLang="zh-CN" sz="2000"/>
          </a:p>
          <a:p>
            <a:pPr indent="457200"/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make mcp_Adder ARGS="--backend=opencode --loop"</a:t>
            </a:r>
            <a:endParaRPr lang="en-US" altLang="zh-CN" sz="2000" b="1" dirty="0">
              <a:solidFill>
                <a:schemeClr val="accent2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3826" y="3860118"/>
            <a:ext cx="7683895" cy="92079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739" y="2118618"/>
            <a:ext cx="7817252" cy="93984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679" y="1"/>
            <a:ext cx="12196680" cy="6858000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-4678" y="2515239"/>
            <a:ext cx="12196678" cy="77844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UCAgent – </a:t>
            </a:r>
            <a:r>
              <a:rPr lang="zh-CN" altLang="en-US" dirty="0">
                <a:solidFill>
                  <a:schemeClr val="tx1"/>
                </a:solidFill>
              </a:rPr>
              <a:t>使用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DUT </a:t>
            </a:r>
            <a:r>
              <a:rPr lang="zh-CN" altLang="en-US" dirty="0"/>
              <a:t>准备</a:t>
            </a:r>
            <a:endParaRPr lang="zh-CN" altLang="en-US" dirty="0"/>
          </a:p>
        </p:txBody>
      </p:sp>
      <p:sp>
        <p:nvSpPr>
          <p:cNvPr id="8" name="AutoShape 6"/>
          <p:cNvSpPr/>
          <p:nvPr/>
        </p:nvSpPr>
        <p:spPr>
          <a:xfrm>
            <a:off x="552037" y="1197759"/>
            <a:ext cx="5334000" cy="5080000"/>
          </a:xfrm>
          <a:prstGeom prst="roundRect">
            <a:avLst>
              <a:gd name="adj" fmla="val 3000"/>
            </a:avLst>
          </a:prstGeom>
          <a:solidFill>
            <a:srgbClr val="2078B0">
              <a:alpha val="6000"/>
            </a:srgbClr>
          </a:solidFill>
          <a:ln w="12700" cap="flat" cmpd="sng">
            <a:solidFill>
              <a:srgbClr val="2078B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9" name="AutoShape 7"/>
          <p:cNvSpPr/>
          <p:nvPr/>
        </p:nvSpPr>
        <p:spPr>
          <a:xfrm>
            <a:off x="806037" y="1324759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5608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{DUT}</a:t>
            </a:r>
            <a:r>
              <a:rPr lang="en-US" sz="1800" b="1" i="0" u="none" strike="noStrike" dirty="0" err="1">
                <a:solidFill>
                  <a:srgbClr val="15608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文件夹需</a:t>
            </a:r>
            <a:r>
              <a:rPr lang="zh-CN" altLang="en-US" b="1" dirty="0">
                <a:solidFill>
                  <a:srgbClr val="15608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包含</a:t>
            </a:r>
            <a:endParaRPr lang="en-US" sz="1100" dirty="0"/>
          </a:p>
        </p:txBody>
      </p:sp>
      <p:sp>
        <p:nvSpPr>
          <p:cNvPr id="10" name="AutoShape 8"/>
          <p:cNvSpPr/>
          <p:nvPr/>
        </p:nvSpPr>
        <p:spPr>
          <a:xfrm>
            <a:off x="806037" y="1832759"/>
            <a:ext cx="304800" cy="304800"/>
          </a:xfrm>
          <a:prstGeom prst="ellipse">
            <a:avLst/>
          </a:prstGeom>
          <a:solidFill>
            <a:srgbClr val="C04F1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11" name="AutoShape 9"/>
          <p:cNvSpPr/>
          <p:nvPr/>
        </p:nvSpPr>
        <p:spPr>
          <a:xfrm>
            <a:off x="806037" y="1832759"/>
            <a:ext cx="304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1</a:t>
            </a:r>
            <a:endParaRPr lang="en-US" sz="1100"/>
          </a:p>
        </p:txBody>
      </p:sp>
      <p:sp>
        <p:nvSpPr>
          <p:cNvPr id="12" name="AutoShape 10"/>
          <p:cNvSpPr/>
          <p:nvPr/>
        </p:nvSpPr>
        <p:spPr>
          <a:xfrm>
            <a:off x="1212437" y="1832759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defRPr/>
            </a:pPr>
            <a:r>
              <a:rPr lang="en-US" sz="1600" b="1" i="0" u="none" strike="noStrik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RTL 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设计</a:t>
            </a: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(.v) </a:t>
            </a:r>
            <a:r>
              <a:rPr lang="en-US" sz="1400" b="1" i="0" u="none" strike="noStrike" dirty="0" err="1">
                <a:solidFill>
                  <a:srgbClr val="C04F1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必需</a:t>
            </a:r>
            <a:endParaRPr lang="en-US" sz="1100" dirty="0"/>
          </a:p>
        </p:txBody>
      </p:sp>
      <p:sp>
        <p:nvSpPr>
          <p:cNvPr id="13" name="AutoShape 11"/>
          <p:cNvSpPr/>
          <p:nvPr/>
        </p:nvSpPr>
        <p:spPr>
          <a:xfrm>
            <a:off x="806037" y="2277259"/>
            <a:ext cx="304800" cy="304800"/>
          </a:xfrm>
          <a:prstGeom prst="ellipse">
            <a:avLst/>
          </a:prstGeom>
          <a:solidFill>
            <a:srgbClr val="C04F1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14" name="AutoShape 12"/>
          <p:cNvSpPr/>
          <p:nvPr/>
        </p:nvSpPr>
        <p:spPr>
          <a:xfrm>
            <a:off x="806037" y="2277259"/>
            <a:ext cx="304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2</a:t>
            </a:r>
            <a:endParaRPr lang="en-US" sz="1100"/>
          </a:p>
        </p:txBody>
      </p:sp>
      <p:sp>
        <p:nvSpPr>
          <p:cNvPr id="15" name="AutoShape 13"/>
          <p:cNvSpPr/>
          <p:nvPr/>
        </p:nvSpPr>
        <p:spPr>
          <a:xfrm>
            <a:off x="1212437" y="2277259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defRPr/>
            </a:pPr>
            <a:r>
              <a:rPr lang="en-US" sz="1600" b="1" i="0" u="none" strike="noStrik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SPEC 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文档</a:t>
            </a: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(README.md) </a:t>
            </a:r>
            <a:r>
              <a:rPr lang="en-US" sz="1400" b="1" i="0" u="none" strike="noStrike" dirty="0" err="1">
                <a:solidFill>
                  <a:srgbClr val="C04F15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必需</a:t>
            </a:r>
            <a:endParaRPr lang="en-US" sz="1100" dirty="0"/>
          </a:p>
        </p:txBody>
      </p:sp>
      <p:sp>
        <p:nvSpPr>
          <p:cNvPr id="16" name="AutoShape 14"/>
          <p:cNvSpPr/>
          <p:nvPr/>
        </p:nvSpPr>
        <p:spPr>
          <a:xfrm>
            <a:off x="806037" y="2721759"/>
            <a:ext cx="304800" cy="304800"/>
          </a:xfrm>
          <a:prstGeom prst="ellipse">
            <a:avLst/>
          </a:prstGeom>
          <a:solidFill>
            <a:srgbClr val="9696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17" name="AutoShape 15"/>
          <p:cNvSpPr/>
          <p:nvPr/>
        </p:nvSpPr>
        <p:spPr>
          <a:xfrm>
            <a:off x="806037" y="2721759"/>
            <a:ext cx="304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3</a:t>
            </a:r>
            <a:endParaRPr lang="en-US" sz="1100"/>
          </a:p>
        </p:txBody>
      </p:sp>
      <p:sp>
        <p:nvSpPr>
          <p:cNvPr id="18" name="AutoShape 16"/>
          <p:cNvSpPr/>
          <p:nvPr/>
        </p:nvSpPr>
        <p:spPr>
          <a:xfrm>
            <a:off x="1212437" y="2721759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defRPr/>
            </a:pPr>
            <a:r>
              <a:rPr lang="en-US" sz="1600" b="1" i="0" u="none" strike="noStrik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Chisel </a:t>
            </a:r>
            <a:r>
              <a:rPr lang="en-US" sz="1600" b="1" i="0" u="none" strike="noStrike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设计</a:t>
            </a:r>
            <a:r>
              <a:rPr lang="en-US" sz="1400" b="0" i="0" u="none" strike="noStrik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(.scala) </a:t>
            </a:r>
            <a:r>
              <a:rPr lang="en-US" sz="1400" b="0" i="0" u="none" strike="noStrike" dirty="0" err="1">
                <a:solidFill>
                  <a:srgbClr val="969696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可选</a:t>
            </a:r>
            <a:endParaRPr lang="en-US" sz="1100" dirty="0"/>
          </a:p>
        </p:txBody>
      </p:sp>
      <p:cxnSp>
        <p:nvCxnSpPr>
          <p:cNvPr id="19" name="Connector 17"/>
          <p:cNvCxnSpPr/>
          <p:nvPr/>
        </p:nvCxnSpPr>
        <p:spPr>
          <a:xfrm rot="-9046">
            <a:off x="806045" y="3223409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078B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18"/>
          <p:cNvSpPr/>
          <p:nvPr/>
        </p:nvSpPr>
        <p:spPr>
          <a:xfrm>
            <a:off x="806037" y="3382159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608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README.md 应包含</a:t>
            </a:r>
            <a:endParaRPr lang="en-US" sz="1100"/>
          </a:p>
        </p:txBody>
      </p:sp>
      <p:sp>
        <p:nvSpPr>
          <p:cNvPr id="21" name="AutoShape 19"/>
          <p:cNvSpPr/>
          <p:nvPr/>
        </p:nvSpPr>
        <p:spPr>
          <a:xfrm>
            <a:off x="933037" y="3801259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2078B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●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C3C3C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设计介绍</a:t>
            </a:r>
            <a:endParaRPr lang="en-US" sz="1100"/>
          </a:p>
        </p:txBody>
      </p:sp>
      <p:sp>
        <p:nvSpPr>
          <p:cNvPr id="22" name="AutoShape 20"/>
          <p:cNvSpPr/>
          <p:nvPr/>
        </p:nvSpPr>
        <p:spPr>
          <a:xfrm>
            <a:off x="933037" y="4144159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2078B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●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3C3C3C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输入输出接口说明</a:t>
            </a:r>
            <a:endParaRPr lang="en-US" sz="1100"/>
          </a:p>
        </p:txBody>
      </p:sp>
      <p:sp>
        <p:nvSpPr>
          <p:cNvPr id="23" name="AutoShape 21"/>
          <p:cNvSpPr/>
          <p:nvPr/>
        </p:nvSpPr>
        <p:spPr>
          <a:xfrm>
            <a:off x="933037" y="4487059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dirty="0">
                <a:solidFill>
                  <a:srgbClr val="2078B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●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验证目标与边界条件</a:t>
            </a:r>
            <a:endParaRPr lang="en-US" sz="1100" dirty="0"/>
          </a:p>
        </p:txBody>
      </p:sp>
      <p:sp>
        <p:nvSpPr>
          <p:cNvPr id="24" name="AutoShape 23"/>
          <p:cNvSpPr/>
          <p:nvPr/>
        </p:nvSpPr>
        <p:spPr>
          <a:xfrm>
            <a:off x="6190837" y="1197759"/>
            <a:ext cx="5461000" cy="5080000"/>
          </a:xfrm>
          <a:prstGeom prst="roundRect">
            <a:avLst>
              <a:gd name="adj" fmla="val 3000"/>
            </a:avLst>
          </a:prstGeom>
          <a:solidFill>
            <a:srgbClr val="15608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25" name="AutoShape 24"/>
          <p:cNvSpPr/>
          <p:nvPr/>
        </p:nvSpPr>
        <p:spPr>
          <a:xfrm>
            <a:off x="6444837" y="1350159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README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生成方式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utoShape 25"/>
          <p:cNvSpPr/>
          <p:nvPr/>
        </p:nvSpPr>
        <p:spPr>
          <a:xfrm>
            <a:off x="6444837" y="1832759"/>
            <a:ext cx="4953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27" name="AutoShape 26"/>
          <p:cNvSpPr/>
          <p:nvPr/>
        </p:nvSpPr>
        <p:spPr>
          <a:xfrm>
            <a:off x="6571837" y="2010559"/>
            <a:ext cx="762000" cy="304800"/>
          </a:xfrm>
          <a:prstGeom prst="roundRect">
            <a:avLst>
              <a:gd name="adj" fmla="val 16666"/>
            </a:avLst>
          </a:prstGeom>
          <a:solidFill>
            <a:srgbClr val="FFFF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28" name="AutoShape 27"/>
          <p:cNvSpPr/>
          <p:nvPr/>
        </p:nvSpPr>
        <p:spPr>
          <a:xfrm>
            <a:off x="6571837" y="2010559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defRPr/>
            </a:pPr>
            <a:r>
              <a:rPr lang="en-US" sz="1100" b="1" i="0" u="none" strike="noStrike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方式</a:t>
            </a:r>
            <a:r>
              <a:rPr lang="en-US" sz="1100" b="1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AutoShape 28"/>
          <p:cNvSpPr/>
          <p:nvPr/>
        </p:nvSpPr>
        <p:spPr>
          <a:xfrm>
            <a:off x="7435437" y="2010559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手动编写</a:t>
            </a:r>
            <a:r>
              <a:rPr lang="en-US" sz="1300" b="0" i="0" u="none" strike="noStrike" dirty="0">
                <a:solidFill>
                  <a:srgbClr val="C8DC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— </a:t>
            </a:r>
            <a:r>
              <a:rPr lang="en-US" sz="1300" b="0" i="0" u="none" strike="noStrike" dirty="0" err="1">
                <a:solidFill>
                  <a:srgbClr val="C8DC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用户按模板直接写</a:t>
            </a:r>
            <a:r>
              <a:rPr lang="en-US" sz="1300" b="0" i="0" u="none" strike="noStrike" dirty="0">
                <a:solidFill>
                  <a:srgbClr val="C8DC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Markdown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AutoShape 29"/>
          <p:cNvSpPr/>
          <p:nvPr/>
        </p:nvSpPr>
        <p:spPr>
          <a:xfrm>
            <a:off x="6444837" y="2880095"/>
            <a:ext cx="4953000" cy="2794000"/>
          </a:xfrm>
          <a:prstGeom prst="roundRect">
            <a:avLst>
              <a:gd name="adj" fmla="val 3636"/>
            </a:avLst>
          </a:prstGeom>
          <a:solidFill>
            <a:srgbClr val="C04F15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31" name="AutoShape 30"/>
          <p:cNvSpPr/>
          <p:nvPr/>
        </p:nvSpPr>
        <p:spPr>
          <a:xfrm>
            <a:off x="6584537" y="3070595"/>
            <a:ext cx="762000" cy="304800"/>
          </a:xfrm>
          <a:prstGeom prst="roundRect">
            <a:avLst>
              <a:gd name="adj" fmla="val 16666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32" name="AutoShape 31"/>
          <p:cNvSpPr/>
          <p:nvPr/>
        </p:nvSpPr>
        <p:spPr>
          <a:xfrm>
            <a:off x="6584537" y="3070595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defRPr/>
            </a:pPr>
            <a:r>
              <a:rPr lang="en-US" sz="1100" b="1" i="0" u="none" strike="noStrike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方式</a:t>
            </a:r>
            <a:r>
              <a:rPr lang="en-US" sz="1100" b="1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B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AutoShape 32"/>
          <p:cNvSpPr/>
          <p:nvPr/>
        </p:nvSpPr>
        <p:spPr>
          <a:xfrm>
            <a:off x="7448137" y="3070595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AI vibe coding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生成</a:t>
            </a:r>
            <a:r>
              <a:rPr lang="en-US" sz="1300" b="0" i="0" u="none" strike="noStrike" dirty="0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— </a:t>
            </a:r>
            <a:r>
              <a:rPr lang="en-US" sz="1300" b="0" i="0" u="none" strike="noStrike" dirty="0" err="1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推荐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AutoShape 33"/>
          <p:cNvSpPr/>
          <p:nvPr/>
        </p:nvSpPr>
        <p:spPr>
          <a:xfrm>
            <a:off x="6584537" y="3527795"/>
            <a:ext cx="2095500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35" name="AutoShape 34"/>
          <p:cNvSpPr/>
          <p:nvPr/>
        </p:nvSpPr>
        <p:spPr>
          <a:xfrm>
            <a:off x="6584537" y="3527795"/>
            <a:ext cx="2095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2000"/>
              </a:lnSpc>
              <a:defRPr/>
            </a:pPr>
            <a:r>
              <a:rPr lang="en-US" sz="1100" b="1" i="0" u="none" strike="noStrike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SPEC </a:t>
            </a:r>
            <a:r>
              <a:rPr lang="en-US" sz="1100" b="1" i="0" u="none" strike="noStrike" dirty="0" err="1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文档</a:t>
            </a:r>
            <a:r>
              <a:rPr lang="en-US" sz="1100" b="1" i="0" u="none" strike="noStrike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/ </a:t>
            </a:r>
            <a:r>
              <a:rPr lang="en-US" sz="1100" b="1" i="0" u="none" strike="noStrike" dirty="0" err="1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需求描述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AutoShape 35"/>
          <p:cNvSpPr/>
          <p:nvPr/>
        </p:nvSpPr>
        <p:spPr>
          <a:xfrm>
            <a:off x="8743537" y="3527795"/>
            <a:ext cx="25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→</a:t>
            </a:r>
            <a:endParaRPr lang="en-US" sz="1100"/>
          </a:p>
        </p:txBody>
      </p:sp>
      <p:sp>
        <p:nvSpPr>
          <p:cNvPr id="37" name="AutoShape 36"/>
          <p:cNvSpPr/>
          <p:nvPr/>
        </p:nvSpPr>
        <p:spPr>
          <a:xfrm>
            <a:off x="9061037" y="3527795"/>
            <a:ext cx="2095500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38" name="AutoShape 37"/>
          <p:cNvSpPr/>
          <p:nvPr/>
        </p:nvSpPr>
        <p:spPr>
          <a:xfrm>
            <a:off x="9061037" y="3527795"/>
            <a:ext cx="2095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2000"/>
              </a:lnSpc>
              <a:defRPr/>
            </a:pPr>
            <a:r>
              <a:rPr lang="en-US" sz="1100" b="1" i="0" u="none" strike="noStrike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AI </a:t>
            </a:r>
            <a:r>
              <a:rPr lang="en-US" sz="1100" b="1" i="0" u="none" strike="noStrike" dirty="0" err="1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理解需求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AutoShape 38"/>
          <p:cNvSpPr/>
          <p:nvPr/>
        </p:nvSpPr>
        <p:spPr>
          <a:xfrm>
            <a:off x="6584537" y="4035795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                        ↓</a:t>
            </a:r>
            <a:endParaRPr lang="en-US" sz="1100"/>
          </a:p>
        </p:txBody>
      </p:sp>
      <p:sp>
        <p:nvSpPr>
          <p:cNvPr id="40" name="AutoShape 39"/>
          <p:cNvSpPr/>
          <p:nvPr/>
        </p:nvSpPr>
        <p:spPr>
          <a:xfrm>
            <a:off x="6703917" y="4289795"/>
            <a:ext cx="1764030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 rot="10800000">
            <a:off x="8554307" y="4289795"/>
            <a:ext cx="25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→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857837" y="4289795"/>
            <a:ext cx="2317115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6584537" y="4289795"/>
            <a:ext cx="216598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2000"/>
              </a:lnSpc>
              <a:defRPr/>
            </a:pPr>
            <a:r>
              <a:rPr lang="zh-CN" altLang="en-US" sz="1100" b="1" dirty="0">
                <a:solidFill>
                  <a:srgbClr val="C04F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用户 </a:t>
            </a:r>
            <a:r>
              <a:rPr lang="en-US" altLang="zh-CN" sz="1100" b="1" dirty="0">
                <a:solidFill>
                  <a:srgbClr val="C04F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review </a:t>
            </a:r>
            <a:r>
              <a:rPr lang="zh-CN" altLang="en-US" sz="1100" b="1" dirty="0">
                <a:solidFill>
                  <a:srgbClr val="C04F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补充</a:t>
            </a:r>
            <a:endParaRPr lang="zh-CN" altLang="en-US" sz="1100" b="1" dirty="0">
              <a:solidFill>
                <a:srgbClr val="C04F15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6491827" y="4988295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 dirty="0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向 AI </a:t>
            </a:r>
            <a:r>
              <a:rPr lang="en-US" sz="1200" b="0" i="0" u="none" strike="noStrike" dirty="0" err="1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传入</a:t>
            </a:r>
            <a:r>
              <a:rPr lang="en-US" sz="1200" b="0" i="0" u="none" strike="noStrike" dirty="0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SPEC </a:t>
            </a:r>
            <a:r>
              <a:rPr lang="en-US" sz="1200" b="0" i="0" u="none" strike="noStrike" dirty="0" err="1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文档或描述模块需求，AI</a:t>
            </a:r>
            <a:r>
              <a:rPr lang="en-US" sz="1200" b="0" i="0" u="none" strike="noStrike" dirty="0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</a:t>
            </a:r>
            <a:r>
              <a:rPr lang="en-US" sz="1200" b="0" i="0" u="none" strike="noStrike" dirty="0" err="1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即可</a:t>
            </a:r>
            <a:r>
              <a:rPr lang="en-US" sz="1200" b="0" i="0" u="none" strike="noStrike" dirty="0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vibe coding </a:t>
            </a:r>
            <a:r>
              <a:rPr lang="en-US" sz="1200" b="0" i="0" u="none" strike="noStrike" dirty="0" err="1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出含设计介绍、接口说明、验证目标的</a:t>
            </a:r>
            <a:r>
              <a:rPr lang="en-US" sz="1200" b="0" i="0" u="none" strike="noStrike" dirty="0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README </a:t>
            </a:r>
            <a:r>
              <a:rPr lang="en-US" sz="1200" b="0" i="0" u="none" strike="noStrike" dirty="0" err="1">
                <a:solidFill>
                  <a:srgbClr val="FFE6D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初稿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AutoShape 43"/>
          <p:cNvSpPr/>
          <p:nvPr/>
        </p:nvSpPr>
        <p:spPr>
          <a:xfrm>
            <a:off x="8990552" y="4289795"/>
            <a:ext cx="216598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2000"/>
              </a:lnSpc>
              <a:defRPr/>
            </a:pPr>
            <a:r>
              <a:rPr lang="en-US" sz="1100" b="1" dirty="0">
                <a:solidFill>
                  <a:srgbClr val="C04F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AI vibe coding </a:t>
            </a:r>
            <a:r>
              <a:rPr lang="en-US" sz="1100" b="1" dirty="0" err="1">
                <a:solidFill>
                  <a:srgbClr val="C04F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生成</a:t>
            </a:r>
            <a:r>
              <a:rPr lang="en-US" sz="1100" b="1" dirty="0">
                <a:solidFill>
                  <a:srgbClr val="C04F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README.md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rcRect t="13521"/>
          <a:stretch>
            <a:fillRect/>
          </a:stretch>
        </p:blipFill>
        <p:spPr>
          <a:xfrm>
            <a:off x="3747357" y="3393046"/>
            <a:ext cx="1891030" cy="26784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8" name="AutoShape 21"/>
          <p:cNvSpPr/>
          <p:nvPr/>
        </p:nvSpPr>
        <p:spPr>
          <a:xfrm>
            <a:off x="933037" y="4829959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 dirty="0">
                <a:solidFill>
                  <a:srgbClr val="2078B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黑体" panose="02010609060101010101" pitchFamily="49" charset="-122"/>
              </a:rPr>
              <a:t>●</a:t>
            </a:r>
            <a:r>
              <a:rPr lang="en-US" sz="1400" b="1" i="0" u="none" strike="noStrike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b="1" i="0" u="none" strike="noStrike" dirty="0">
                <a:solidFill>
                  <a:schemeClr val="accent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越详细，验证效果越好</a:t>
            </a:r>
            <a:endParaRPr lang="en-US" sz="11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DUT </a:t>
            </a:r>
            <a:r>
              <a:rPr lang="zh-CN" altLang="en-US" dirty="0"/>
              <a:t>编译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4069" y="1136650"/>
            <a:ext cx="10539731" cy="572135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make </a:t>
            </a: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</a:rPr>
              <a:t>init_Adder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新建工作目录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output/workspace_{DUT}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文件拷贝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{DUT}         workspace_{DUT}/{DUT}_RTL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Picker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打包成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</a:t>
            </a:r>
            <a:endParaRPr lang="zh-CN" altLang="en-US" sz="2000" dirty="0"/>
          </a:p>
          <a:p>
            <a:pPr>
              <a:lnSpc>
                <a:spcPct val="130000"/>
              </a:lnSpc>
            </a:pPr>
            <a:endParaRPr lang="zh-CN" altLang="en-US" i="1" dirty="0"/>
          </a:p>
        </p:txBody>
      </p:sp>
      <p:sp>
        <p:nvSpPr>
          <p:cNvPr id="5" name="右箭头 2"/>
          <p:cNvSpPr/>
          <p:nvPr/>
        </p:nvSpPr>
        <p:spPr>
          <a:xfrm>
            <a:off x="3579783" y="2355560"/>
            <a:ext cx="481855" cy="288403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1124" y="1136650"/>
            <a:ext cx="1922041" cy="559032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590" y="2747349"/>
            <a:ext cx="3714307" cy="403976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363740" y="5025656"/>
            <a:ext cx="1616148" cy="1761460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7584558" y="2480930"/>
            <a:ext cx="1779182" cy="25447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4325678" y="1389321"/>
            <a:ext cx="5190461" cy="155944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516139" y="1319693"/>
            <a:ext cx="1861791" cy="3645824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675460" y="5298557"/>
            <a:ext cx="3667553" cy="1488560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122471" y="5858171"/>
            <a:ext cx="155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chemeClr val="accent6"/>
                </a:solidFill>
              </a:rPr>
              <a:t>信号引脚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675460" y="4614529"/>
            <a:ext cx="3667553" cy="613143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346252" y="4738943"/>
            <a:ext cx="2328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chemeClr val="accent6"/>
                </a:solidFill>
              </a:rPr>
              <a:t>波形、覆盖率</a:t>
            </a:r>
            <a:endParaRPr lang="zh-CN" alt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7" grpId="0" animBg="1"/>
      <p:bldP spid="21" grpId="0" animBg="1"/>
      <p:bldP spid="22" grpId="0"/>
      <p:bldP spid="24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UCAgent </a:t>
            </a:r>
            <a:r>
              <a:rPr lang="zh-CN" altLang="en-US" dirty="0"/>
              <a:t>交互模式</a:t>
            </a:r>
            <a:endParaRPr lang="zh-CN" altLang="en-US" dirty="0"/>
          </a:p>
        </p:txBody>
      </p:sp>
      <p:sp>
        <p:nvSpPr>
          <p:cNvPr id="13" name="TextBox 5"/>
          <p:cNvSpPr txBox="1"/>
          <p:nvPr/>
        </p:nvSpPr>
        <p:spPr>
          <a:xfrm>
            <a:off x="609600" y="153955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000" b="1" dirty="0" err="1">
                <a:solidFill>
                  <a:srgbClr val="1E88E5"/>
                </a:solidFill>
                <a:latin typeface="+mn-ea"/>
              </a:rPr>
              <a:t>模式一</a:t>
            </a:r>
            <a:endParaRPr sz="3000" b="1" dirty="0">
              <a:solidFill>
                <a:srgbClr val="1E88E5"/>
              </a:solidFill>
              <a:latin typeface="+mn-ea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609600" y="2271077"/>
            <a:ext cx="3474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纯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TUI 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本地直连</a:t>
            </a:r>
            <a:endParaRPr lang="zh-CN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1798320" y="3094037"/>
            <a:ext cx="1097280" cy="25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16" name="TextBox 8"/>
          <p:cNvSpPr txBox="1"/>
          <p:nvPr/>
        </p:nvSpPr>
        <p:spPr>
          <a:xfrm>
            <a:off x="609600" y="3368357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666666"/>
                </a:solidFill>
              </a:rPr>
              <a:t>单终端原生交互</a:t>
            </a:r>
            <a:endParaRPr lang="zh-CN" altLang="en-US" sz="1600" dirty="0">
              <a:solidFill>
                <a:srgbClr val="666666"/>
              </a:solidFill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4358640" y="153955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000" b="1" dirty="0" err="1">
                <a:solidFill>
                  <a:srgbClr val="1E88E5"/>
                </a:solidFill>
                <a:latin typeface="+mn-ea"/>
              </a:rPr>
              <a:t>模式二</a:t>
            </a:r>
            <a:endParaRPr sz="3000" b="1" dirty="0">
              <a:solidFill>
                <a:srgbClr val="1E88E5"/>
              </a:solidFill>
              <a:latin typeface="+mn-ea"/>
            </a:endParaRPr>
          </a:p>
        </p:txBody>
      </p:sp>
      <p:sp>
        <p:nvSpPr>
          <p:cNvPr id="18" name="TextBox 10"/>
          <p:cNvSpPr txBox="1"/>
          <p:nvPr/>
        </p:nvSpPr>
        <p:spPr>
          <a:xfrm>
            <a:off x="4358640" y="2271077"/>
            <a:ext cx="3474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MCP </a:t>
            </a:r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集成协同</a:t>
            </a:r>
            <a:endParaRPr lang="zh-CN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1"/>
          <p:cNvSpPr/>
          <p:nvPr/>
        </p:nvSpPr>
        <p:spPr>
          <a:xfrm>
            <a:off x="5547360" y="3094037"/>
            <a:ext cx="1097280" cy="25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21" name="TextBox 13"/>
          <p:cNvSpPr txBox="1"/>
          <p:nvPr/>
        </p:nvSpPr>
        <p:spPr>
          <a:xfrm>
            <a:off x="8107680" y="153955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000" b="1" dirty="0" err="1">
                <a:solidFill>
                  <a:srgbClr val="1E88E5"/>
                </a:solidFill>
                <a:latin typeface="+mn-ea"/>
              </a:rPr>
              <a:t>模式三</a:t>
            </a:r>
            <a:endParaRPr sz="3000" b="1" dirty="0">
              <a:solidFill>
                <a:srgbClr val="1E88E5"/>
              </a:solidFill>
              <a:latin typeface="+mn-ea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8107680" y="2271077"/>
            <a:ext cx="34747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</a:t>
            </a:r>
            <a:r>
              <a:rPr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sz="22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可视化</a:t>
            </a:r>
            <a:endParaRPr sz="22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3" name="Rectangle 15"/>
          <p:cNvSpPr/>
          <p:nvPr/>
        </p:nvSpPr>
        <p:spPr>
          <a:xfrm>
            <a:off x="9296400" y="3094037"/>
            <a:ext cx="1097280" cy="25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</a:p>
        </p:txBody>
      </p:sp>
      <p:sp>
        <p:nvSpPr>
          <p:cNvPr id="25" name="TextBox 17"/>
          <p:cNvSpPr txBox="1"/>
          <p:nvPr/>
        </p:nvSpPr>
        <p:spPr>
          <a:xfrm>
            <a:off x="814068" y="5257800"/>
            <a:ext cx="1053909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0" dirty="0" err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三种模式本质</a:t>
            </a:r>
            <a:r>
              <a:rPr lang="zh-CN" altLang="en-US" sz="24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仅</a:t>
            </a:r>
            <a:r>
              <a:rPr sz="2400" b="0" dirty="0" err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是操作界面不同，底层</a:t>
            </a:r>
            <a:r>
              <a:rPr lang="zh-CN" altLang="en-US" sz="24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验证工作流</a:t>
            </a:r>
            <a:r>
              <a:rPr sz="2400" b="0" dirty="0" err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完全一</a:t>
            </a:r>
            <a:r>
              <a:rPr lang="zh-CN" altLang="en-US" sz="24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致</a:t>
            </a:r>
            <a:endParaRPr sz="2400" b="0" dirty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8"/>
          <p:cNvSpPr txBox="1"/>
          <p:nvPr/>
        </p:nvSpPr>
        <p:spPr>
          <a:xfrm>
            <a:off x="4391247" y="3368357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UCAgent + CLI </a:t>
            </a:r>
            <a:r>
              <a:rPr lang="zh-CN" altLang="en-US" sz="1600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的双终端架构</a:t>
            </a:r>
            <a:endParaRPr lang="zh-CN" altLang="en-US" sz="1600" dirty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8107680" y="3368357"/>
            <a:ext cx="3474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666666"/>
                </a:solidFill>
              </a:rPr>
              <a:t>浏览器可视化面板</a:t>
            </a:r>
            <a:endParaRPr lang="zh-CN" altLang="en-US" sz="1600" dirty="0">
              <a:solidFill>
                <a:srgbClr val="666666"/>
              </a:solidFill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交互模式一：纯</a:t>
            </a:r>
            <a:r>
              <a:rPr altLang="zh-CN" dirty="0"/>
              <a:t> TUI </a:t>
            </a:r>
            <a:r>
              <a:rPr lang="zh-CN" altLang="en-US" dirty="0"/>
              <a:t>本地直连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4069" y="1136650"/>
            <a:ext cx="10539731" cy="572135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/>
              <a:t>基于本地 </a:t>
            </a:r>
            <a:r>
              <a:rPr lang="en-US" altLang="zh-CN" sz="2400" b="1" dirty="0"/>
              <a:t>CLI </a:t>
            </a:r>
            <a:r>
              <a:rPr lang="zh-CN" altLang="en-US" sz="2400" b="1" dirty="0"/>
              <a:t>和大模型的使用方式，</a:t>
            </a:r>
            <a:r>
              <a:rPr lang="en-US" altLang="zh-CN" sz="2400" b="1" dirty="0">
                <a:sym typeface="+mn-ea"/>
              </a:rPr>
              <a:t>UCAgent</a:t>
            </a:r>
            <a:r>
              <a:rPr lang="zh-CN" altLang="en-US" sz="2400" b="1" dirty="0">
                <a:sym typeface="+mn-ea"/>
              </a:rPr>
              <a:t> 进程直接与大模型对接，无需第三方 </a:t>
            </a:r>
            <a:r>
              <a:rPr lang="en-US" altLang="zh-CN" sz="2400" b="1" dirty="0">
                <a:sym typeface="+mn-ea"/>
              </a:rPr>
              <a:t>CLI</a:t>
            </a:r>
            <a:endParaRPr lang="en-US" altLang="zh-CN" sz="2400" b="1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dirty="0"/>
              <a:t>准备 </a:t>
            </a:r>
            <a:r>
              <a:rPr lang="en-US" altLang="zh-CN" sz="2400" dirty="0"/>
              <a:t>OpenAI </a:t>
            </a:r>
            <a:r>
              <a:rPr lang="zh-CN" altLang="en-US" sz="2400" dirty="0"/>
              <a:t>兼容的 </a:t>
            </a:r>
            <a:r>
              <a:rPr lang="en-US" altLang="zh-CN" sz="2400" dirty="0"/>
              <a:t>API</a:t>
            </a:r>
            <a:endParaRPr lang="en-US" altLang="zh-CN" sz="2400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dirty="0"/>
              <a:t>在 </a:t>
            </a:r>
            <a:r>
              <a:rPr lang="en-US" altLang="zh-CN" sz="2400" dirty="0" err="1"/>
              <a:t>config.yaml</a:t>
            </a:r>
            <a:r>
              <a:rPr lang="en-US" altLang="zh-CN" sz="2400" dirty="0"/>
              <a:t> </a:t>
            </a:r>
            <a:r>
              <a:rPr lang="zh-CN" altLang="en-US" sz="2400" dirty="0"/>
              <a:t>文件中配置大模型：</a:t>
            </a:r>
            <a:endParaRPr lang="en-US" altLang="zh-CN" sz="2400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400" dirty="0"/>
              <a:t>启动 </a:t>
            </a:r>
            <a:r>
              <a:rPr lang="en-US" altLang="zh-CN" sz="2400" dirty="0"/>
              <a:t>UCAgent TUI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 </a:t>
            </a: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test_Adder</a:t>
            </a:r>
            <a:endParaRPr lang="en-US" altLang="zh-CN" b="1" dirty="0" err="1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775322" y="3483953"/>
            <a:ext cx="7036960" cy="1648689"/>
          </a:xfrm>
          <a:prstGeom prst="roundRect">
            <a:avLst>
              <a:gd name="adj" fmla="val 0"/>
            </a:avLst>
          </a:prstGeom>
          <a:solidFill>
            <a:schemeClr val="bg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4"/>
            <a:r>
              <a:rPr lang="en-US" altLang="zh-CN" dirty="0">
                <a:solidFill>
                  <a:srgbClr val="FFC000"/>
                </a:solidFill>
              </a:rPr>
              <a:t># OpenAI </a:t>
            </a:r>
            <a:r>
              <a:rPr lang="zh-CN" altLang="en-US" dirty="0">
                <a:solidFill>
                  <a:srgbClr val="FFC000"/>
                </a:solidFill>
              </a:rPr>
              <a:t>兼容的 </a:t>
            </a:r>
            <a:r>
              <a:rPr lang="en-US" altLang="zh-CN" dirty="0">
                <a:solidFill>
                  <a:srgbClr val="FFC000"/>
                </a:solidFill>
              </a:rPr>
              <a:t>API </a:t>
            </a:r>
            <a:r>
              <a:rPr lang="zh-CN" altLang="en-US" dirty="0">
                <a:solidFill>
                  <a:srgbClr val="FFC000"/>
                </a:solidFill>
              </a:rPr>
              <a:t>配置</a:t>
            </a:r>
            <a:endParaRPr lang="zh-CN" altLang="en-US" dirty="0">
              <a:solidFill>
                <a:srgbClr val="FFC000"/>
              </a:solidFill>
            </a:endParaRPr>
          </a:p>
          <a:p>
            <a:pPr marL="0" lvl="5"/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</a:rPr>
              <a:t>openai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:</a:t>
            </a:r>
            <a:endParaRPr lang="en-US" altLang="zh-CN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lvl="7"/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</a:rPr>
              <a:t>openai_api_base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: &lt;</a:t>
            </a: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</a:rPr>
              <a:t>your_openai_api_base_url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&gt;  </a:t>
            </a:r>
            <a:r>
              <a:rPr lang="en-US" altLang="zh-CN" dirty="0">
                <a:solidFill>
                  <a:srgbClr val="FFC000"/>
                </a:solidFill>
              </a:rPr>
              <a:t># API URL</a:t>
            </a:r>
            <a:endParaRPr lang="en-US" altLang="zh-CN" dirty="0">
              <a:solidFill>
                <a:srgbClr val="FFC000"/>
              </a:solidFill>
            </a:endParaRPr>
          </a:p>
          <a:p>
            <a:pPr marL="457200" lvl="7"/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</a:rPr>
              <a:t>model_name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: &lt;</a:t>
            </a: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</a:rPr>
              <a:t>your_model_name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&gt;  </a:t>
            </a:r>
            <a:r>
              <a:rPr lang="en-US" altLang="zh-CN" dirty="0">
                <a:solidFill>
                  <a:srgbClr val="FFC000"/>
                </a:solidFill>
              </a:rPr>
              <a:t># </a:t>
            </a:r>
            <a:r>
              <a:rPr lang="zh-CN" altLang="en-US" dirty="0">
                <a:solidFill>
                  <a:srgbClr val="FFC000"/>
                </a:solidFill>
              </a:rPr>
              <a:t>模型名称</a:t>
            </a:r>
            <a:endParaRPr lang="en-US" altLang="zh-CN" dirty="0">
              <a:solidFill>
                <a:srgbClr val="FFC000"/>
              </a:solidFill>
            </a:endParaRPr>
          </a:p>
          <a:p>
            <a:pPr marL="457200" lvl="7"/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</a:rPr>
              <a:t>openai_api_key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: &lt;</a:t>
            </a:r>
            <a:r>
              <a:rPr lang="en-US" altLang="zh-CN" dirty="0" err="1">
                <a:solidFill>
                  <a:schemeClr val="accent4">
                    <a:lumMod val="75000"/>
                  </a:schemeClr>
                </a:solidFill>
              </a:rPr>
              <a:t>your_openai_api_key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&gt;  </a:t>
            </a:r>
            <a:r>
              <a:rPr lang="en-US" altLang="zh-CN" dirty="0">
                <a:solidFill>
                  <a:srgbClr val="FFC000"/>
                </a:solidFill>
              </a:rPr>
              <a:t># API </a:t>
            </a:r>
            <a:r>
              <a:rPr lang="zh-CN" altLang="en-US" dirty="0">
                <a:solidFill>
                  <a:srgbClr val="FFC000"/>
                </a:solidFill>
              </a:rPr>
              <a:t>密钥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UCAgent TUI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4069" y="1136650"/>
            <a:ext cx="10539731" cy="5721350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Mission </a:t>
            </a:r>
            <a:r>
              <a:rPr lang="zh-CN" altLang="en-US" dirty="0"/>
              <a:t>面板（左上）</a:t>
            </a:r>
            <a:endParaRPr lang="zh-CN" altLang="en-US" dirty="0"/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阶段列表：显示当前任务的阶段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</a:pP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绿色：已完成阶段</a:t>
            </a:r>
            <a:endParaRPr lang="zh-CN" altLang="en-US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红色：当前正在执行阶段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</a:pPr>
            <a:r>
              <a:rPr lang="zh-CN" alt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黄色：被跳过的阶段（显示“</a:t>
            </a:r>
            <a:r>
              <a:rPr lang="en-US" altLang="zh-CN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skipped”</a:t>
            </a:r>
            <a:r>
              <a:rPr lang="zh-CN" alt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：需要人工检验的阶段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Files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：近期修改文件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Call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：工具调用状态与计数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Messages </a:t>
            </a:r>
            <a:r>
              <a:rPr lang="zh-CN" altLang="en-US" dirty="0"/>
              <a:t>面板（右上）</a:t>
            </a:r>
            <a:endParaRPr lang="zh-CN" altLang="en-US" dirty="0"/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实时消息流（模型回复、工具输出、系统提示）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Console</a:t>
            </a:r>
            <a:r>
              <a:rPr lang="zh-CN" altLang="en-US" dirty="0"/>
              <a:t>（底部）</a:t>
            </a:r>
            <a:endParaRPr lang="zh-CN" altLang="en-US" dirty="0"/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：命令与系统输出区域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：命令输入行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887" t="4255" r="2835" b="2210"/>
          <a:stretch>
            <a:fillRect/>
          </a:stretch>
        </p:blipFill>
        <p:spPr>
          <a:xfrm>
            <a:off x="6842673" y="1136649"/>
            <a:ext cx="4940861" cy="532085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交互模式二：</a:t>
            </a:r>
            <a:r>
              <a:rPr lang="en-US" altLang="zh-CN" dirty="0"/>
              <a:t>MCP </a:t>
            </a:r>
            <a:r>
              <a:rPr lang="zh-CN" altLang="en-US" dirty="0"/>
              <a:t>集成协同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4069" y="1136650"/>
            <a:ext cx="10539731" cy="5721350"/>
          </a:xfrm>
        </p:spPr>
        <p:txBody>
          <a:bodyPr>
            <a:no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ym typeface="+mn-ea"/>
              </a:rPr>
              <a:t>UCAgent </a:t>
            </a:r>
            <a:r>
              <a:rPr lang="zh-CN" altLang="en-US" sz="2400" b="1" dirty="0">
                <a:sym typeface="+mn-ea"/>
              </a:rPr>
              <a:t>通过 </a:t>
            </a:r>
            <a:r>
              <a:rPr lang="en-US" altLang="zh-CN" sz="2400" b="1" dirty="0">
                <a:sym typeface="+mn-ea"/>
              </a:rPr>
              <a:t>MCP </a:t>
            </a:r>
            <a:r>
              <a:rPr lang="zh-CN" altLang="en-US" sz="2400" b="1" dirty="0">
                <a:sym typeface="+mn-ea"/>
              </a:rPr>
              <a:t>协议将验证任务、工具、</a:t>
            </a:r>
            <a:r>
              <a:rPr lang="en-US" altLang="zh-CN" sz="2400" b="1" dirty="0">
                <a:sym typeface="+mn-ea"/>
              </a:rPr>
              <a:t>Checker </a:t>
            </a:r>
            <a:r>
              <a:rPr lang="zh-CN" altLang="en-US" sz="2400" b="1" dirty="0">
                <a:sym typeface="+mn-ea"/>
              </a:rPr>
              <a:t>暴露给第三方 </a:t>
            </a:r>
            <a:r>
              <a:rPr lang="en-US" altLang="zh-CN" sz="2400" b="1" dirty="0">
                <a:sym typeface="+mn-ea"/>
              </a:rPr>
              <a:t>CLI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en-US" altLang="zh-CN" sz="2400" dirty="0"/>
              <a:t>1. </a:t>
            </a:r>
            <a:r>
              <a:rPr lang="zh-CN" altLang="en-US" sz="2400" dirty="0"/>
              <a:t>启动 </a:t>
            </a:r>
            <a:r>
              <a:rPr lang="en-US" altLang="zh-CN" sz="2400" dirty="0"/>
              <a:t>UCAgent MCP server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en-US" altLang="zh-CN" sz="2400" dirty="0"/>
              <a:t>	</a:t>
            </a: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make </a:t>
            </a:r>
            <a:r>
              <a:rPr lang="en-US" altLang="zh-CN" sz="2400" b="1" dirty="0" err="1">
                <a:solidFill>
                  <a:schemeClr val="accent2">
                    <a:lumMod val="75000"/>
                  </a:schemeClr>
                </a:solidFill>
              </a:rPr>
              <a:t>mcp_Adder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en-US" altLang="zh-CN" sz="2400" dirty="0"/>
              <a:t>2. </a:t>
            </a:r>
            <a:r>
              <a:rPr lang="zh-CN" altLang="en-US" sz="2400" dirty="0"/>
              <a:t>另起终端，启动 </a:t>
            </a:r>
            <a:r>
              <a:rPr lang="en-US" altLang="zh-CN" sz="2400" dirty="0"/>
              <a:t>CLI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en-US" altLang="zh-CN" sz="2400" dirty="0"/>
              <a:t>	</a:t>
            </a: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cd output</a:t>
            </a:r>
            <a:endParaRPr lang="en-US" altLang="zh-CN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US" altLang="zh-CN" sz="2400" b="1" dirty="0" err="1">
                <a:solidFill>
                  <a:schemeClr val="accent2">
                    <a:lumMod val="75000"/>
                  </a:schemeClr>
                </a:solidFill>
              </a:rPr>
              <a:t>qwen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en-US" altLang="zh-CN" sz="2400" dirty="0"/>
              <a:t>3. </a:t>
            </a:r>
            <a:r>
              <a:rPr lang="zh-CN" altLang="en-US" sz="2400" dirty="0"/>
              <a:t>输入提示词，启动验证： </a:t>
            </a:r>
            <a:endParaRPr lang="en-US" altLang="zh-CN" sz="2400" dirty="0"/>
          </a:p>
          <a:p>
            <a:pPr>
              <a:lnSpc>
                <a:spcPct val="130000"/>
              </a:lnSpc>
            </a:pPr>
            <a:r>
              <a:rPr lang="en-US" altLang="zh-CN" sz="2400" dirty="0"/>
              <a:t>	</a:t>
            </a: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</a:rPr>
              <a:t>请通过工具 </a:t>
            </a:r>
            <a:r>
              <a:rPr lang="en-US" altLang="zh-CN" sz="2400" b="1" dirty="0" err="1">
                <a:solidFill>
                  <a:schemeClr val="accent2">
                    <a:lumMod val="75000"/>
                  </a:schemeClr>
                </a:solidFill>
              </a:rPr>
              <a:t>RoleInfo</a:t>
            </a: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</a:rPr>
              <a:t>获取你的角色信息和基本指导，然后完成任务。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"/>
          <a:stretch>
            <a:fillRect/>
          </a:stretch>
        </p:blipFill>
        <p:spPr>
          <a:xfrm>
            <a:off x="4842589" y="1935554"/>
            <a:ext cx="7213599" cy="395280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交互模式三：</a:t>
            </a:r>
            <a:r>
              <a:rPr lang="en-US" altLang="zh-CN" dirty="0"/>
              <a:t>Master Web </a:t>
            </a:r>
            <a:r>
              <a:rPr lang="zh-CN" altLang="en-US" dirty="0"/>
              <a:t>可视化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/>
              <a:t>浏览器可视化面板替代终端命令，所有交互指令封装为可视化交互按钮</a:t>
            </a:r>
            <a:endParaRPr lang="zh-CN" altLang="en-US" sz="2400" dirty="0"/>
          </a:p>
          <a:p>
            <a:pPr>
              <a:lnSpc>
                <a:spcPct val="130000"/>
              </a:lnSpc>
            </a:pPr>
            <a:r>
              <a:rPr lang="zh-CN" altLang="en-US" sz="2400" dirty="0"/>
              <a:t>启动</a:t>
            </a:r>
            <a:r>
              <a:rPr lang="en-US" altLang="zh-CN" sz="2400" dirty="0"/>
              <a:t> </a:t>
            </a:r>
            <a:r>
              <a:rPr lang="en-US" altLang="zh-CN" sz="2400" dirty="0"/>
              <a:t>UCAgent Master</a:t>
            </a:r>
            <a:r>
              <a:rPr lang="zh-CN" altLang="en-US" sz="2400" dirty="0"/>
              <a:t>：</a:t>
            </a: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make </a:t>
            </a:r>
            <a:r>
              <a:rPr lang="en-US" altLang="zh-CN" sz="2400" b="1" dirty="0" err="1">
                <a:solidFill>
                  <a:schemeClr val="accent2">
                    <a:lumMod val="75000"/>
                  </a:schemeClr>
                </a:solidFill>
                <a:sym typeface="+mn-ea"/>
              </a:rPr>
              <a:t>as_master_persist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" y="3164840"/>
            <a:ext cx="6391910" cy="34404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163060" y="6360795"/>
            <a:ext cx="1247775" cy="2451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4" b="27035"/>
          <a:stretch>
            <a:fillRect/>
          </a:stretch>
        </p:blipFill>
        <p:spPr>
          <a:xfrm>
            <a:off x="4620317" y="2495609"/>
            <a:ext cx="7232968" cy="2762826"/>
          </a:xfrm>
          <a:prstGeom prst="rect">
            <a:avLst/>
          </a:prstGeom>
        </p:spPr>
      </p:pic>
      <p:cxnSp>
        <p:nvCxnSpPr>
          <p:cNvPr id="8" name="直接箭头连接符 7"/>
          <p:cNvCxnSpPr>
            <a:stCxn id="6" idx="3"/>
          </p:cNvCxnSpPr>
          <p:nvPr/>
        </p:nvCxnSpPr>
        <p:spPr>
          <a:xfrm flipV="1">
            <a:off x="5410776" y="3792959"/>
            <a:ext cx="2854960" cy="269049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12"/>
          <p:cNvSpPr/>
          <p:nvPr/>
        </p:nvSpPr>
        <p:spPr>
          <a:xfrm>
            <a:off x="1644650" y="5607050"/>
            <a:ext cx="4914900" cy="1117600"/>
          </a:xfrm>
          <a:prstGeom prst="roundRect">
            <a:avLst>
              <a:gd name="adj" fmla="val 1250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en-US" altLang="zh-CN" b="1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Master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主控台：</a:t>
            </a:r>
            <a:r>
              <a:rPr lang="zh-CN" altLang="en-US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监控所有任务的运行情况</a:t>
            </a:r>
            <a:endParaRPr lang="en-US" altLang="zh-CN" dirty="0">
              <a:solidFill>
                <a:schemeClr val="accent4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b="1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Launch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创建新的 </a:t>
            </a:r>
            <a:r>
              <a:rPr lang="en-US" altLang="zh-CN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UT </a:t>
            </a:r>
            <a:r>
              <a:rPr lang="zh-CN" altLang="en-US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</a:t>
            </a:r>
            <a:endParaRPr lang="en-US" altLang="zh-CN" dirty="0">
              <a:solidFill>
                <a:schemeClr val="accent4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b="1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Open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dirty="0" err="1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进入单个任务的</a:t>
            </a:r>
            <a:r>
              <a:rPr lang="zh-CN" altLang="en-US" dirty="0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</a:t>
            </a:r>
            <a:r>
              <a:rPr lang="en-US" altLang="zh-CN" dirty="0" err="1">
                <a:solidFill>
                  <a:schemeClr val="accent4">
                    <a:lumMod val="5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运行监控面板</a:t>
            </a:r>
            <a:endParaRPr lang="en-US" altLang="zh-CN" dirty="0">
              <a:solidFill>
                <a:schemeClr val="accent4">
                  <a:lumMod val="5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Master </a:t>
            </a:r>
            <a:r>
              <a:rPr lang="zh-CN" altLang="en-US" dirty="0"/>
              <a:t>主控台总览</a:t>
            </a:r>
            <a:endParaRPr lang="zh-CN" altLang="en-US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13" b="13"/>
          <a:stretch>
            <a:fillRect/>
          </a:stretch>
        </p:blipFill>
        <p:spPr>
          <a:xfrm>
            <a:off x="558800" y="1384300"/>
            <a:ext cx="7112000" cy="4089400"/>
          </a:xfrm>
          <a:prstGeom prst="roundRect">
            <a:avLst>
              <a:gd name="adj" fmla="val 2484"/>
            </a:avLst>
          </a:prstGeom>
          <a:noFill/>
          <a:ln w="12700" cap="flat" cmpd="sng">
            <a:solidFill>
              <a:srgbClr val="B4BED2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8"/>
          <p:cNvSpPr/>
          <p:nvPr/>
        </p:nvSpPr>
        <p:spPr>
          <a:xfrm>
            <a:off x="8077200" y="1384300"/>
            <a:ext cx="3556000" cy="408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  <a:defRPr/>
            </a:pPr>
            <a:r>
              <a:rPr lang="en-US" b="1" i="0" u="none" strike="noStrike" dirty="0" err="1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顶部操作栏</a:t>
            </a:r>
            <a:r>
              <a:rPr lang="en-US" b="0" i="0" u="none" strike="noStrike" dirty="0" err="1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：Launch</a:t>
            </a:r>
            <a:r>
              <a:rPr lang="en-US" b="0" i="0" u="none" strike="noStrike" dirty="0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b="0" i="0" u="none" strike="noStrike" dirty="0" err="1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新建、Settings、API</a:t>
            </a:r>
            <a:r>
              <a:rPr lang="en-US" b="0" i="0" u="none" strike="noStrike" dirty="0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b="0" i="0" u="none" strike="noStrike" dirty="0" err="1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Docs、筛选与排序</a:t>
            </a:r>
            <a:endParaRPr lang="en-US" b="0" i="0" u="none" strike="noStrike" dirty="0">
              <a:solidFill>
                <a:srgbClr val="2B37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  <a:defRPr/>
            </a:pPr>
            <a:endParaRPr lang="en-US" altLang="zh-CN" b="1" dirty="0">
              <a:solidFill>
                <a:srgbClr val="2B3750"/>
              </a:solidFill>
              <a:latin typeface="Times New Roman" panose="02020603050405020304" pitchFamily="18" charset="0"/>
              <a:ea typeface="Noto Sans SC" panose="020B0200000000000000" charset="-122"/>
              <a:cs typeface="Times New Roman" panose="02020603050405020304" pitchFamily="18" charset="0"/>
              <a:sym typeface="Noto Sans SC" panose="020B0200000000000000" charset="-122"/>
            </a:endParaRP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dirty="0" err="1">
                <a:solidFill>
                  <a:srgbClr val="2B3750"/>
                </a:solidFill>
                <a:latin typeface="Times New Roman" panose="02020603050405020304" pitchFamily="18" charset="0"/>
                <a:ea typeface="Noto Sans SC" panose="020B0200000000000000" charset="-122"/>
                <a:cs typeface="Times New Roman" panose="02020603050405020304" pitchFamily="18" charset="0"/>
                <a:sym typeface="Noto Sans SC" panose="020B0200000000000000" charset="-122"/>
              </a:rPr>
              <a:t>状态统计</a:t>
            </a:r>
            <a:r>
              <a:rPr lang="en-US" altLang="zh-CN" dirty="0" err="1">
                <a:solidFill>
                  <a:srgbClr val="2B3750"/>
                </a:solidFill>
                <a:latin typeface="Times New Roman" panose="02020603050405020304" pitchFamily="18" charset="0"/>
                <a:ea typeface="Noto Sans SC" panose="020B0200000000000000" charset="-122"/>
                <a:cs typeface="Times New Roman" panose="02020603050405020304" pitchFamily="18" charset="0"/>
                <a:sym typeface="Noto Sans SC" panose="020B0200000000000000" charset="-122"/>
              </a:rPr>
              <a:t>：TOTAL</a:t>
            </a:r>
            <a:r>
              <a:rPr lang="en-US" altLang="zh-CN" dirty="0">
                <a:solidFill>
                  <a:srgbClr val="2B3750"/>
                </a:solidFill>
                <a:latin typeface="Times New Roman" panose="02020603050405020304" pitchFamily="18" charset="0"/>
                <a:ea typeface="Noto Sans SC" panose="020B0200000000000000" charset="-122"/>
                <a:cs typeface="Times New Roman" panose="02020603050405020304" pitchFamily="18" charset="0"/>
                <a:sym typeface="Noto Sans SC" panose="020B0200000000000000" charset="-122"/>
              </a:rPr>
              <a:t> / ONLINE / OFFLINE </a:t>
            </a:r>
            <a:r>
              <a:rPr lang="en-US" altLang="zh-CN" dirty="0" err="1">
                <a:solidFill>
                  <a:srgbClr val="2B3750"/>
                </a:solidFill>
                <a:latin typeface="Times New Roman" panose="02020603050405020304" pitchFamily="18" charset="0"/>
                <a:ea typeface="Noto Sans SC" panose="020B0200000000000000" charset="-122"/>
                <a:cs typeface="Times New Roman" panose="02020603050405020304" pitchFamily="18" charset="0"/>
                <a:sym typeface="Noto Sans SC" panose="020B0200000000000000" charset="-122"/>
              </a:rPr>
              <a:t>实时计数</a:t>
            </a:r>
            <a:endParaRPr lang="en-US" altLang="zh-CN" dirty="0">
              <a:solidFill>
                <a:srgbClr val="2B3750"/>
              </a:solidFill>
              <a:latin typeface="Times New Roman" panose="02020603050405020304" pitchFamily="18" charset="0"/>
              <a:ea typeface="Noto Sans SC" panose="020B0200000000000000" charset="-122"/>
              <a:cs typeface="Times New Roman" panose="02020603050405020304" pitchFamily="18" charset="0"/>
              <a:sym typeface="Noto Sans SC" panose="020B0200000000000000" charset="-122"/>
            </a:endParaRP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  <a:defRPr/>
            </a:pPr>
            <a:endParaRPr lang="en-US" altLang="zh-CN" b="1" dirty="0">
              <a:solidFill>
                <a:srgbClr val="2B37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dirty="0" err="1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任务列表</a:t>
            </a:r>
            <a:r>
              <a:rPr lang="en-US" altLang="zh-CN" dirty="0" err="1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：Task</a:t>
            </a:r>
            <a:r>
              <a:rPr lang="en-US" altLang="zh-CN" dirty="0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 err="1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ID、Client、Status、Progress、Run</a:t>
            </a:r>
            <a:r>
              <a:rPr lang="en-US" altLang="zh-CN" dirty="0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dirty="0" err="1">
                <a:solidFill>
                  <a:srgbClr val="2B37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Time、Mission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defRPr/>
            </a:pPr>
            <a:endParaRPr lang="en-US" dirty="0"/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7588250" y="1631950"/>
            <a:ext cx="539750" cy="5715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809750" y="1587500"/>
            <a:ext cx="5778500" cy="25718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2857500" y="2330450"/>
            <a:ext cx="5270500" cy="76200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558800" y="1924050"/>
            <a:ext cx="2298700" cy="561988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 flipV="1">
            <a:off x="7588250" y="3994150"/>
            <a:ext cx="539750" cy="19507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15950" y="3092450"/>
            <a:ext cx="6972300" cy="99695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创建验证任务</a:t>
            </a:r>
            <a:endParaRPr lang="zh-CN" altLang="en-US" dirty="0"/>
          </a:p>
        </p:txBody>
      </p:sp>
      <p:cxnSp>
        <p:nvCxnSpPr>
          <p:cNvPr id="8" name="Connector 5"/>
          <p:cNvCxnSpPr/>
          <p:nvPr/>
        </p:nvCxnSpPr>
        <p:spPr>
          <a:xfrm rot="-122724">
            <a:off x="2662419" y="1352303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1" name="Connector 8"/>
          <p:cNvCxnSpPr/>
          <p:nvPr/>
        </p:nvCxnSpPr>
        <p:spPr>
          <a:xfrm rot="-122724">
            <a:off x="4951623" y="1352303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9"/>
          <p:cNvSpPr/>
          <p:nvPr/>
        </p:nvSpPr>
        <p:spPr>
          <a:xfrm>
            <a:off x="5377937" y="1170415"/>
            <a:ext cx="1778000" cy="406400"/>
          </a:xfrm>
          <a:prstGeom prst="roundRect">
            <a:avLst>
              <a:gd name="adj" fmla="val 12500"/>
            </a:avLst>
          </a:prstGeom>
          <a:solidFill>
            <a:schemeClr val="accent4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 </a:t>
            </a:r>
            <a:r>
              <a:rPr lang="en-US" altLang="zh-CN" sz="1600" b="1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编译</a:t>
            </a:r>
            <a:r>
              <a:rPr lang="en-US" altLang="zh-CN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DUT</a:t>
            </a:r>
            <a:endParaRPr lang="en-US" altLang="zh-CN" sz="1600" dirty="0"/>
          </a:p>
        </p:txBody>
      </p:sp>
      <p:pic>
        <p:nvPicPr>
          <p:cNvPr id="15" name="Picture 12"/>
          <p:cNvPicPr>
            <a:picLocks noChangeAspect="1"/>
          </p:cNvPicPr>
          <p:nvPr/>
        </p:nvPicPr>
        <p:blipFill>
          <a:blip r:embed="rId1"/>
          <a:srcRect l="516" r="516"/>
          <a:stretch>
            <a:fillRect/>
          </a:stretch>
        </p:blipFill>
        <p:spPr>
          <a:xfrm>
            <a:off x="6654165" y="1695591"/>
            <a:ext cx="4699000" cy="4800600"/>
          </a:xfrm>
          <a:prstGeom prst="roundRect">
            <a:avLst>
              <a:gd name="adj" fmla="val 2162"/>
            </a:avLst>
          </a:prstGeom>
          <a:noFill/>
          <a:ln w="12700" cap="flat" cmpd="sng">
            <a:solidFill>
              <a:srgbClr val="B4BED2">
                <a:alpha val="100000"/>
              </a:srgbClr>
            </a:solidFill>
            <a:prstDash val="solid"/>
            <a:round/>
          </a:ln>
        </p:spPr>
      </p:pic>
      <p:sp>
        <p:nvSpPr>
          <p:cNvPr id="4" name="AutoShape 9"/>
          <p:cNvSpPr/>
          <p:nvPr/>
        </p:nvSpPr>
        <p:spPr>
          <a:xfrm>
            <a:off x="3095821" y="1170415"/>
            <a:ext cx="1778000" cy="406400"/>
          </a:xfrm>
          <a:prstGeom prst="roundRect">
            <a:avLst>
              <a:gd name="adj" fmla="val 12500"/>
            </a:avLst>
          </a:prstGeom>
          <a:solidFill>
            <a:schemeClr val="accent4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选择模块</a:t>
            </a:r>
            <a:endParaRPr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utoShape 9"/>
          <p:cNvSpPr/>
          <p:nvPr/>
        </p:nvSpPr>
        <p:spPr>
          <a:xfrm>
            <a:off x="814069" y="1157723"/>
            <a:ext cx="1778000" cy="406400"/>
          </a:xfrm>
          <a:prstGeom prst="roundRect">
            <a:avLst>
              <a:gd name="adj" fmla="val 12500"/>
            </a:avLst>
          </a:prstGeom>
          <a:solidFill>
            <a:schemeClr val="accent4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上传文件</a:t>
            </a:r>
            <a:endParaRPr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69" y="1695591"/>
            <a:ext cx="5548649" cy="446921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启动验证任务</a:t>
            </a:r>
            <a:endParaRPr lang="zh-CN" altLang="en-US" dirty="0"/>
          </a:p>
        </p:txBody>
      </p:sp>
      <p:sp>
        <p:nvSpPr>
          <p:cNvPr id="29" name="AutoShape 12"/>
          <p:cNvSpPr/>
          <p:nvPr/>
        </p:nvSpPr>
        <p:spPr>
          <a:xfrm>
            <a:off x="7761640" y="5480656"/>
            <a:ext cx="3680063" cy="812800"/>
          </a:xfrm>
          <a:prstGeom prst="roundRect">
            <a:avLst>
              <a:gd name="adj" fmla="val 1250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Launch Preview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：</a:t>
            </a:r>
            <a:r>
              <a:rPr lang="en-US" altLang="zh-CN" b="1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预览命令</a:t>
            </a:r>
            <a:endParaRPr lang="en-US" altLang="zh-CN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  <a:p>
            <a:pPr>
              <a:defRPr/>
            </a:pPr>
            <a:r>
              <a:rPr lang="en-US" altLang="zh-CN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Launch Task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：</a:t>
            </a:r>
            <a:r>
              <a:rPr lang="en-US" altLang="zh-CN" b="1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启动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验证</a:t>
            </a:r>
            <a:endParaRPr lang="en-US" altLang="zh-CN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</p:txBody>
      </p:sp>
      <p:sp>
        <p:nvSpPr>
          <p:cNvPr id="31" name="AutoShape 13"/>
          <p:cNvSpPr/>
          <p:nvPr/>
        </p:nvSpPr>
        <p:spPr>
          <a:xfrm>
            <a:off x="7498232" y="5573395"/>
            <a:ext cx="401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7000"/>
              </a:lnSpc>
              <a:defRPr/>
            </a:pPr>
            <a:endParaRPr lang="en-US" sz="1600" b="1" i="0" u="none" strike="noStrike" dirty="0">
              <a:solidFill>
                <a:schemeClr val="accent4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4069" y="1179195"/>
            <a:ext cx="1778000" cy="406400"/>
          </a:xfrm>
          <a:prstGeom prst="roundRect">
            <a:avLst>
              <a:gd name="adj" fmla="val 12500"/>
            </a:avLst>
          </a:prstGeom>
          <a:solidFill>
            <a:schemeClr val="accent4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4 </a:t>
            </a:r>
            <a:r>
              <a:rPr lang="zh-CN" altLang="en-US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配置参数</a:t>
            </a:r>
            <a:endParaRPr lang="en-US" altLang="zh-CN" sz="1600" dirty="0"/>
          </a:p>
        </p:txBody>
      </p:sp>
      <p:sp>
        <p:nvSpPr>
          <p:cNvPr id="11" name="AutoShape 9"/>
          <p:cNvSpPr/>
          <p:nvPr/>
        </p:nvSpPr>
        <p:spPr>
          <a:xfrm>
            <a:off x="3200987" y="1179195"/>
            <a:ext cx="2310218" cy="406400"/>
          </a:xfrm>
          <a:prstGeom prst="roundRect">
            <a:avLst>
              <a:gd name="adj" fmla="val 12500"/>
            </a:avLst>
          </a:prstGeom>
          <a:solidFill>
            <a:schemeClr val="accent4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5 </a:t>
            </a:r>
            <a:r>
              <a:rPr lang="zh-CN" altLang="en-US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 </a:t>
            </a:r>
            <a:r>
              <a:rPr lang="en-US" altLang="zh-CN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UCAgent</a:t>
            </a:r>
            <a:endParaRPr lang="en-US" altLang="zh-CN" sz="1600" dirty="0"/>
          </a:p>
        </p:txBody>
      </p:sp>
      <p:cxnSp>
        <p:nvCxnSpPr>
          <p:cNvPr id="12" name="Connector 5"/>
          <p:cNvCxnSpPr/>
          <p:nvPr/>
        </p:nvCxnSpPr>
        <p:spPr>
          <a:xfrm rot="-122724">
            <a:off x="2718728" y="1388737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lg" len="lg"/>
            <a:tailEnd type="arrow" w="lg" len="lg"/>
          </a:ln>
        </p:spPr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1370" y="1712595"/>
            <a:ext cx="3635691" cy="496340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78" y="1712595"/>
            <a:ext cx="3565121" cy="4939178"/>
          </a:xfrm>
          <a:prstGeom prst="rect">
            <a:avLst/>
          </a:prstGeom>
        </p:spPr>
      </p:pic>
      <p:sp>
        <p:nvSpPr>
          <p:cNvPr id="30" name="AutoShape 8"/>
          <p:cNvSpPr/>
          <p:nvPr/>
        </p:nvSpPr>
        <p:spPr>
          <a:xfrm>
            <a:off x="7761641" y="1407779"/>
            <a:ext cx="3556000" cy="408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i="0" u="none" strike="noStrike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Launch Settings</a:t>
            </a:r>
            <a:r>
              <a:rPr lang="en-US" b="0" i="0" u="none" strike="noStrike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：</a:t>
            </a:r>
            <a:endParaRPr lang="en-US" b="0" i="0" u="none" strike="noStrike" dirty="0">
              <a:solidFill>
                <a:srgbClr val="2B37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i="0" u="none" strike="noStrike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Config Path</a:t>
            </a:r>
            <a:r>
              <a:rPr lang="zh-CN" altLang="en-US" b="0" i="0" u="none" strike="noStrike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：工作流</a:t>
            </a:r>
            <a:endParaRPr lang="en-US" altLang="zh-CN" b="0" i="0" u="none" strike="noStrike" dirty="0">
              <a:solidFill>
                <a:srgbClr val="2B37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Backend</a:t>
            </a:r>
            <a:r>
              <a:rPr lang="zh-CN" altLang="en-US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：后端 </a:t>
            </a:r>
            <a:r>
              <a:rPr lang="en-US" altLang="zh-CN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Agent</a:t>
            </a:r>
            <a:endParaRPr lang="en-US" altLang="zh-CN" b="1" dirty="0">
              <a:solidFill>
                <a:srgbClr val="2B37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CLI Flags</a:t>
            </a:r>
            <a:r>
              <a:rPr lang="zh-CN" altLang="en-US" b="1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：</a:t>
            </a:r>
            <a:endParaRPr lang="en-US" altLang="zh-CN" b="1" dirty="0">
              <a:solidFill>
                <a:srgbClr val="2B37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配置 </a:t>
            </a:r>
            <a:r>
              <a:rPr lang="en-US" altLang="zh-CN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UCAgent </a:t>
            </a:r>
            <a:r>
              <a:rPr lang="zh-CN" altLang="en-US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命令参数</a:t>
            </a:r>
            <a:endParaRPr lang="en-US" altLang="zh-CN" dirty="0">
              <a:solidFill>
                <a:srgbClr val="2B37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Environment Variables</a:t>
            </a:r>
            <a:r>
              <a:rPr lang="zh-CN" altLang="en-US" b="1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：</a:t>
            </a:r>
            <a:endParaRPr lang="en-US" altLang="zh-CN" b="1" dirty="0">
              <a:solidFill>
                <a:srgbClr val="2B37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B37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oto Sans SC" panose="020B0200000000000000" charset="-122"/>
              </a:rPr>
              <a:t>配置模型参数</a:t>
            </a:r>
            <a:endParaRPr lang="en-US" altLang="zh-CN" dirty="0">
              <a:solidFill>
                <a:srgbClr val="2B37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启动成功面板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069" y="1096409"/>
            <a:ext cx="10539096" cy="53479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执行监控面板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6"/>
          <a:stretch>
            <a:fillRect/>
          </a:stretch>
        </p:blipFill>
        <p:spPr>
          <a:xfrm>
            <a:off x="814069" y="1169581"/>
            <a:ext cx="10539096" cy="5382301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  <p:tag name="KSO_WM_UNIT_PLACING_PICTURE_USER_VIEWPORT" val="{&quot;height&quot;:1187.7448818897637,&quot;width&quot;:5974.937007874016}"/>
</p:tagLst>
</file>

<file path=ppt/tags/tag2.xml><?xml version="1.0" encoding="utf-8"?>
<p:tagLst xmlns:p="http://schemas.openxmlformats.org/presentationml/2006/main">
  <p:tag name="KSO_WM_DIAGRAM_VIRTUALLY_FRAME" val="{&quot;height&quot;:196.1728346456693,&quot;left&quot;:534.1527559055119,&quot;top&quot;:89.47716535433071,&quot;width&quot;:365.8972440944882}"/>
</p:tagLst>
</file>

<file path=ppt/tags/tag3.xml><?xml version="1.0" encoding="utf-8"?>
<p:tagLst xmlns:p="http://schemas.openxmlformats.org/presentationml/2006/main">
  <p:tag name="KSO_WM_DIAGRAM_VIRTUALLY_FRAME" val="{&quot;height&quot;:196.1728346456693,&quot;left&quot;:534.1527559055119,&quot;top&quot;:89.47716535433071,&quot;width&quot;:365.8972440944882}"/>
</p:tagLst>
</file>

<file path=ppt/tags/tag4.xml><?xml version="1.0" encoding="utf-8"?>
<p:tagLst xmlns:p="http://schemas.openxmlformats.org/presentationml/2006/main">
  <p:tag name="KSO_WM_DIAGRAM_VIRTUALLY_FRAME" val="{&quot;height&quot;:196.1728346456693,&quot;left&quot;:534.1527559055119,&quot;top&quot;:89.47716535433071,&quot;width&quot;:365.8972440944882}"/>
</p:tagLst>
</file>

<file path=ppt/tags/tag5.xml><?xml version="1.0" encoding="utf-8"?>
<p:tagLst xmlns:p="http://schemas.openxmlformats.org/presentationml/2006/main">
  <p:tag name="KSO_WM_DIAGRAM_VIRTUALLY_FRAME" val="{&quot;height&quot;:196.1728346456693,&quot;left&quot;:534.1527559055119,&quot;top&quot;:89.47716535433071,&quot;width&quot;:365.8972440944882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8374</Words>
  <Application>WPS 演示</Application>
  <PresentationFormat>宽屏</PresentationFormat>
  <Paragraphs>699</Paragraphs>
  <Slides>46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72" baseType="lpstr">
      <vt:lpstr>Arial</vt:lpstr>
      <vt:lpstr>宋体</vt:lpstr>
      <vt:lpstr>Wingdings</vt:lpstr>
      <vt:lpstr>Times New Roman</vt:lpstr>
      <vt:lpstr>微软雅黑</vt:lpstr>
      <vt:lpstr>Calibri</vt:lpstr>
      <vt:lpstr>Arial Unicode MS</vt:lpstr>
      <vt:lpstr>等线</vt:lpstr>
      <vt:lpstr>Calibri</vt:lpstr>
      <vt:lpstr>Consolas</vt:lpstr>
      <vt:lpstr>Avenir Book</vt:lpstr>
      <vt:lpstr>Agency FB</vt:lpstr>
      <vt:lpstr>Aptos</vt:lpstr>
      <vt:lpstr>Segoe UI</vt:lpstr>
      <vt:lpstr>Aptos</vt:lpstr>
      <vt:lpstr>Cascadia Code</vt:lpstr>
      <vt:lpstr>Source Sans 3</vt:lpstr>
      <vt:lpstr>Yu Gothic UI Light</vt:lpstr>
      <vt:lpstr>黑体</vt:lpstr>
      <vt:lpstr>Times New Roman</vt:lpstr>
      <vt:lpstr>Noto Sans SC</vt:lpstr>
      <vt:lpstr>DejaVu Sans</vt:lpstr>
      <vt:lpstr>Arial</vt:lpstr>
      <vt:lpstr>Noto Sans CJK SC</vt:lpstr>
      <vt:lpstr>Noto Sans CJK SC Black</vt:lpstr>
      <vt:lpstr>WPS</vt:lpstr>
      <vt:lpstr>AI 驱动芯片验证：UCAgent 智能体 在香山处理器中的实践</vt:lpstr>
      <vt:lpstr>我们是谁？</vt:lpstr>
      <vt:lpstr>万众一芯 - 产品与服务</vt:lpstr>
      <vt:lpstr>万众一芯 - 合作交流</vt:lpstr>
      <vt:lpstr>Tutorial</vt:lpstr>
      <vt:lpstr>端到端的验证智能体 - UCAgent</vt:lpstr>
      <vt:lpstr>验证是芯片开发中的关键瓶颈</vt:lpstr>
      <vt:lpstr>设计需求增长让验证更加困难</vt:lpstr>
      <vt:lpstr>将 LLM 引入芯片验证</vt:lpstr>
      <vt:lpstr>基于 LLM 的芯片验证挑战</vt:lpstr>
      <vt:lpstr>挑战1：生成 Verilog/SV 准确率不够</vt:lpstr>
      <vt:lpstr>挑战2：难以完成复杂的端到端验证任务</vt:lpstr>
      <vt:lpstr>挑战2：难以完成复杂的端到端验证任务</vt:lpstr>
      <vt:lpstr>挑战3：难以保持验证全程的一致性</vt:lpstr>
      <vt:lpstr>相关工作：LLM for Verification</vt:lpstr>
      <vt:lpstr>UCAgent</vt:lpstr>
      <vt:lpstr>机制1：Python 验证环境</vt:lpstr>
      <vt:lpstr>机制1：Python 验证环境</vt:lpstr>
      <vt:lpstr>Picker: 基于 Python 的 UT 验证（ISCA2026 录用）</vt:lpstr>
      <vt:lpstr>Toffee（ASP-DAC 2027 接收）</vt:lpstr>
      <vt:lpstr>机制2：多阶段工作流 + 检查器</vt:lpstr>
      <vt:lpstr>UT 工作流</vt:lpstr>
      <vt:lpstr>机制3：验证一致性标签</vt:lpstr>
      <vt:lpstr>验证一致性标签示例</vt:lpstr>
      <vt:lpstr>检查器（Checker）</vt:lpstr>
      <vt:lpstr>UCAgent（20251024正式开源）</vt:lpstr>
      <vt:lpstr>新人快速上手</vt:lpstr>
      <vt:lpstr>提升验证效率</vt:lpstr>
      <vt:lpstr>挖掘潜在 Bug</vt:lpstr>
      <vt:lpstr>UCAgent 的设计定位：完成 Dirty Work</vt:lpstr>
      <vt:lpstr>UCAgent – 演示与实操</vt:lpstr>
      <vt:lpstr>系统要求</vt:lpstr>
      <vt:lpstr>UCAgent Docker 镜像启动 </vt:lpstr>
      <vt:lpstr>UCAgent – 使用</vt:lpstr>
      <vt:lpstr>DUT 准备</vt:lpstr>
      <vt:lpstr>DUT 编译</vt:lpstr>
      <vt:lpstr>UCAgent 交互模式</vt:lpstr>
      <vt:lpstr>交互模式一：纯 TUI 本地直连</vt:lpstr>
      <vt:lpstr>UCAgent TUI</vt:lpstr>
      <vt:lpstr>交互模式二：MCP 集成协同</vt:lpstr>
      <vt:lpstr>交互模式三：Master Web 可视化</vt:lpstr>
      <vt:lpstr>Master 主控台总览</vt:lpstr>
      <vt:lpstr>创建验证任务</vt:lpstr>
      <vt:lpstr>启动验证任务</vt:lpstr>
      <vt:lpstr>启动成功面板</vt:lpstr>
      <vt:lpstr>执行监控面板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Ares Gareth</dc:creator>
  <cp:lastModifiedBy>待你天真吴邪</cp:lastModifiedBy>
  <cp:revision>307</cp:revision>
  <dcterms:created xsi:type="dcterms:W3CDTF">2023-08-09T12:44:00Z</dcterms:created>
  <dcterms:modified xsi:type="dcterms:W3CDTF">2026-10-18T03:45:48Z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F403BDBF8014493D9A1F52FA639EC68E_12</vt:lpwstr>
  </property>
</Properties>
</file>